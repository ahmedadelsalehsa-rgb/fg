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80d2c03-9cf8-ccef-cad7-f007dd3b6838}">
          <p14:sldIdLst>
            <p14:sldId id="256"/>
            <p14:sldId id="257"/>
          </p14:sldIdLst>
        </p14:section>
        <p14:section name="Where we are" id="{770253b1-eb4a-08a2-9d30-e505f93ab8e2}">
          <p14:sldIdLst>
            <p14:sldId id="258"/>
            <p14:sldId id="259"/>
            <p14:sldId id="260"/>
            <p14:sldId id="261"/>
            <p14:sldId id="262"/>
          </p14:sldIdLst>
        </p14:section>
        <p14:section name="WHAT" id="{706a4b58-5c9a-5e16-d5af-e054d08fc2f0}">
          <p14:sldIdLst>
            <p14:sldId id="263"/>
            <p14:sldId id="264"/>
            <p14:sldId id="265"/>
            <p14:sldId id="266"/>
            <p14:sldId id="267"/>
          </p14:sldIdLst>
        </p14:section>
        <p14:section name="WHY" id="{1db97075-fe75-85cd-b503-1f5036bae2fd}">
          <p14:sldIdLst>
            <p14:sldId id="268"/>
            <p14:sldId id="269"/>
            <p14:sldId id="270"/>
          </p14:sldIdLst>
        </p14:section>
        <p14:section name="HOW" id="{b44597fb-d367-2c3c-923c-58525c5f8348}">
          <p14:sldIdLst>
            <p14:sldId id="271"/>
            <p14:sldId id="272"/>
            <p14:sldId id="273"/>
            <p14:sldId id="274"/>
            <p14:sldId id="275"/>
            <p14:sldId id="276"/>
            <p14:sldId id="277"/>
            <p14:sldId id="278"/>
            <p14:sldId id="279"/>
            <p14:sldId id="280"/>
            <p14:sldId id="281"/>
            <p14:sldId id="282"/>
          </p14:sldIdLst>
        </p14:section>
        <p14:section name="Summary" id="{1093345a-1042-e965-274d-623e1771451c}">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place Change Management inside our TMMi journey first, then answer three questions: what it is, why we need it, and how we do it at NCPD, based on the NCPD Change Management Process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Part 1 gives context: TMMi levels 2 and 3 and our Testing &amp; Quality framework. Parts 2-4 follow the What-Why-How questions. We finish with questions and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talking about change management, let's see where it sits in the bigger picture: the TMMi model we are working towards and the framework we use in the Academy.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TMMi has five maturity levels. Level 1 is initial: testing is chaotic and depends on individuals. Level 2, Managed, makes testing a disciplined process on each project. Level 3, Defined, standardises that process for the whole organisation and integrates it into the development lifecycle. Levels 4 and 5 are about measurement and optimisation. Our target now is Levels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2 has five process areas that make each project's testing managed: policy and strategy, planning, monitoring and control, design and execution, and the test environment. Level 3 adds five more that make the process organisation-wide: a test organisation, a training programme, lifecycle integration, non-functional testing and peer reviews. Change management touches several of them, mainly 2.3, 2.4 and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framework: six areas that follow one release from start to finish. Today's topic, Change and Configuration Management, is chapter B6 in Area B, The Rules. It comes after Quality Gates because the CAB approves changes to production, which depends on the release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management is not a separate TMMi process area, but several practices depend on it. Traceability tells us what a change affects. Incidents and change requests need a board decision. A change means re-planning and re-assessing risk. Configuration management keeps baselines under control. And at Level 3 the CAB becomes a fixed point in our integrated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What. We start with the definition used by IT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from the NCPD document. The key words: anything that transforms, alters or modifies the operating environment, a standard operating procedure or a service, and that could affect stability, reliability or business flow. Then purpose, scope and mission as defined in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come from many directions, not only business requests. The document lists these eleven sources. Ask the audience which of these they have seen in the last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change types defined for the IT CAB. Normal changes are low risk with known procedures. Pre-approved changes are frequent, scheduled operational changes that the CAB approves once. New function or feature is for deploying something new, not for fixing a problem. Emergency or unscheduled changes deal with outages. Catastrophic changes need the Emergency CAB, for example the decision to move to the DR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framework we separate two decisions. Inside a software development project, a change request changes the scope or baseline; it is reviewed by the PM and BA and approved by the CAB or the Steering Committee. Before anything reaches a live system, the IT change request goes to the IT CAB. A project change usually ends up as an IT CR when it is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Why. Start with a question to the audience: what happened the last time a change went to production without being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what we see when changes are not managed. Right side: what the NCPD process gives us. Every item on the right comes from the procedure: risk and impact minimised, justification, impact analysis on scope, time and cost, a formal decision, rollback plans, post go-live checks, and archived CRs for audit and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testers, change management is where our work becomes visible. We find the impact through traceability, define the regression scope, write test steps and results on the CR form, sign the acceptance, and run the sanity check after go-live. This is also the evidence TMMi assessors and auditors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How. This is the longest part: who is involved, how the CAB works, the eight steps of the change request process, emergency changes and the IT CR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IT Services has a role in change management. The Technical CAB guards the procedure and keeps it current. Technical staff follow it. The IT Services Executive owns the policy and makes sure everyone follows it. Service owners must approve changes that affect their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CAB reviews change requests and decides whether they should be made; it can also ask for a change to be altered before it is accepted. Membership follows the seven sections of the service catalogue plus at least one IT Services Executive. Note for the presenter: section 4 of the document says the IT CAB meets monthly, while the appendix mentions a weekly IT CAB meeting. Confirm the current cadence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software development project, every change request follows these eight steps. Each step has an owner and a clear output. The next four slides go through them two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any stakeholder can submit a change request, using the formal CR form or the issue tracking tool, with description, justification, impact and priority. Step 2: the PM and BA validate the need, categorize it as minor, major or critical, and assign the responsible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where QA comes in: together with development we analyse the impact on functionality, architecture and performance, feasibility, dependencies, and timeline and cost. The output is a detailed impact report. Step 4: the CAB or Steering Committee decides. Approved changes proceed; rejected ones get a justification; deferred ones are reassessed later. The decision and the updated scope are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development team and PM update the plan and sprint backlog, allocate resources, define the testing and deployment strategy and communicate the timeline. Step 6: the change is built following development best practices and tested with unit, integration and regression testing, plus UAT where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deploy to staging or production, validate after deployment and tell stakeholders. Step 8: update the documentation, capture lessons learned, and archive the CR for audit and compliance. This links directly to our Close &amp; Learn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events are critical and must be rushed through. Each situation is different, so think about the possible consequences. Approval is still needed, but it can be a discussion with the relevant service manager or section head, as long as you log who it was discussed with and how it was approved. For catastrophic events, the Emergency CAB takes the decision, for example moving to the DR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an IT CR is raised. The requester fills in the IT CR template and emails it to get the next CR number from the CAB. The file is named with the CR number and title. The CR is reviewed with the CAB owner before the IT CAB meeting, which decides on changes going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 CR form has four groups of fields. Identification: dates, type, reason, owner, requester, priority, status and source. The change itself: system, description and the steps before, during and after. Testing and acceptance: test steps, results and signatures. Risk and deployment: impact analysis, rollback plan, affected services, deployment plan, time slot and the post go-live sanity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best practices from the procedure. Version control for every change. One central tracking system, which for us is Azure DevOps. A clear escalation matrix. Regular communication with stakeholders. And a change freeze policy close to project deadlines.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What: a change is anything that can affect stability, reliability or business flow, and there are five types. Why: to minimise risk and impact and to have a decision and an audit trail for every change. How: roles and the CAB, the eight-step CR process, the emergency path and the IT CR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Use the three discussion prompts if the room is quiet. Next chapter in the Academy: C7 Test Planning &amp; Risk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chemeClr val="tx2"/>
          </a:solidFill>
          <a:ln/>
        </p:spPr>
      </p:sp>
      <p:sp>
        <p:nvSpPr>
          <p:cNvPr id="3" name="Shape 1"/>
          <p:cNvSpPr/>
          <p:nvPr/>
        </p:nvSpPr>
        <p:spPr>
          <a:xfrm>
            <a:off x="7558851" y="6419088"/>
            <a:ext cx="4632844" cy="91440"/>
          </a:xfrm>
          <a:prstGeom prst="rect">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10042855" y="292608"/>
            <a:ext cx="1600200" cy="487375"/>
          </a:xfrm>
          <a:prstGeom prst="rect">
            <a:avLst/>
          </a:prstGeom>
        </p:spPr>
      </p:pic>
      <p:sp>
        <p:nvSpPr>
          <p:cNvPr id="5" name="Text 2"/>
          <p:cNvSpPr/>
          <p:nvPr/>
        </p:nvSpPr>
        <p:spPr>
          <a:xfrm>
            <a:off x="548640" y="6510528"/>
            <a:ext cx="5486400" cy="347472"/>
          </a:xfrm>
          <a:prstGeom prst="rect">
            <a:avLst/>
          </a:prstGeom>
          <a:noFill/>
          <a:ln/>
        </p:spPr>
        <p:txBody>
          <a:bodyPr wrap="square" lIns="0" tIns="0" rIns="0" bIns="0" rtlCol="0" anchor="ctr"/>
          <a:lstStyle/>
          <a:p>
            <a:pPr indent="0" marL="0">
              <a:buNone/>
            </a:pPr>
            <a:r>
              <a:rPr lang="en-US" sz="1000" dirty="0">
                <a:solidFill>
                  <a:schemeClr val="bg1"/>
                </a:solidFill>
              </a:rPr>
              <a:t>NCPD · IT Quality · Change Management</a:t>
            </a:r>
            <a:endParaRPr lang="en-US" sz="1000" dirty="0"/>
          </a:p>
        </p:txBody>
      </p:sp>
      <p:sp>
        <p:nvSpPr>
          <p:cNvPr id="6" name="Text 3"/>
          <p:cNvSpPr/>
          <p:nvPr>
            <p:ph idx="104" type="title" hasCustomPrompt="1"/>
          </p:nvPr>
        </p:nvSpPr>
        <p:spPr>
          <a:xfrm>
            <a:off x="548640" y="347472"/>
            <a:ext cx="905256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7558851" y="6419088"/>
            <a:ext cx="4632844" cy="91440"/>
          </a:xfrm>
          <a:prstGeom prst="rect">
            <a:avLst/>
          </a:prstGeom>
          <a:solidFill>
            <a:schemeClr val="accent3"/>
          </a:solidFill>
          <a:ln/>
        </p:spPr>
      </p:sp>
      <p:pic>
        <p:nvPicPr>
          <p:cNvPr id="3" name="Image 0" descr="preencoded.png">    </p:cNvPr>
          <p:cNvPicPr>
            <a:picLocks noChangeAspect="1"/>
          </p:cNvPicPr>
          <p:nvPr/>
        </p:nvPicPr>
        <p:blipFill>
          <a:blip r:embed="rId1"/>
          <a:stretch>
            <a:fillRect/>
          </a:stretch>
        </p:blipFill>
        <p:spPr>
          <a:xfrm>
            <a:off x="10042855" y="292608"/>
            <a:ext cx="1600200" cy="487375"/>
          </a:xfrm>
          <a:prstGeom prst="rect">
            <a:avLst/>
          </a:prstGeom>
        </p:spPr>
      </p:pic>
      <p:sp>
        <p:nvSpPr>
          <p:cNvPr id="4" name="Text 1"/>
          <p:cNvSpPr/>
          <p:nvPr>
            <p:ph idx="102" type="title" hasCustomPrompt="1"/>
          </p:nvPr>
        </p:nvSpPr>
        <p:spPr>
          <a:xfrm>
            <a:off x="548640" y="2331720"/>
            <a:ext cx="777240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5" name="Text 1"/>
          <p:cNvSpPr/>
          <p:nvPr>
            <p:ph idx="103" type="body" hasCustomPrompt="1"/>
          </p:nvPr>
        </p:nvSpPr>
        <p:spPr>
          <a:xfrm>
            <a:off x="548640" y="3566160"/>
            <a:ext cx="7772400" cy="822960"/>
          </a:xfrm>
          <a:prstGeom prst="rect">
            <a:avLst/>
          </a:prstGeom>
          <a:noFill/>
          <a:ln/>
        </p:spPr>
        <p:txBody>
          <a:bodyPr wrap="square" rtlCol="0"/>
          <a:lstStyle>
            <a:lvl1pPr algn="l" indent="0" marL="0">
              <a:buNone/>
              <a:defRPr lang="en-US" sz="2200" dirty="0">
                <a:solidFill>
                  <a:schemeClr val="accent3"/>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7558851" y="6419088"/>
            <a:ext cx="4632844" cy="91440"/>
          </a:xfrm>
          <a:prstGeom prst="rect">
            <a:avLst/>
          </a:prstGeom>
          <a:solidFill>
            <a:schemeClr val="accent3"/>
          </a:solidFill>
          <a:ln/>
        </p:spPr>
      </p:sp>
      <p:pic>
        <p:nvPicPr>
          <p:cNvPr id="3" name="Image 0" descr="preencoded.png">    </p:cNvPr>
          <p:cNvPicPr>
            <a:picLocks noChangeAspect="1"/>
          </p:cNvPicPr>
          <p:nvPr/>
        </p:nvPicPr>
        <p:blipFill>
          <a:blip r:embed="rId1"/>
          <a:stretch>
            <a:fillRect/>
          </a:stretch>
        </p:blipFill>
        <p:spPr>
          <a:xfrm>
            <a:off x="9539935" y="365760"/>
            <a:ext cx="2103120" cy="640994"/>
          </a:xfrm>
          <a:prstGeom prst="rect">
            <a:avLst/>
          </a:prstGeom>
        </p:spPr>
      </p:pic>
      <p:sp>
        <p:nvSpPr>
          <p:cNvPr id="4" name="Text 1"/>
          <p:cNvSpPr/>
          <p:nvPr>
            <p:ph idx="102" type="title" hasCustomPrompt="1"/>
          </p:nvPr>
        </p:nvSpPr>
        <p:spPr>
          <a:xfrm>
            <a:off x="548640" y="2011680"/>
            <a:ext cx="822960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5" name="Text 1"/>
          <p:cNvSpPr/>
          <p:nvPr>
            <p:ph idx="103" type="body" hasCustomPrompt="1"/>
          </p:nvPr>
        </p:nvSpPr>
        <p:spPr>
          <a:xfrm>
            <a:off x="548640" y="3246120"/>
            <a:ext cx="8229600" cy="731520"/>
          </a:xfrm>
          <a:prstGeom prst="rect">
            <a:avLst/>
          </a:prstGeom>
          <a:noFill/>
          <a:ln/>
        </p:spPr>
        <p:txBody>
          <a:bodyPr wrap="square" rtlCol="0"/>
          <a:lstStyle>
            <a:lvl1pPr algn="l" indent="0" marL="0">
              <a:buNone/>
              <a:defRPr lang="en-US" sz="2800" dirty="0">
                <a:solidFill>
                  <a:schemeClr val="accent3"/>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2.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slideLayout" Target="../slideLayouts/slideLayout2.xml"/><Relationship Id="rId1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2.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2011680"/>
            <a:ext cx="8229600" cy="1188720"/>
          </a:xfrm>
          <a:prstGeom prst="rect">
            <a:avLst/>
          </a:prstGeom>
          <a:noFill/>
          <a:ln/>
        </p:spPr>
        <p:txBody>
          <a:bodyPr wrap="square" lIns="0" tIns="0" rIns="0" bIns="0" rtlCol="0" anchor="ctr"/>
          <a:lstStyle/>
          <a:p>
            <a:pPr algn="l" indent="0" marL="0">
              <a:buNone/>
            </a:pPr>
            <a:r>
              <a:rPr lang="en-US" sz="6000" b="1" dirty="0">
                <a:solidFill>
                  <a:schemeClr val="bg1"/>
                </a:solidFill>
              </a:rPr>
              <a:t>Change Management</a:t>
            </a:r>
            <a:endParaRPr lang="en-US" sz="6000" dirty="0"/>
          </a:p>
        </p:txBody>
      </p:sp>
      <p:sp>
        <p:nvSpPr>
          <p:cNvPr id="3" name="Text 1"/>
          <p:cNvSpPr/>
          <p:nvPr>
            <p:ph idx="103" type="body" hasCustomPrompt="1"/>
          </p:nvPr>
        </p:nvSpPr>
        <p:spPr>
          <a:xfrm>
            <a:off x="548640" y="3246120"/>
            <a:ext cx="8229600" cy="731520"/>
          </a:xfrm>
          <a:prstGeom prst="rect">
            <a:avLst/>
          </a:prstGeom>
          <a:noFill/>
          <a:ln/>
        </p:spPr>
        <p:txBody>
          <a:bodyPr wrap="square" lIns="0" tIns="0" rIns="0" bIns="0" rtlCol="0" anchor="t"/>
          <a:lstStyle/>
          <a:p>
            <a:pPr algn="l" indent="0" marL="0">
              <a:buNone/>
            </a:pPr>
            <a:r>
              <a:rPr lang="en-US" sz="2800" dirty="0">
                <a:solidFill>
                  <a:schemeClr val="accent3"/>
                </a:solidFill>
              </a:rPr>
              <a:t>What · Why · How</a:t>
            </a:r>
            <a:endParaRPr lang="en-US" sz="2800" dirty="0"/>
          </a:p>
        </p:txBody>
      </p:sp>
      <p:sp>
        <p:nvSpPr>
          <p:cNvPr id="4" name="Text 2"/>
          <p:cNvSpPr txBox="1"/>
          <p:nvPr/>
        </p:nvSpPr>
        <p:spPr>
          <a:xfrm>
            <a:off x="548640" y="4297680"/>
            <a:ext cx="8229600" cy="365760"/>
          </a:xfrm>
          <a:prstGeom prst="rect">
            <a:avLst/>
          </a:prstGeom>
          <a:noFill/>
          <a:ln/>
        </p:spPr>
        <p:txBody>
          <a:bodyPr wrap="square" lIns="0" tIns="0" rIns="0" bIns="0" rtlCol="0" anchor="t"/>
          <a:lstStyle/>
          <a:p>
            <a:pPr indent="0" marL="0">
              <a:buNone/>
            </a:pPr>
            <a:r>
              <a:rPr lang="en-US" sz="1600" dirty="0">
                <a:solidFill>
                  <a:schemeClr val="bg1"/>
                </a:solidFill>
              </a:rPr>
              <a:t>Testing &amp; Quality Academy · Senior Track · Area B · Chapter B6</a:t>
            </a:r>
            <a:endParaRPr lang="en-US" sz="1600" dirty="0"/>
          </a:p>
        </p:txBody>
      </p:sp>
      <p:sp>
        <p:nvSpPr>
          <p:cNvPr id="5" name="Text 3"/>
          <p:cNvSpPr txBox="1"/>
          <p:nvPr/>
        </p:nvSpPr>
        <p:spPr>
          <a:xfrm>
            <a:off x="548640" y="4709160"/>
            <a:ext cx="8229600" cy="365760"/>
          </a:xfrm>
          <a:prstGeom prst="rect">
            <a:avLst/>
          </a:prstGeom>
          <a:noFill/>
          <a:ln/>
        </p:spPr>
        <p:txBody>
          <a:bodyPr wrap="square" lIns="0" tIns="0" rIns="0" bIns="0" rtlCol="0" anchor="t"/>
          <a:lstStyle/>
          <a:p>
            <a:pPr indent="0" marL="0">
              <a:buNone/>
            </a:pPr>
            <a:r>
              <a:rPr lang="en-US" sz="1600" dirty="0">
                <a:solidFill>
                  <a:schemeClr val="accent3"/>
                </a:solidFill>
              </a:rPr>
              <a:t>IT Quality · Ahmed Saleh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Agenda</a:t>
            </a:r>
            <a:endParaRPr lang="en-US" sz="3400" dirty="0"/>
          </a:p>
        </p:txBody>
      </p:sp>
      <p:sp>
        <p:nvSpPr>
          <p:cNvPr id="4" name="Agenda item 1"/>
          <p:cNvSpPr/>
          <p:nvPr/>
        </p:nvSpPr>
        <p:spPr>
          <a:xfrm>
            <a:off x="548640" y="1417320"/>
            <a:ext cx="11094415" cy="1005840"/>
          </a:xfrm>
          <a:prstGeom prst="roundRect">
            <a:avLst>
              <a:gd name="adj" fmla="val 7273"/>
            </a:avLst>
          </a:prstGeom>
          <a:solidFill>
            <a:schemeClr val="bg2"/>
          </a:solidFill>
          <a:ln/>
        </p:spPr>
      </p:sp>
      <p:sp>
        <p:nvSpPr>
          <p:cNvPr id="5" name="Shape 2"/>
          <p:cNvSpPr/>
          <p:nvPr/>
        </p:nvSpPr>
        <p:spPr>
          <a:xfrm>
            <a:off x="777240" y="1600200"/>
            <a:ext cx="640080" cy="640080"/>
          </a:xfrm>
          <a:prstGeom prst="ellipse">
            <a:avLst/>
          </a:prstGeom>
          <a:solidFill>
            <a:schemeClr val="accent1"/>
          </a:solidFill>
          <a:ln/>
        </p:spPr>
      </p:sp>
      <p:pic>
        <p:nvPicPr>
          <p:cNvPr id="6" name="Image 0" descr="LayerGroup icon">    </p:cNvPr>
          <p:cNvPicPr>
            <a:picLocks noChangeAspect="1"/>
          </p:cNvPicPr>
          <p:nvPr/>
        </p:nvPicPr>
        <p:blipFill>
          <a:blip r:embed="rId1"/>
          <a:stretch>
            <a:fillRect/>
          </a:stretch>
        </p:blipFill>
        <p:spPr>
          <a:xfrm>
            <a:off x="930859" y="1753819"/>
            <a:ext cx="332842" cy="332842"/>
          </a:xfrm>
          <a:prstGeom prst="rect">
            <a:avLst/>
          </a:prstGeom>
        </p:spPr>
      </p:pic>
      <p:sp>
        <p:nvSpPr>
          <p:cNvPr id="7" name="Text 3"/>
          <p:cNvSpPr txBox="1"/>
          <p:nvPr/>
        </p:nvSpPr>
        <p:spPr>
          <a:xfrm>
            <a:off x="1645920" y="1554480"/>
            <a:ext cx="731520" cy="731520"/>
          </a:xfrm>
          <a:prstGeom prst="rect">
            <a:avLst/>
          </a:prstGeom>
          <a:noFill/>
          <a:ln/>
        </p:spPr>
        <p:txBody>
          <a:bodyPr wrap="square" lIns="0" tIns="0" rIns="0" bIns="0" rtlCol="0" anchor="ctr"/>
          <a:lstStyle/>
          <a:p>
            <a:pPr indent="0" marL="0">
              <a:buNone/>
            </a:pPr>
            <a:r>
              <a:rPr lang="en-US" sz="3000" b="1" dirty="0">
                <a:solidFill>
                  <a:schemeClr val="accent1"/>
                </a:solidFill>
              </a:rPr>
              <a:t>01</a:t>
            </a:r>
            <a:endParaRPr lang="en-US" sz="3000" dirty="0"/>
          </a:p>
        </p:txBody>
      </p:sp>
      <p:sp>
        <p:nvSpPr>
          <p:cNvPr id="8" name="Text 4"/>
          <p:cNvSpPr txBox="1"/>
          <p:nvPr/>
        </p:nvSpPr>
        <p:spPr>
          <a:xfrm>
            <a:off x="2423160" y="1572768"/>
            <a:ext cx="3657600" cy="365760"/>
          </a:xfrm>
          <a:prstGeom prst="rect">
            <a:avLst/>
          </a:prstGeom>
          <a:noFill/>
          <a:ln/>
        </p:spPr>
        <p:txBody>
          <a:bodyPr wrap="square" lIns="0" tIns="0" rIns="0" bIns="0" rtlCol="0" anchor="t"/>
          <a:lstStyle/>
          <a:p>
            <a:pPr indent="0" marL="0">
              <a:buNone/>
            </a:pPr>
            <a:r>
              <a:rPr lang="en-US" sz="2000" b="1" dirty="0">
                <a:solidFill>
                  <a:schemeClr val="tx2"/>
                </a:solidFill>
              </a:rPr>
              <a:t>Where we are</a:t>
            </a:r>
            <a:endParaRPr lang="en-US" sz="2000" dirty="0"/>
          </a:p>
        </p:txBody>
      </p:sp>
      <p:sp>
        <p:nvSpPr>
          <p:cNvPr id="9" name="Text 5"/>
          <p:cNvSpPr txBox="1"/>
          <p:nvPr/>
        </p:nvSpPr>
        <p:spPr>
          <a:xfrm>
            <a:off x="2423160" y="1947672"/>
            <a:ext cx="8686800" cy="365760"/>
          </a:xfrm>
          <a:prstGeom prst="rect">
            <a:avLst/>
          </a:prstGeom>
          <a:noFill/>
          <a:ln/>
        </p:spPr>
        <p:txBody>
          <a:bodyPr wrap="square" lIns="0" tIns="0" rIns="0" bIns="0" rtlCol="0" anchor="t"/>
          <a:lstStyle/>
          <a:p>
            <a:pPr indent="0" marL="0">
              <a:buNone/>
            </a:pPr>
            <a:r>
              <a:rPr lang="en-US" sz="1500" dirty="0">
                <a:solidFill>
                  <a:schemeClr val="tx1"/>
                </a:solidFill>
              </a:rPr>
              <a:t>TMMi Levels 2 &amp; 3 and our Testing &amp; Quality framework</a:t>
            </a:r>
            <a:endParaRPr lang="en-US" sz="1500" dirty="0"/>
          </a:p>
        </p:txBody>
      </p:sp>
      <p:sp>
        <p:nvSpPr>
          <p:cNvPr id="10" name="Agenda item 2"/>
          <p:cNvSpPr/>
          <p:nvPr/>
        </p:nvSpPr>
        <p:spPr>
          <a:xfrm>
            <a:off x="548640" y="2606040"/>
            <a:ext cx="11094415" cy="1005840"/>
          </a:xfrm>
          <a:prstGeom prst="roundRect">
            <a:avLst>
              <a:gd name="adj" fmla="val 7273"/>
            </a:avLst>
          </a:prstGeom>
          <a:solidFill>
            <a:schemeClr val="bg2"/>
          </a:solidFill>
          <a:ln/>
        </p:spPr>
      </p:sp>
      <p:sp>
        <p:nvSpPr>
          <p:cNvPr id="11" name="Shape 7"/>
          <p:cNvSpPr/>
          <p:nvPr/>
        </p:nvSpPr>
        <p:spPr>
          <a:xfrm>
            <a:off x="777240" y="2788920"/>
            <a:ext cx="640080" cy="640080"/>
          </a:xfrm>
          <a:prstGeom prst="ellipse">
            <a:avLst/>
          </a:prstGeom>
          <a:solidFill>
            <a:schemeClr val="accent1"/>
          </a:solidFill>
          <a:ln/>
        </p:spPr>
      </p:sp>
      <p:pic>
        <p:nvPicPr>
          <p:cNvPr id="12" name="Image 1" descr="Question icon">    </p:cNvPr>
          <p:cNvPicPr>
            <a:picLocks noChangeAspect="1"/>
          </p:cNvPicPr>
          <p:nvPr/>
        </p:nvPicPr>
        <p:blipFill>
          <a:blip r:embed="rId2"/>
          <a:stretch>
            <a:fillRect/>
          </a:stretch>
        </p:blipFill>
        <p:spPr>
          <a:xfrm>
            <a:off x="930859" y="2942539"/>
            <a:ext cx="332842" cy="332842"/>
          </a:xfrm>
          <a:prstGeom prst="rect">
            <a:avLst/>
          </a:prstGeom>
        </p:spPr>
      </p:pic>
      <p:sp>
        <p:nvSpPr>
          <p:cNvPr id="13" name="Text 8"/>
          <p:cNvSpPr txBox="1"/>
          <p:nvPr/>
        </p:nvSpPr>
        <p:spPr>
          <a:xfrm>
            <a:off x="1645920" y="2743200"/>
            <a:ext cx="731520" cy="731520"/>
          </a:xfrm>
          <a:prstGeom prst="rect">
            <a:avLst/>
          </a:prstGeom>
          <a:noFill/>
          <a:ln/>
        </p:spPr>
        <p:txBody>
          <a:bodyPr wrap="square" lIns="0" tIns="0" rIns="0" bIns="0" rtlCol="0" anchor="ctr"/>
          <a:lstStyle/>
          <a:p>
            <a:pPr indent="0" marL="0">
              <a:buNone/>
            </a:pPr>
            <a:r>
              <a:rPr lang="en-US" sz="3000" b="1" dirty="0">
                <a:solidFill>
                  <a:schemeClr val="accent1"/>
                </a:solidFill>
              </a:rPr>
              <a:t>02</a:t>
            </a:r>
            <a:endParaRPr lang="en-US" sz="3000" dirty="0"/>
          </a:p>
        </p:txBody>
      </p:sp>
      <p:sp>
        <p:nvSpPr>
          <p:cNvPr id="14" name="Text 9"/>
          <p:cNvSpPr txBox="1"/>
          <p:nvPr/>
        </p:nvSpPr>
        <p:spPr>
          <a:xfrm>
            <a:off x="2423160" y="2761488"/>
            <a:ext cx="3657600" cy="365760"/>
          </a:xfrm>
          <a:prstGeom prst="rect">
            <a:avLst/>
          </a:prstGeom>
          <a:noFill/>
          <a:ln/>
        </p:spPr>
        <p:txBody>
          <a:bodyPr wrap="square" lIns="0" tIns="0" rIns="0" bIns="0" rtlCol="0" anchor="t"/>
          <a:lstStyle/>
          <a:p>
            <a:pPr indent="0" marL="0">
              <a:buNone/>
            </a:pPr>
            <a:r>
              <a:rPr lang="en-US" sz="2000" b="1" dirty="0">
                <a:solidFill>
                  <a:schemeClr val="tx2"/>
                </a:solidFill>
              </a:rPr>
              <a:t>WHAT</a:t>
            </a:r>
            <a:endParaRPr lang="en-US" sz="2000" dirty="0"/>
          </a:p>
        </p:txBody>
      </p:sp>
      <p:sp>
        <p:nvSpPr>
          <p:cNvPr id="15" name="Text 10"/>
          <p:cNvSpPr txBox="1"/>
          <p:nvPr/>
        </p:nvSpPr>
        <p:spPr>
          <a:xfrm>
            <a:off x="2423160" y="3136392"/>
            <a:ext cx="8686800" cy="365760"/>
          </a:xfrm>
          <a:prstGeom prst="rect">
            <a:avLst/>
          </a:prstGeom>
          <a:noFill/>
          <a:ln/>
        </p:spPr>
        <p:txBody>
          <a:bodyPr wrap="square" lIns="0" tIns="0" rIns="0" bIns="0" rtlCol="0" anchor="t"/>
          <a:lstStyle/>
          <a:p>
            <a:pPr indent="0" marL="0">
              <a:buNone/>
            </a:pPr>
            <a:r>
              <a:rPr lang="en-US" sz="1500" dirty="0">
                <a:solidFill>
                  <a:schemeClr val="tx1"/>
                </a:solidFill>
              </a:rPr>
              <a:t>What change management is, what a change is, types of change</a:t>
            </a:r>
            <a:endParaRPr lang="en-US" sz="1500" dirty="0"/>
          </a:p>
        </p:txBody>
      </p:sp>
      <p:sp>
        <p:nvSpPr>
          <p:cNvPr id="16" name="Agenda item 3"/>
          <p:cNvSpPr/>
          <p:nvPr/>
        </p:nvSpPr>
        <p:spPr>
          <a:xfrm>
            <a:off x="548640" y="3794760"/>
            <a:ext cx="11094415" cy="1005840"/>
          </a:xfrm>
          <a:prstGeom prst="roundRect">
            <a:avLst>
              <a:gd name="adj" fmla="val 7273"/>
            </a:avLst>
          </a:prstGeom>
          <a:solidFill>
            <a:schemeClr val="bg2"/>
          </a:solidFill>
          <a:ln/>
        </p:spPr>
      </p:sp>
      <p:sp>
        <p:nvSpPr>
          <p:cNvPr id="17" name="Shape 12"/>
          <p:cNvSpPr/>
          <p:nvPr/>
        </p:nvSpPr>
        <p:spPr>
          <a:xfrm>
            <a:off x="777240" y="3977640"/>
            <a:ext cx="640080" cy="640080"/>
          </a:xfrm>
          <a:prstGeom prst="ellipse">
            <a:avLst/>
          </a:prstGeom>
          <a:solidFill>
            <a:schemeClr val="accent1"/>
          </a:solidFill>
          <a:ln/>
        </p:spPr>
      </p:sp>
      <p:pic>
        <p:nvPicPr>
          <p:cNvPr id="18" name="Image 2" descr="Lightbulb icon">    </p:cNvPr>
          <p:cNvPicPr>
            <a:picLocks noChangeAspect="1"/>
          </p:cNvPicPr>
          <p:nvPr/>
        </p:nvPicPr>
        <p:blipFill>
          <a:blip r:embed="rId3"/>
          <a:stretch>
            <a:fillRect/>
          </a:stretch>
        </p:blipFill>
        <p:spPr>
          <a:xfrm>
            <a:off x="930859" y="4131259"/>
            <a:ext cx="332842" cy="332842"/>
          </a:xfrm>
          <a:prstGeom prst="rect">
            <a:avLst/>
          </a:prstGeom>
        </p:spPr>
      </p:pic>
      <p:sp>
        <p:nvSpPr>
          <p:cNvPr id="19" name="Text 13"/>
          <p:cNvSpPr txBox="1"/>
          <p:nvPr/>
        </p:nvSpPr>
        <p:spPr>
          <a:xfrm>
            <a:off x="1645920" y="3931920"/>
            <a:ext cx="731520" cy="731520"/>
          </a:xfrm>
          <a:prstGeom prst="rect">
            <a:avLst/>
          </a:prstGeom>
          <a:noFill/>
          <a:ln/>
        </p:spPr>
        <p:txBody>
          <a:bodyPr wrap="square" lIns="0" tIns="0" rIns="0" bIns="0" rtlCol="0" anchor="ctr"/>
          <a:lstStyle/>
          <a:p>
            <a:pPr indent="0" marL="0">
              <a:buNone/>
            </a:pPr>
            <a:r>
              <a:rPr lang="en-US" sz="3000" b="1" dirty="0">
                <a:solidFill>
                  <a:schemeClr val="accent1"/>
                </a:solidFill>
              </a:rPr>
              <a:t>03</a:t>
            </a:r>
            <a:endParaRPr lang="en-US" sz="3000" dirty="0"/>
          </a:p>
        </p:txBody>
      </p:sp>
      <p:sp>
        <p:nvSpPr>
          <p:cNvPr id="20" name="Text 14"/>
          <p:cNvSpPr txBox="1"/>
          <p:nvPr/>
        </p:nvSpPr>
        <p:spPr>
          <a:xfrm>
            <a:off x="2423160" y="3950208"/>
            <a:ext cx="3657600" cy="365760"/>
          </a:xfrm>
          <a:prstGeom prst="rect">
            <a:avLst/>
          </a:prstGeom>
          <a:noFill/>
          <a:ln/>
        </p:spPr>
        <p:txBody>
          <a:bodyPr wrap="square" lIns="0" tIns="0" rIns="0" bIns="0" rtlCol="0" anchor="t"/>
          <a:lstStyle/>
          <a:p>
            <a:pPr indent="0" marL="0">
              <a:buNone/>
            </a:pPr>
            <a:r>
              <a:rPr lang="en-US" sz="2000" b="1" dirty="0">
                <a:solidFill>
                  <a:schemeClr val="tx2"/>
                </a:solidFill>
              </a:rPr>
              <a:t>WHY</a:t>
            </a:r>
            <a:endParaRPr lang="en-US" sz="2000" dirty="0"/>
          </a:p>
        </p:txBody>
      </p:sp>
      <p:sp>
        <p:nvSpPr>
          <p:cNvPr id="21" name="Text 15"/>
          <p:cNvSpPr txBox="1"/>
          <p:nvPr/>
        </p:nvSpPr>
        <p:spPr>
          <a:xfrm>
            <a:off x="2423160" y="4325112"/>
            <a:ext cx="8686800" cy="365760"/>
          </a:xfrm>
          <a:prstGeom prst="rect">
            <a:avLst/>
          </a:prstGeom>
          <a:noFill/>
          <a:ln/>
        </p:spPr>
        <p:txBody>
          <a:bodyPr wrap="square" lIns="0" tIns="0" rIns="0" bIns="0" rtlCol="0" anchor="t"/>
          <a:lstStyle/>
          <a:p>
            <a:pPr indent="0" marL="0">
              <a:buNone/>
            </a:pPr>
            <a:r>
              <a:rPr lang="en-US" sz="1500" dirty="0">
                <a:solidFill>
                  <a:schemeClr val="tx1"/>
                </a:solidFill>
              </a:rPr>
              <a:t>What goes wrong without it and what we gain with it</a:t>
            </a:r>
            <a:endParaRPr lang="en-US" sz="1500" dirty="0"/>
          </a:p>
        </p:txBody>
      </p:sp>
      <p:sp>
        <p:nvSpPr>
          <p:cNvPr id="22" name="Agenda item 4"/>
          <p:cNvSpPr/>
          <p:nvPr/>
        </p:nvSpPr>
        <p:spPr>
          <a:xfrm>
            <a:off x="548640" y="4983480"/>
            <a:ext cx="11094415" cy="1005840"/>
          </a:xfrm>
          <a:prstGeom prst="roundRect">
            <a:avLst>
              <a:gd name="adj" fmla="val 7273"/>
            </a:avLst>
          </a:prstGeom>
          <a:solidFill>
            <a:schemeClr val="bg2"/>
          </a:solidFill>
          <a:ln/>
        </p:spPr>
      </p:sp>
      <p:sp>
        <p:nvSpPr>
          <p:cNvPr id="23" name="Shape 17"/>
          <p:cNvSpPr/>
          <p:nvPr/>
        </p:nvSpPr>
        <p:spPr>
          <a:xfrm>
            <a:off x="777240" y="5166360"/>
            <a:ext cx="640080" cy="640080"/>
          </a:xfrm>
          <a:prstGeom prst="ellipse">
            <a:avLst/>
          </a:prstGeom>
          <a:solidFill>
            <a:schemeClr val="accent1"/>
          </a:solidFill>
          <a:ln/>
        </p:spPr>
      </p:sp>
      <p:pic>
        <p:nvPicPr>
          <p:cNvPr id="24" name="Image 3" descr="Route icon">    </p:cNvPr>
          <p:cNvPicPr>
            <a:picLocks noChangeAspect="1"/>
          </p:cNvPicPr>
          <p:nvPr/>
        </p:nvPicPr>
        <p:blipFill>
          <a:blip r:embed="rId4"/>
          <a:stretch>
            <a:fillRect/>
          </a:stretch>
        </p:blipFill>
        <p:spPr>
          <a:xfrm>
            <a:off x="930859" y="5319979"/>
            <a:ext cx="332842" cy="332842"/>
          </a:xfrm>
          <a:prstGeom prst="rect">
            <a:avLst/>
          </a:prstGeom>
        </p:spPr>
      </p:pic>
      <p:sp>
        <p:nvSpPr>
          <p:cNvPr id="25" name="Text 18"/>
          <p:cNvSpPr txBox="1"/>
          <p:nvPr/>
        </p:nvSpPr>
        <p:spPr>
          <a:xfrm>
            <a:off x="1645920" y="5120640"/>
            <a:ext cx="731520" cy="731520"/>
          </a:xfrm>
          <a:prstGeom prst="rect">
            <a:avLst/>
          </a:prstGeom>
          <a:noFill/>
          <a:ln/>
        </p:spPr>
        <p:txBody>
          <a:bodyPr wrap="square" lIns="0" tIns="0" rIns="0" bIns="0" rtlCol="0" anchor="ctr"/>
          <a:lstStyle/>
          <a:p>
            <a:pPr indent="0" marL="0">
              <a:buNone/>
            </a:pPr>
            <a:r>
              <a:rPr lang="en-US" sz="3000" b="1" dirty="0">
                <a:solidFill>
                  <a:schemeClr val="accent1"/>
                </a:solidFill>
              </a:rPr>
              <a:t>04</a:t>
            </a:r>
            <a:endParaRPr lang="en-US" sz="3000" dirty="0"/>
          </a:p>
        </p:txBody>
      </p:sp>
      <p:sp>
        <p:nvSpPr>
          <p:cNvPr id="26" name="Text 19"/>
          <p:cNvSpPr txBox="1"/>
          <p:nvPr/>
        </p:nvSpPr>
        <p:spPr>
          <a:xfrm>
            <a:off x="2423160" y="5138928"/>
            <a:ext cx="3657600" cy="365760"/>
          </a:xfrm>
          <a:prstGeom prst="rect">
            <a:avLst/>
          </a:prstGeom>
          <a:noFill/>
          <a:ln/>
        </p:spPr>
        <p:txBody>
          <a:bodyPr wrap="square" lIns="0" tIns="0" rIns="0" bIns="0" rtlCol="0" anchor="t"/>
          <a:lstStyle/>
          <a:p>
            <a:pPr indent="0" marL="0">
              <a:buNone/>
            </a:pPr>
            <a:r>
              <a:rPr lang="en-US" sz="2000" b="1" dirty="0">
                <a:solidFill>
                  <a:schemeClr val="tx2"/>
                </a:solidFill>
              </a:rPr>
              <a:t>HOW</a:t>
            </a:r>
            <a:endParaRPr lang="en-US" sz="2000" dirty="0"/>
          </a:p>
        </p:txBody>
      </p:sp>
      <p:sp>
        <p:nvSpPr>
          <p:cNvPr id="27" name="Text 20"/>
          <p:cNvSpPr txBox="1"/>
          <p:nvPr/>
        </p:nvSpPr>
        <p:spPr>
          <a:xfrm>
            <a:off x="2423160" y="5513832"/>
            <a:ext cx="8686800" cy="365760"/>
          </a:xfrm>
          <a:prstGeom prst="rect">
            <a:avLst/>
          </a:prstGeom>
          <a:noFill/>
          <a:ln/>
        </p:spPr>
        <p:txBody>
          <a:bodyPr wrap="square" lIns="0" tIns="0" rIns="0" bIns="0" rtlCol="0" anchor="t"/>
          <a:lstStyle/>
          <a:p>
            <a:pPr indent="0" marL="0">
              <a:buNone/>
            </a:pPr>
            <a:r>
              <a:rPr lang="en-US" sz="1500" dirty="0">
                <a:solidFill>
                  <a:schemeClr val="tx1"/>
                </a:solidFill>
              </a:rPr>
              <a:t>Roles, the CAB, the 8-step CR process, emergency changes, the IT CR form</a:t>
            </a:r>
            <a:endParaRPr lang="en-US" sz="15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2331720"/>
            <a:ext cx="7772400" cy="1188720"/>
          </a:xfrm>
          <a:prstGeom prst="rect">
            <a:avLst/>
          </a:prstGeom>
          <a:noFill/>
          <a:ln/>
        </p:spPr>
        <p:txBody>
          <a:bodyPr wrap="square" lIns="0" tIns="0" rIns="0" bIns="0" rtlCol="0" anchor="ctr"/>
          <a:lstStyle/>
          <a:p>
            <a:pPr algn="l" indent="0" marL="0">
              <a:buNone/>
            </a:pPr>
            <a:r>
              <a:rPr lang="en-US" sz="5400" b="1" dirty="0">
                <a:solidFill>
                  <a:schemeClr val="bg1"/>
                </a:solidFill>
              </a:rPr>
              <a:t>Where we are</a:t>
            </a:r>
            <a:endParaRPr lang="en-US" sz="5400" dirty="0"/>
          </a:p>
        </p:txBody>
      </p:sp>
      <p:sp>
        <p:nvSpPr>
          <p:cNvPr id="3" name="Text 1"/>
          <p:cNvSpPr/>
          <p:nvPr>
            <p:ph idx="103" type="body" hasCustomPrompt="1"/>
          </p:nvPr>
        </p:nvSpPr>
        <p:spPr>
          <a:xfrm>
            <a:off x="548640" y="3566160"/>
            <a:ext cx="7772400" cy="822960"/>
          </a:xfrm>
          <a:prstGeom prst="rect">
            <a:avLst/>
          </a:prstGeom>
          <a:noFill/>
          <a:ln/>
        </p:spPr>
        <p:txBody>
          <a:bodyPr wrap="square" lIns="0" tIns="0" rIns="0" bIns="0" rtlCol="0" anchor="t"/>
          <a:lstStyle/>
          <a:p>
            <a:pPr algn="l" indent="0" marL="0">
              <a:buNone/>
            </a:pPr>
            <a:r>
              <a:rPr lang="en-US" sz="2200" dirty="0">
                <a:solidFill>
                  <a:schemeClr val="accent3"/>
                </a:solidFill>
              </a:rPr>
              <a:t>TMMi Levels 2 &amp; 3 and our Testing &amp; Quality framework</a:t>
            </a:r>
            <a:endParaRPr lang="en-US" sz="22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TMMi: five maturity levels</a:t>
            </a:r>
            <a:endParaRPr lang="en-US" sz="3400" dirty="0"/>
          </a:p>
        </p:txBody>
      </p:sp>
      <p:sp>
        <p:nvSpPr>
          <p:cNvPr id="4" name="Level 1 step"/>
          <p:cNvSpPr/>
          <p:nvPr/>
        </p:nvSpPr>
        <p:spPr>
          <a:xfrm>
            <a:off x="548640" y="4526280"/>
            <a:ext cx="2057400" cy="1463040"/>
          </a:xfrm>
          <a:prstGeom prst="roundRect">
            <a:avLst>
              <a:gd name="adj" fmla="val 5000"/>
            </a:avLst>
          </a:prstGeom>
          <a:solidFill>
            <a:schemeClr val="bg2"/>
          </a:solidFill>
          <a:ln/>
        </p:spPr>
      </p:sp>
      <p:sp>
        <p:nvSpPr>
          <p:cNvPr id="5" name="Text 2"/>
          <p:cNvSpPr txBox="1"/>
          <p:nvPr/>
        </p:nvSpPr>
        <p:spPr>
          <a:xfrm>
            <a:off x="731520" y="4690872"/>
            <a:ext cx="1691640" cy="320040"/>
          </a:xfrm>
          <a:prstGeom prst="rect">
            <a:avLst/>
          </a:prstGeom>
          <a:noFill/>
          <a:ln/>
        </p:spPr>
        <p:txBody>
          <a:bodyPr wrap="square" lIns="0" tIns="0" rIns="0" bIns="0" rtlCol="0" anchor="t"/>
          <a:lstStyle/>
          <a:p>
            <a:pPr indent="0" marL="0">
              <a:buNone/>
            </a:pPr>
            <a:r>
              <a:rPr lang="en-US" sz="1400" b="1" dirty="0">
                <a:solidFill>
                  <a:schemeClr val="tx2"/>
                </a:solidFill>
              </a:rPr>
              <a:t>Level 1</a:t>
            </a:r>
            <a:endParaRPr lang="en-US" sz="1400" dirty="0"/>
          </a:p>
        </p:txBody>
      </p:sp>
      <p:sp>
        <p:nvSpPr>
          <p:cNvPr id="6" name="Text 3"/>
          <p:cNvSpPr txBox="1"/>
          <p:nvPr/>
        </p:nvSpPr>
        <p:spPr>
          <a:xfrm>
            <a:off x="731520" y="4983480"/>
            <a:ext cx="1691640" cy="411480"/>
          </a:xfrm>
          <a:prstGeom prst="rect">
            <a:avLst/>
          </a:prstGeom>
          <a:noFill/>
          <a:ln/>
        </p:spPr>
        <p:txBody>
          <a:bodyPr wrap="square" lIns="0" tIns="0" rIns="0" bIns="0" rtlCol="0" anchor="t"/>
          <a:lstStyle/>
          <a:p>
            <a:pPr indent="0" marL="0">
              <a:buNone/>
            </a:pPr>
            <a:r>
              <a:rPr lang="en-US" sz="2200" b="1" dirty="0">
                <a:solidFill>
                  <a:schemeClr val="tx2"/>
                </a:solidFill>
              </a:rPr>
              <a:t>Initial</a:t>
            </a:r>
            <a:endParaRPr lang="en-US" sz="2200" dirty="0"/>
          </a:p>
        </p:txBody>
      </p:sp>
      <p:sp>
        <p:nvSpPr>
          <p:cNvPr id="7" name="Text 4"/>
          <p:cNvSpPr txBox="1"/>
          <p:nvPr/>
        </p:nvSpPr>
        <p:spPr>
          <a:xfrm>
            <a:off x="731520" y="5440680"/>
            <a:ext cx="1691640" cy="457200"/>
          </a:xfrm>
          <a:prstGeom prst="rect">
            <a:avLst/>
          </a:prstGeom>
          <a:noFill/>
          <a:ln/>
        </p:spPr>
        <p:txBody>
          <a:bodyPr wrap="square" lIns="0" tIns="0" rIns="0" bIns="0" rtlCol="0" anchor="t"/>
          <a:lstStyle/>
          <a:p>
            <a:pPr indent="0" marL="0">
              <a:buNone/>
            </a:pPr>
            <a:r>
              <a:rPr lang="en-US" sz="1300" dirty="0">
                <a:solidFill>
                  <a:schemeClr val="tx1"/>
                </a:solidFill>
              </a:rPr>
              <a:t>Testing is ad hoc and depends on individuals</a:t>
            </a:r>
            <a:endParaRPr lang="en-US" sz="1300" dirty="0"/>
          </a:p>
        </p:txBody>
      </p:sp>
      <p:sp>
        <p:nvSpPr>
          <p:cNvPr id="8" name="Level 2 step"/>
          <p:cNvSpPr/>
          <p:nvPr/>
        </p:nvSpPr>
        <p:spPr>
          <a:xfrm>
            <a:off x="2715768" y="3840480"/>
            <a:ext cx="2057400" cy="2148840"/>
          </a:xfrm>
          <a:prstGeom prst="roundRect">
            <a:avLst>
              <a:gd name="adj" fmla="val 3556"/>
            </a:avLst>
          </a:prstGeom>
          <a:solidFill>
            <a:schemeClr val="accent1"/>
          </a:solidFill>
          <a:ln/>
          <a:effectLst>
            <a:outerShdw sx="100000" sy="100000" kx="0" ky="0" algn="bl" rotWithShape="0" blurRad="101600" dist="25400" dir="5400000">
              <a:srgbClr val="000000">
                <a:alpha val="12000"/>
              </a:srgbClr>
            </a:outerShdw>
          </a:effectLst>
        </p:spPr>
      </p:sp>
      <p:sp>
        <p:nvSpPr>
          <p:cNvPr id="9" name="Text 6"/>
          <p:cNvSpPr txBox="1"/>
          <p:nvPr/>
        </p:nvSpPr>
        <p:spPr>
          <a:xfrm>
            <a:off x="2898648" y="4005072"/>
            <a:ext cx="1691640" cy="320040"/>
          </a:xfrm>
          <a:prstGeom prst="rect">
            <a:avLst/>
          </a:prstGeom>
          <a:noFill/>
          <a:ln/>
        </p:spPr>
        <p:txBody>
          <a:bodyPr wrap="square" lIns="0" tIns="0" rIns="0" bIns="0" rtlCol="0" anchor="t"/>
          <a:lstStyle/>
          <a:p>
            <a:pPr indent="0" marL="0">
              <a:buNone/>
            </a:pPr>
            <a:r>
              <a:rPr lang="en-US" sz="1400" b="1" dirty="0">
                <a:solidFill>
                  <a:schemeClr val="accent3"/>
                </a:solidFill>
              </a:rPr>
              <a:t>Level 2</a:t>
            </a:r>
            <a:endParaRPr lang="en-US" sz="1400" dirty="0"/>
          </a:p>
        </p:txBody>
      </p:sp>
      <p:sp>
        <p:nvSpPr>
          <p:cNvPr id="10" name="Text 7"/>
          <p:cNvSpPr txBox="1"/>
          <p:nvPr/>
        </p:nvSpPr>
        <p:spPr>
          <a:xfrm>
            <a:off x="2898648" y="4297680"/>
            <a:ext cx="1691640" cy="411480"/>
          </a:xfrm>
          <a:prstGeom prst="rect">
            <a:avLst/>
          </a:prstGeom>
          <a:noFill/>
          <a:ln/>
        </p:spPr>
        <p:txBody>
          <a:bodyPr wrap="square" lIns="0" tIns="0" rIns="0" bIns="0" rtlCol="0" anchor="t"/>
          <a:lstStyle/>
          <a:p>
            <a:pPr indent="0" marL="0">
              <a:buNone/>
            </a:pPr>
            <a:r>
              <a:rPr lang="en-US" sz="2200" b="1" dirty="0">
                <a:solidFill>
                  <a:schemeClr val="bg1"/>
                </a:solidFill>
              </a:rPr>
              <a:t>Managed</a:t>
            </a:r>
            <a:endParaRPr lang="en-US" sz="2200" dirty="0"/>
          </a:p>
        </p:txBody>
      </p:sp>
      <p:sp>
        <p:nvSpPr>
          <p:cNvPr id="11" name="Text 8"/>
          <p:cNvSpPr txBox="1"/>
          <p:nvPr/>
        </p:nvSpPr>
        <p:spPr>
          <a:xfrm>
            <a:off x="2898648" y="4754880"/>
            <a:ext cx="1691640" cy="1143000"/>
          </a:xfrm>
          <a:prstGeom prst="rect">
            <a:avLst/>
          </a:prstGeom>
          <a:noFill/>
          <a:ln/>
        </p:spPr>
        <p:txBody>
          <a:bodyPr wrap="square" lIns="0" tIns="0" rIns="0" bIns="0" rtlCol="0" anchor="t"/>
          <a:lstStyle/>
          <a:p>
            <a:pPr indent="0" marL="0">
              <a:buNone/>
            </a:pPr>
            <a:r>
              <a:rPr lang="en-US" sz="1300" dirty="0">
                <a:solidFill>
                  <a:schemeClr val="bg1"/>
                </a:solidFill>
              </a:rPr>
              <a:t>Testing is a managed process on every project</a:t>
            </a:r>
            <a:endParaRPr lang="en-US" sz="1300" dirty="0"/>
          </a:p>
        </p:txBody>
      </p:sp>
      <p:sp>
        <p:nvSpPr>
          <p:cNvPr id="12" name="Level 3 step"/>
          <p:cNvSpPr/>
          <p:nvPr/>
        </p:nvSpPr>
        <p:spPr>
          <a:xfrm>
            <a:off x="4882896" y="3154680"/>
            <a:ext cx="2057400" cy="2834640"/>
          </a:xfrm>
          <a:prstGeom prst="roundRect">
            <a:avLst>
              <a:gd name="adj" fmla="val 3556"/>
            </a:avLst>
          </a:prstGeom>
          <a:solidFill>
            <a:schemeClr val="tx2"/>
          </a:solidFill>
          <a:ln/>
          <a:effectLst>
            <a:outerShdw sx="100000" sy="100000" kx="0" ky="0" algn="bl" rotWithShape="0" blurRad="101600" dist="25400" dir="5400000">
              <a:srgbClr val="000000">
                <a:alpha val="12000"/>
              </a:srgbClr>
            </a:outerShdw>
          </a:effectLst>
        </p:spPr>
      </p:sp>
      <p:sp>
        <p:nvSpPr>
          <p:cNvPr id="13" name="Text 10"/>
          <p:cNvSpPr txBox="1"/>
          <p:nvPr/>
        </p:nvSpPr>
        <p:spPr>
          <a:xfrm>
            <a:off x="5065776" y="3319272"/>
            <a:ext cx="1691640" cy="320040"/>
          </a:xfrm>
          <a:prstGeom prst="rect">
            <a:avLst/>
          </a:prstGeom>
          <a:noFill/>
          <a:ln/>
        </p:spPr>
        <p:txBody>
          <a:bodyPr wrap="square" lIns="0" tIns="0" rIns="0" bIns="0" rtlCol="0" anchor="t"/>
          <a:lstStyle/>
          <a:p>
            <a:pPr indent="0" marL="0">
              <a:buNone/>
            </a:pPr>
            <a:r>
              <a:rPr lang="en-US" sz="1400" b="1" dirty="0">
                <a:solidFill>
                  <a:schemeClr val="accent3"/>
                </a:solidFill>
              </a:rPr>
              <a:t>Level 3</a:t>
            </a:r>
            <a:endParaRPr lang="en-US" sz="1400" dirty="0"/>
          </a:p>
        </p:txBody>
      </p:sp>
      <p:sp>
        <p:nvSpPr>
          <p:cNvPr id="14" name="Text 11"/>
          <p:cNvSpPr txBox="1"/>
          <p:nvPr/>
        </p:nvSpPr>
        <p:spPr>
          <a:xfrm>
            <a:off x="5065776" y="3611880"/>
            <a:ext cx="1691640" cy="411480"/>
          </a:xfrm>
          <a:prstGeom prst="rect">
            <a:avLst/>
          </a:prstGeom>
          <a:noFill/>
          <a:ln/>
        </p:spPr>
        <p:txBody>
          <a:bodyPr wrap="square" lIns="0" tIns="0" rIns="0" bIns="0" rtlCol="0" anchor="t"/>
          <a:lstStyle/>
          <a:p>
            <a:pPr indent="0" marL="0">
              <a:buNone/>
            </a:pPr>
            <a:r>
              <a:rPr lang="en-US" sz="2200" b="1" dirty="0">
                <a:solidFill>
                  <a:schemeClr val="bg1"/>
                </a:solidFill>
              </a:rPr>
              <a:t>Defined</a:t>
            </a:r>
            <a:endParaRPr lang="en-US" sz="2200" dirty="0"/>
          </a:p>
        </p:txBody>
      </p:sp>
      <p:sp>
        <p:nvSpPr>
          <p:cNvPr id="15" name="Text 12"/>
          <p:cNvSpPr txBox="1"/>
          <p:nvPr/>
        </p:nvSpPr>
        <p:spPr>
          <a:xfrm>
            <a:off x="5065776" y="4069080"/>
            <a:ext cx="1691640" cy="1828800"/>
          </a:xfrm>
          <a:prstGeom prst="rect">
            <a:avLst/>
          </a:prstGeom>
          <a:noFill/>
          <a:ln/>
        </p:spPr>
        <p:txBody>
          <a:bodyPr wrap="square" lIns="0" tIns="0" rIns="0" bIns="0" rtlCol="0" anchor="t"/>
          <a:lstStyle/>
          <a:p>
            <a:pPr indent="0" marL="0">
              <a:buNone/>
            </a:pPr>
            <a:r>
              <a:rPr lang="en-US" sz="1300" dirty="0">
                <a:solidFill>
                  <a:schemeClr val="bg1"/>
                </a:solidFill>
              </a:rPr>
              <a:t>One standard test process for the organisation, integrated in the lifecycle</a:t>
            </a:r>
            <a:endParaRPr lang="en-US" sz="1300" dirty="0"/>
          </a:p>
        </p:txBody>
      </p:sp>
      <p:sp>
        <p:nvSpPr>
          <p:cNvPr id="16" name="Level 4 step"/>
          <p:cNvSpPr/>
          <p:nvPr/>
        </p:nvSpPr>
        <p:spPr>
          <a:xfrm>
            <a:off x="7050024" y="2468880"/>
            <a:ext cx="2057400" cy="3520440"/>
          </a:xfrm>
          <a:prstGeom prst="roundRect">
            <a:avLst>
              <a:gd name="adj" fmla="val 3556"/>
            </a:avLst>
          </a:prstGeom>
          <a:solidFill>
            <a:schemeClr val="bg2"/>
          </a:solidFill>
          <a:ln/>
        </p:spPr>
      </p:sp>
      <p:sp>
        <p:nvSpPr>
          <p:cNvPr id="17" name="Text 14"/>
          <p:cNvSpPr txBox="1"/>
          <p:nvPr/>
        </p:nvSpPr>
        <p:spPr>
          <a:xfrm>
            <a:off x="7232904" y="2633472"/>
            <a:ext cx="1691640" cy="320040"/>
          </a:xfrm>
          <a:prstGeom prst="rect">
            <a:avLst/>
          </a:prstGeom>
          <a:noFill/>
          <a:ln/>
        </p:spPr>
        <p:txBody>
          <a:bodyPr wrap="square" lIns="0" tIns="0" rIns="0" bIns="0" rtlCol="0" anchor="t"/>
          <a:lstStyle/>
          <a:p>
            <a:pPr indent="0" marL="0">
              <a:buNone/>
            </a:pPr>
            <a:r>
              <a:rPr lang="en-US" sz="1400" b="1" dirty="0">
                <a:solidFill>
                  <a:schemeClr val="tx2"/>
                </a:solidFill>
              </a:rPr>
              <a:t>Level 4</a:t>
            </a:r>
            <a:endParaRPr lang="en-US" sz="1400" dirty="0"/>
          </a:p>
        </p:txBody>
      </p:sp>
      <p:sp>
        <p:nvSpPr>
          <p:cNvPr id="18" name="Text 15"/>
          <p:cNvSpPr txBox="1"/>
          <p:nvPr/>
        </p:nvSpPr>
        <p:spPr>
          <a:xfrm>
            <a:off x="7232904" y="2926080"/>
            <a:ext cx="1691640" cy="411480"/>
          </a:xfrm>
          <a:prstGeom prst="rect">
            <a:avLst/>
          </a:prstGeom>
          <a:noFill/>
          <a:ln/>
        </p:spPr>
        <p:txBody>
          <a:bodyPr wrap="square" lIns="0" tIns="0" rIns="0" bIns="0" rtlCol="0" anchor="t"/>
          <a:lstStyle/>
          <a:p>
            <a:pPr indent="0" marL="0">
              <a:buNone/>
            </a:pPr>
            <a:r>
              <a:rPr lang="en-US" sz="2200" b="1" dirty="0">
                <a:solidFill>
                  <a:schemeClr val="tx2"/>
                </a:solidFill>
              </a:rPr>
              <a:t>Measured</a:t>
            </a:r>
            <a:endParaRPr lang="en-US" sz="2200" dirty="0"/>
          </a:p>
        </p:txBody>
      </p:sp>
      <p:sp>
        <p:nvSpPr>
          <p:cNvPr id="19" name="Text 16"/>
          <p:cNvSpPr txBox="1"/>
          <p:nvPr/>
        </p:nvSpPr>
        <p:spPr>
          <a:xfrm>
            <a:off x="7232904" y="3383280"/>
            <a:ext cx="1691640" cy="2514600"/>
          </a:xfrm>
          <a:prstGeom prst="rect">
            <a:avLst/>
          </a:prstGeom>
          <a:noFill/>
          <a:ln/>
        </p:spPr>
        <p:txBody>
          <a:bodyPr wrap="square" lIns="0" tIns="0" rIns="0" bIns="0" rtlCol="0" anchor="t"/>
          <a:lstStyle/>
          <a:p>
            <a:pPr indent="0" marL="0">
              <a:buNone/>
            </a:pPr>
            <a:r>
              <a:rPr lang="en-US" sz="1300" dirty="0">
                <a:solidFill>
                  <a:schemeClr val="tx1"/>
                </a:solidFill>
              </a:rPr>
              <a:t>Testing is measured and quality is evaluated quantitatively</a:t>
            </a:r>
            <a:endParaRPr lang="en-US" sz="1300" dirty="0"/>
          </a:p>
        </p:txBody>
      </p:sp>
      <p:sp>
        <p:nvSpPr>
          <p:cNvPr id="20" name="Level 5 step"/>
          <p:cNvSpPr/>
          <p:nvPr/>
        </p:nvSpPr>
        <p:spPr>
          <a:xfrm>
            <a:off x="9217152" y="1783080"/>
            <a:ext cx="2057400" cy="4206240"/>
          </a:xfrm>
          <a:prstGeom prst="roundRect">
            <a:avLst>
              <a:gd name="adj" fmla="val 3556"/>
            </a:avLst>
          </a:prstGeom>
          <a:solidFill>
            <a:schemeClr val="bg2"/>
          </a:solidFill>
          <a:ln/>
        </p:spPr>
      </p:sp>
      <p:sp>
        <p:nvSpPr>
          <p:cNvPr id="21" name="Text 18"/>
          <p:cNvSpPr txBox="1"/>
          <p:nvPr/>
        </p:nvSpPr>
        <p:spPr>
          <a:xfrm>
            <a:off x="9400032" y="1947672"/>
            <a:ext cx="1691640" cy="320040"/>
          </a:xfrm>
          <a:prstGeom prst="rect">
            <a:avLst/>
          </a:prstGeom>
          <a:noFill/>
          <a:ln/>
        </p:spPr>
        <p:txBody>
          <a:bodyPr wrap="square" lIns="0" tIns="0" rIns="0" bIns="0" rtlCol="0" anchor="t"/>
          <a:lstStyle/>
          <a:p>
            <a:pPr indent="0" marL="0">
              <a:buNone/>
            </a:pPr>
            <a:r>
              <a:rPr lang="en-US" sz="1400" b="1" dirty="0">
                <a:solidFill>
                  <a:schemeClr val="tx2"/>
                </a:solidFill>
              </a:rPr>
              <a:t>Level 5</a:t>
            </a:r>
            <a:endParaRPr lang="en-US" sz="1400" dirty="0"/>
          </a:p>
        </p:txBody>
      </p:sp>
      <p:sp>
        <p:nvSpPr>
          <p:cNvPr id="22" name="Text 19"/>
          <p:cNvSpPr txBox="1"/>
          <p:nvPr/>
        </p:nvSpPr>
        <p:spPr>
          <a:xfrm>
            <a:off x="9400032" y="2240280"/>
            <a:ext cx="1691640" cy="411480"/>
          </a:xfrm>
          <a:prstGeom prst="rect">
            <a:avLst/>
          </a:prstGeom>
          <a:noFill/>
          <a:ln/>
        </p:spPr>
        <p:txBody>
          <a:bodyPr wrap="square" lIns="0" tIns="0" rIns="0" bIns="0" rtlCol="0" anchor="t"/>
          <a:lstStyle/>
          <a:p>
            <a:pPr indent="0" marL="0">
              <a:buNone/>
            </a:pPr>
            <a:r>
              <a:rPr lang="en-US" sz="2200" b="1" dirty="0">
                <a:solidFill>
                  <a:schemeClr val="tx2"/>
                </a:solidFill>
              </a:rPr>
              <a:t>Optimization</a:t>
            </a:r>
            <a:endParaRPr lang="en-US" sz="2200" dirty="0"/>
          </a:p>
        </p:txBody>
      </p:sp>
      <p:sp>
        <p:nvSpPr>
          <p:cNvPr id="23" name="Text 20"/>
          <p:cNvSpPr txBox="1"/>
          <p:nvPr/>
        </p:nvSpPr>
        <p:spPr>
          <a:xfrm>
            <a:off x="9400032" y="2697480"/>
            <a:ext cx="1691640" cy="3200400"/>
          </a:xfrm>
          <a:prstGeom prst="rect">
            <a:avLst/>
          </a:prstGeom>
          <a:noFill/>
          <a:ln/>
        </p:spPr>
        <p:txBody>
          <a:bodyPr wrap="square" lIns="0" tIns="0" rIns="0" bIns="0" rtlCol="0" anchor="t"/>
          <a:lstStyle/>
          <a:p>
            <a:pPr indent="0" marL="0">
              <a:buNone/>
            </a:pPr>
            <a:r>
              <a:rPr lang="en-US" sz="1300" dirty="0">
                <a:solidFill>
                  <a:schemeClr val="tx1"/>
                </a:solidFill>
              </a:rPr>
              <a:t>Defect prevention, quality control and continuous improvement</a:t>
            </a:r>
            <a:endParaRPr lang="en-US" sz="1300" dirty="0"/>
          </a:p>
        </p:txBody>
      </p:sp>
      <p:sp>
        <p:nvSpPr>
          <p:cNvPr id="24" name="Focus tag"/>
          <p:cNvSpPr/>
          <p:nvPr/>
        </p:nvSpPr>
        <p:spPr>
          <a:xfrm>
            <a:off x="548640" y="1325880"/>
            <a:ext cx="4160520" cy="502920"/>
          </a:xfrm>
          <a:prstGeom prst="roundRect">
            <a:avLst>
              <a:gd name="adj" fmla="val 14545"/>
            </a:avLst>
          </a:prstGeom>
          <a:solidFill>
            <a:schemeClr val="accent3"/>
          </a:solidFill>
          <a:ln/>
        </p:spPr>
      </p:sp>
      <p:sp>
        <p:nvSpPr>
          <p:cNvPr id="25" name="Text 22"/>
          <p:cNvSpPr txBox="1"/>
          <p:nvPr/>
        </p:nvSpPr>
        <p:spPr>
          <a:xfrm>
            <a:off x="731520" y="1325880"/>
            <a:ext cx="3931920" cy="502920"/>
          </a:xfrm>
          <a:prstGeom prst="rect">
            <a:avLst/>
          </a:prstGeom>
          <a:noFill/>
          <a:ln/>
        </p:spPr>
        <p:txBody>
          <a:bodyPr wrap="square" lIns="0" tIns="0" rIns="0" bIns="0" rtlCol="0" anchor="ctr"/>
          <a:lstStyle/>
          <a:p>
            <a:pPr indent="0" marL="0">
              <a:buNone/>
            </a:pPr>
            <a:r>
              <a:rPr lang="en-US" sz="1600" b="1" dirty="0">
                <a:solidFill>
                  <a:schemeClr val="tx2"/>
                </a:solidFill>
              </a:rPr>
              <a:t>Our focus now: Level 2 → Level 3</a:t>
            </a:r>
            <a:endParaRPr lang="en-US" sz="16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Level 2 and Level 3 process areas</a:t>
            </a:r>
            <a:endParaRPr lang="en-US" sz="3400" dirty="0"/>
          </a:p>
        </p:txBody>
      </p:sp>
      <p:sp>
        <p:nvSpPr>
          <p:cNvPr id="4" name="Level 2 · Managed header"/>
          <p:cNvSpPr/>
          <p:nvPr/>
        </p:nvSpPr>
        <p:spPr>
          <a:xfrm>
            <a:off x="548640" y="1325880"/>
            <a:ext cx="5364328" cy="868680"/>
          </a:xfrm>
          <a:prstGeom prst="roundRect">
            <a:avLst>
              <a:gd name="adj" fmla="val 8421"/>
            </a:avLst>
          </a:prstGeom>
          <a:solidFill>
            <a:schemeClr val="accent1"/>
          </a:solidFill>
          <a:ln/>
        </p:spPr>
      </p:sp>
      <p:sp>
        <p:nvSpPr>
          <p:cNvPr id="5" name="Text 2"/>
          <p:cNvSpPr txBox="1"/>
          <p:nvPr/>
        </p:nvSpPr>
        <p:spPr>
          <a:xfrm>
            <a:off x="822960" y="1435608"/>
            <a:ext cx="4815688" cy="411480"/>
          </a:xfrm>
          <a:prstGeom prst="rect">
            <a:avLst/>
          </a:prstGeom>
          <a:noFill/>
          <a:ln/>
        </p:spPr>
        <p:txBody>
          <a:bodyPr wrap="square" lIns="0" tIns="0" rIns="0" bIns="0" rtlCol="0" anchor="t"/>
          <a:lstStyle/>
          <a:p>
            <a:pPr indent="0" marL="0">
              <a:buNone/>
            </a:pPr>
            <a:r>
              <a:rPr lang="en-US" sz="2200" b="1" dirty="0">
                <a:solidFill>
                  <a:schemeClr val="bg1"/>
                </a:solidFill>
              </a:rPr>
              <a:t>Level 2 · Managed</a:t>
            </a:r>
            <a:endParaRPr lang="en-US" sz="2200" dirty="0"/>
          </a:p>
        </p:txBody>
      </p:sp>
      <p:sp>
        <p:nvSpPr>
          <p:cNvPr id="6" name="Text 3"/>
          <p:cNvSpPr txBox="1"/>
          <p:nvPr/>
        </p:nvSpPr>
        <p:spPr>
          <a:xfrm>
            <a:off x="822960" y="1828800"/>
            <a:ext cx="4815688" cy="274320"/>
          </a:xfrm>
          <a:prstGeom prst="rect">
            <a:avLst/>
          </a:prstGeom>
          <a:noFill/>
          <a:ln/>
        </p:spPr>
        <p:txBody>
          <a:bodyPr wrap="square" lIns="0" tIns="0" rIns="0" bIns="0" rtlCol="0" anchor="t"/>
          <a:lstStyle/>
          <a:p>
            <a:pPr indent="0" marL="0">
              <a:buNone/>
            </a:pPr>
            <a:r>
              <a:rPr lang="en-US" sz="1400" dirty="0">
                <a:solidFill>
                  <a:schemeClr val="accent3"/>
                </a:solidFill>
              </a:rPr>
              <a:t>Discipline on every project</a:t>
            </a:r>
            <a:endParaRPr lang="en-US" sz="1400" dirty="0"/>
          </a:p>
        </p:txBody>
      </p:sp>
      <p:sp>
        <p:nvSpPr>
          <p:cNvPr id="7" name="Level 2 · Managed 2.1"/>
          <p:cNvSpPr/>
          <p:nvPr/>
        </p:nvSpPr>
        <p:spPr>
          <a:xfrm>
            <a:off x="548640" y="2377440"/>
            <a:ext cx="5364328" cy="621792"/>
          </a:xfrm>
          <a:prstGeom prst="roundRect">
            <a:avLst>
              <a:gd name="adj" fmla="val 11765"/>
            </a:avLst>
          </a:prstGeom>
          <a:solidFill>
            <a:schemeClr val="bg2"/>
          </a:solidFill>
          <a:ln/>
        </p:spPr>
      </p:sp>
      <p:sp>
        <p:nvSpPr>
          <p:cNvPr id="8" name="Shape 5"/>
          <p:cNvSpPr/>
          <p:nvPr/>
        </p:nvSpPr>
        <p:spPr>
          <a:xfrm>
            <a:off x="731520" y="2505456"/>
            <a:ext cx="685800" cy="365760"/>
          </a:xfrm>
          <a:prstGeom prst="roundRect">
            <a:avLst>
              <a:gd name="adj" fmla="val 15000"/>
            </a:avLst>
          </a:prstGeom>
          <a:solidFill>
            <a:schemeClr val="accent1"/>
          </a:solidFill>
          <a:ln/>
        </p:spPr>
      </p:sp>
      <p:sp>
        <p:nvSpPr>
          <p:cNvPr id="9" name="Text 6"/>
          <p:cNvSpPr txBox="1"/>
          <p:nvPr/>
        </p:nvSpPr>
        <p:spPr>
          <a:xfrm>
            <a:off x="731520" y="2505456"/>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2.1</a:t>
            </a:r>
            <a:endParaRPr lang="en-US" sz="1500" dirty="0"/>
          </a:p>
        </p:txBody>
      </p:sp>
      <p:sp>
        <p:nvSpPr>
          <p:cNvPr id="10" name="Text 7"/>
          <p:cNvSpPr txBox="1"/>
          <p:nvPr/>
        </p:nvSpPr>
        <p:spPr>
          <a:xfrm>
            <a:off x="1600200" y="2468880"/>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Policy and Strategy</a:t>
            </a:r>
            <a:endParaRPr lang="en-US" sz="1700" dirty="0"/>
          </a:p>
        </p:txBody>
      </p:sp>
      <p:sp>
        <p:nvSpPr>
          <p:cNvPr id="11" name="Level 2 · Managed 2.2"/>
          <p:cNvSpPr/>
          <p:nvPr/>
        </p:nvSpPr>
        <p:spPr>
          <a:xfrm>
            <a:off x="548640" y="3127248"/>
            <a:ext cx="5364328" cy="621792"/>
          </a:xfrm>
          <a:prstGeom prst="roundRect">
            <a:avLst>
              <a:gd name="adj" fmla="val 11765"/>
            </a:avLst>
          </a:prstGeom>
          <a:solidFill>
            <a:schemeClr val="bg2"/>
          </a:solidFill>
          <a:ln/>
        </p:spPr>
      </p:sp>
      <p:sp>
        <p:nvSpPr>
          <p:cNvPr id="12" name="Shape 9"/>
          <p:cNvSpPr/>
          <p:nvPr/>
        </p:nvSpPr>
        <p:spPr>
          <a:xfrm>
            <a:off x="731520" y="3255264"/>
            <a:ext cx="685800" cy="365760"/>
          </a:xfrm>
          <a:prstGeom prst="roundRect">
            <a:avLst>
              <a:gd name="adj" fmla="val 15000"/>
            </a:avLst>
          </a:prstGeom>
          <a:solidFill>
            <a:schemeClr val="accent1"/>
          </a:solidFill>
          <a:ln/>
        </p:spPr>
      </p:sp>
      <p:sp>
        <p:nvSpPr>
          <p:cNvPr id="13" name="Text 10"/>
          <p:cNvSpPr txBox="1"/>
          <p:nvPr/>
        </p:nvSpPr>
        <p:spPr>
          <a:xfrm>
            <a:off x="731520" y="3255264"/>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2.2</a:t>
            </a:r>
            <a:endParaRPr lang="en-US" sz="1500" dirty="0"/>
          </a:p>
        </p:txBody>
      </p:sp>
      <p:sp>
        <p:nvSpPr>
          <p:cNvPr id="14" name="Text 11"/>
          <p:cNvSpPr txBox="1"/>
          <p:nvPr/>
        </p:nvSpPr>
        <p:spPr>
          <a:xfrm>
            <a:off x="1600200" y="3218688"/>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Planning</a:t>
            </a:r>
            <a:endParaRPr lang="en-US" sz="1700" dirty="0"/>
          </a:p>
        </p:txBody>
      </p:sp>
      <p:sp>
        <p:nvSpPr>
          <p:cNvPr id="15" name="Level 2 · Managed 2.3"/>
          <p:cNvSpPr/>
          <p:nvPr/>
        </p:nvSpPr>
        <p:spPr>
          <a:xfrm>
            <a:off x="548640" y="3877056"/>
            <a:ext cx="5364328" cy="621792"/>
          </a:xfrm>
          <a:prstGeom prst="roundRect">
            <a:avLst>
              <a:gd name="adj" fmla="val 11765"/>
            </a:avLst>
          </a:prstGeom>
          <a:solidFill>
            <a:schemeClr val="bg2"/>
          </a:solidFill>
          <a:ln/>
        </p:spPr>
      </p:sp>
      <p:sp>
        <p:nvSpPr>
          <p:cNvPr id="16" name="Shape 13"/>
          <p:cNvSpPr/>
          <p:nvPr/>
        </p:nvSpPr>
        <p:spPr>
          <a:xfrm>
            <a:off x="731520" y="4005072"/>
            <a:ext cx="685800" cy="365760"/>
          </a:xfrm>
          <a:prstGeom prst="roundRect">
            <a:avLst>
              <a:gd name="adj" fmla="val 15000"/>
            </a:avLst>
          </a:prstGeom>
          <a:solidFill>
            <a:schemeClr val="accent1"/>
          </a:solidFill>
          <a:ln/>
        </p:spPr>
      </p:sp>
      <p:sp>
        <p:nvSpPr>
          <p:cNvPr id="17" name="Text 14"/>
          <p:cNvSpPr txBox="1"/>
          <p:nvPr/>
        </p:nvSpPr>
        <p:spPr>
          <a:xfrm>
            <a:off x="731520" y="4005072"/>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2.3</a:t>
            </a:r>
            <a:endParaRPr lang="en-US" sz="1500" dirty="0"/>
          </a:p>
        </p:txBody>
      </p:sp>
      <p:sp>
        <p:nvSpPr>
          <p:cNvPr id="18" name="Text 15"/>
          <p:cNvSpPr txBox="1"/>
          <p:nvPr/>
        </p:nvSpPr>
        <p:spPr>
          <a:xfrm>
            <a:off x="1600200" y="3968496"/>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Monitoring and Control</a:t>
            </a:r>
            <a:endParaRPr lang="en-US" sz="1700" dirty="0"/>
          </a:p>
        </p:txBody>
      </p:sp>
      <p:sp>
        <p:nvSpPr>
          <p:cNvPr id="19" name="Level 2 · Managed 2.4"/>
          <p:cNvSpPr/>
          <p:nvPr/>
        </p:nvSpPr>
        <p:spPr>
          <a:xfrm>
            <a:off x="548640" y="4626864"/>
            <a:ext cx="5364328" cy="621792"/>
          </a:xfrm>
          <a:prstGeom prst="roundRect">
            <a:avLst>
              <a:gd name="adj" fmla="val 11765"/>
            </a:avLst>
          </a:prstGeom>
          <a:solidFill>
            <a:schemeClr val="bg2"/>
          </a:solidFill>
          <a:ln/>
        </p:spPr>
      </p:sp>
      <p:sp>
        <p:nvSpPr>
          <p:cNvPr id="20" name="Shape 17"/>
          <p:cNvSpPr/>
          <p:nvPr/>
        </p:nvSpPr>
        <p:spPr>
          <a:xfrm>
            <a:off x="731520" y="4754880"/>
            <a:ext cx="685800" cy="365760"/>
          </a:xfrm>
          <a:prstGeom prst="roundRect">
            <a:avLst>
              <a:gd name="adj" fmla="val 15000"/>
            </a:avLst>
          </a:prstGeom>
          <a:solidFill>
            <a:schemeClr val="accent1"/>
          </a:solidFill>
          <a:ln/>
        </p:spPr>
      </p:sp>
      <p:sp>
        <p:nvSpPr>
          <p:cNvPr id="21" name="Text 18"/>
          <p:cNvSpPr txBox="1"/>
          <p:nvPr/>
        </p:nvSpPr>
        <p:spPr>
          <a:xfrm>
            <a:off x="731520" y="4754880"/>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2.4</a:t>
            </a:r>
            <a:endParaRPr lang="en-US" sz="1500" dirty="0"/>
          </a:p>
        </p:txBody>
      </p:sp>
      <p:sp>
        <p:nvSpPr>
          <p:cNvPr id="22" name="Text 19"/>
          <p:cNvSpPr txBox="1"/>
          <p:nvPr/>
        </p:nvSpPr>
        <p:spPr>
          <a:xfrm>
            <a:off x="1600200" y="4718304"/>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Design and Execution</a:t>
            </a:r>
            <a:endParaRPr lang="en-US" sz="1700" dirty="0"/>
          </a:p>
        </p:txBody>
      </p:sp>
      <p:sp>
        <p:nvSpPr>
          <p:cNvPr id="23" name="Level 2 · Managed 2.5"/>
          <p:cNvSpPr/>
          <p:nvPr/>
        </p:nvSpPr>
        <p:spPr>
          <a:xfrm>
            <a:off x="548640" y="5376672"/>
            <a:ext cx="5364328" cy="621792"/>
          </a:xfrm>
          <a:prstGeom prst="roundRect">
            <a:avLst>
              <a:gd name="adj" fmla="val 11765"/>
            </a:avLst>
          </a:prstGeom>
          <a:solidFill>
            <a:schemeClr val="bg2"/>
          </a:solidFill>
          <a:ln/>
        </p:spPr>
      </p:sp>
      <p:sp>
        <p:nvSpPr>
          <p:cNvPr id="24" name="Shape 21"/>
          <p:cNvSpPr/>
          <p:nvPr/>
        </p:nvSpPr>
        <p:spPr>
          <a:xfrm>
            <a:off x="731520" y="5504688"/>
            <a:ext cx="685800" cy="365760"/>
          </a:xfrm>
          <a:prstGeom prst="roundRect">
            <a:avLst>
              <a:gd name="adj" fmla="val 15000"/>
            </a:avLst>
          </a:prstGeom>
          <a:solidFill>
            <a:schemeClr val="accent1"/>
          </a:solidFill>
          <a:ln/>
        </p:spPr>
      </p:sp>
      <p:sp>
        <p:nvSpPr>
          <p:cNvPr id="25" name="Text 22"/>
          <p:cNvSpPr txBox="1"/>
          <p:nvPr/>
        </p:nvSpPr>
        <p:spPr>
          <a:xfrm>
            <a:off x="731520" y="5504688"/>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2.5</a:t>
            </a:r>
            <a:endParaRPr lang="en-US" sz="1500" dirty="0"/>
          </a:p>
        </p:txBody>
      </p:sp>
      <p:sp>
        <p:nvSpPr>
          <p:cNvPr id="26" name="Text 23"/>
          <p:cNvSpPr txBox="1"/>
          <p:nvPr/>
        </p:nvSpPr>
        <p:spPr>
          <a:xfrm>
            <a:off x="1600200" y="5468112"/>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Environment</a:t>
            </a:r>
            <a:endParaRPr lang="en-US" sz="1700" dirty="0"/>
          </a:p>
        </p:txBody>
      </p:sp>
      <p:sp>
        <p:nvSpPr>
          <p:cNvPr id="27" name="Level 3 · Defined header"/>
          <p:cNvSpPr/>
          <p:nvPr/>
        </p:nvSpPr>
        <p:spPr>
          <a:xfrm>
            <a:off x="6278728" y="1325880"/>
            <a:ext cx="5364328" cy="868680"/>
          </a:xfrm>
          <a:prstGeom prst="roundRect">
            <a:avLst>
              <a:gd name="adj" fmla="val 8421"/>
            </a:avLst>
          </a:prstGeom>
          <a:solidFill>
            <a:schemeClr val="tx2"/>
          </a:solidFill>
          <a:ln/>
        </p:spPr>
      </p:sp>
      <p:sp>
        <p:nvSpPr>
          <p:cNvPr id="28" name="Text 25"/>
          <p:cNvSpPr txBox="1"/>
          <p:nvPr/>
        </p:nvSpPr>
        <p:spPr>
          <a:xfrm>
            <a:off x="6553048" y="1435608"/>
            <a:ext cx="4815688" cy="411480"/>
          </a:xfrm>
          <a:prstGeom prst="rect">
            <a:avLst/>
          </a:prstGeom>
          <a:noFill/>
          <a:ln/>
        </p:spPr>
        <p:txBody>
          <a:bodyPr wrap="square" lIns="0" tIns="0" rIns="0" bIns="0" rtlCol="0" anchor="t"/>
          <a:lstStyle/>
          <a:p>
            <a:pPr indent="0" marL="0">
              <a:buNone/>
            </a:pPr>
            <a:r>
              <a:rPr lang="en-US" sz="2200" b="1" dirty="0">
                <a:solidFill>
                  <a:schemeClr val="bg1"/>
                </a:solidFill>
              </a:rPr>
              <a:t>Level 3 · Defined</a:t>
            </a:r>
            <a:endParaRPr lang="en-US" sz="2200" dirty="0"/>
          </a:p>
        </p:txBody>
      </p:sp>
      <p:sp>
        <p:nvSpPr>
          <p:cNvPr id="29" name="Text 26"/>
          <p:cNvSpPr txBox="1"/>
          <p:nvPr/>
        </p:nvSpPr>
        <p:spPr>
          <a:xfrm>
            <a:off x="6553048" y="1828800"/>
            <a:ext cx="4815688" cy="274320"/>
          </a:xfrm>
          <a:prstGeom prst="rect">
            <a:avLst/>
          </a:prstGeom>
          <a:noFill/>
          <a:ln/>
        </p:spPr>
        <p:txBody>
          <a:bodyPr wrap="square" lIns="0" tIns="0" rIns="0" bIns="0" rtlCol="0" anchor="t"/>
          <a:lstStyle/>
          <a:p>
            <a:pPr indent="0" marL="0">
              <a:buNone/>
            </a:pPr>
            <a:r>
              <a:rPr lang="en-US" sz="1400" dirty="0">
                <a:solidFill>
                  <a:schemeClr val="accent3"/>
                </a:solidFill>
              </a:rPr>
              <a:t>One standard process for the organisation</a:t>
            </a:r>
            <a:endParaRPr lang="en-US" sz="1400" dirty="0"/>
          </a:p>
        </p:txBody>
      </p:sp>
      <p:sp>
        <p:nvSpPr>
          <p:cNvPr id="30" name="Level 3 · Defined 3.1"/>
          <p:cNvSpPr/>
          <p:nvPr/>
        </p:nvSpPr>
        <p:spPr>
          <a:xfrm>
            <a:off x="6278728" y="2377440"/>
            <a:ext cx="5364328" cy="621792"/>
          </a:xfrm>
          <a:prstGeom prst="roundRect">
            <a:avLst>
              <a:gd name="adj" fmla="val 11765"/>
            </a:avLst>
          </a:prstGeom>
          <a:solidFill>
            <a:schemeClr val="bg2"/>
          </a:solidFill>
          <a:ln/>
        </p:spPr>
      </p:sp>
      <p:sp>
        <p:nvSpPr>
          <p:cNvPr id="31" name="Shape 28"/>
          <p:cNvSpPr/>
          <p:nvPr/>
        </p:nvSpPr>
        <p:spPr>
          <a:xfrm>
            <a:off x="6461608" y="2505456"/>
            <a:ext cx="685800" cy="365760"/>
          </a:xfrm>
          <a:prstGeom prst="roundRect">
            <a:avLst>
              <a:gd name="adj" fmla="val 15000"/>
            </a:avLst>
          </a:prstGeom>
          <a:solidFill>
            <a:schemeClr val="tx2"/>
          </a:solidFill>
          <a:ln/>
        </p:spPr>
      </p:sp>
      <p:sp>
        <p:nvSpPr>
          <p:cNvPr id="32" name="Text 29"/>
          <p:cNvSpPr txBox="1"/>
          <p:nvPr/>
        </p:nvSpPr>
        <p:spPr>
          <a:xfrm>
            <a:off x="6461608" y="2505456"/>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3.1</a:t>
            </a:r>
            <a:endParaRPr lang="en-US" sz="1500" dirty="0"/>
          </a:p>
        </p:txBody>
      </p:sp>
      <p:sp>
        <p:nvSpPr>
          <p:cNvPr id="33" name="Text 30"/>
          <p:cNvSpPr txBox="1"/>
          <p:nvPr/>
        </p:nvSpPr>
        <p:spPr>
          <a:xfrm>
            <a:off x="7330288" y="2468880"/>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Organization</a:t>
            </a:r>
            <a:endParaRPr lang="en-US" sz="1700" dirty="0"/>
          </a:p>
        </p:txBody>
      </p:sp>
      <p:sp>
        <p:nvSpPr>
          <p:cNvPr id="34" name="Level 3 · Defined 3.2"/>
          <p:cNvSpPr/>
          <p:nvPr/>
        </p:nvSpPr>
        <p:spPr>
          <a:xfrm>
            <a:off x="6278728" y="3127248"/>
            <a:ext cx="5364328" cy="621792"/>
          </a:xfrm>
          <a:prstGeom prst="roundRect">
            <a:avLst>
              <a:gd name="adj" fmla="val 11765"/>
            </a:avLst>
          </a:prstGeom>
          <a:solidFill>
            <a:schemeClr val="bg2"/>
          </a:solidFill>
          <a:ln/>
        </p:spPr>
      </p:sp>
      <p:sp>
        <p:nvSpPr>
          <p:cNvPr id="35" name="Shape 32"/>
          <p:cNvSpPr/>
          <p:nvPr/>
        </p:nvSpPr>
        <p:spPr>
          <a:xfrm>
            <a:off x="6461608" y="3255264"/>
            <a:ext cx="685800" cy="365760"/>
          </a:xfrm>
          <a:prstGeom prst="roundRect">
            <a:avLst>
              <a:gd name="adj" fmla="val 15000"/>
            </a:avLst>
          </a:prstGeom>
          <a:solidFill>
            <a:schemeClr val="tx2"/>
          </a:solidFill>
          <a:ln/>
        </p:spPr>
      </p:sp>
      <p:sp>
        <p:nvSpPr>
          <p:cNvPr id="36" name="Text 33"/>
          <p:cNvSpPr txBox="1"/>
          <p:nvPr/>
        </p:nvSpPr>
        <p:spPr>
          <a:xfrm>
            <a:off x="6461608" y="3255264"/>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3.2</a:t>
            </a:r>
            <a:endParaRPr lang="en-US" sz="1500" dirty="0"/>
          </a:p>
        </p:txBody>
      </p:sp>
      <p:sp>
        <p:nvSpPr>
          <p:cNvPr id="37" name="Text 34"/>
          <p:cNvSpPr txBox="1"/>
          <p:nvPr/>
        </p:nvSpPr>
        <p:spPr>
          <a:xfrm>
            <a:off x="7330288" y="3218688"/>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Training Program</a:t>
            </a:r>
            <a:endParaRPr lang="en-US" sz="1700" dirty="0"/>
          </a:p>
        </p:txBody>
      </p:sp>
      <p:sp>
        <p:nvSpPr>
          <p:cNvPr id="38" name="Level 3 · Defined 3.3"/>
          <p:cNvSpPr/>
          <p:nvPr/>
        </p:nvSpPr>
        <p:spPr>
          <a:xfrm>
            <a:off x="6278728" y="3877056"/>
            <a:ext cx="5364328" cy="621792"/>
          </a:xfrm>
          <a:prstGeom prst="roundRect">
            <a:avLst>
              <a:gd name="adj" fmla="val 11765"/>
            </a:avLst>
          </a:prstGeom>
          <a:solidFill>
            <a:schemeClr val="bg2"/>
          </a:solidFill>
          <a:ln/>
        </p:spPr>
      </p:sp>
      <p:sp>
        <p:nvSpPr>
          <p:cNvPr id="39" name="Shape 36"/>
          <p:cNvSpPr/>
          <p:nvPr/>
        </p:nvSpPr>
        <p:spPr>
          <a:xfrm>
            <a:off x="6461608" y="4005072"/>
            <a:ext cx="685800" cy="365760"/>
          </a:xfrm>
          <a:prstGeom prst="roundRect">
            <a:avLst>
              <a:gd name="adj" fmla="val 15000"/>
            </a:avLst>
          </a:prstGeom>
          <a:solidFill>
            <a:schemeClr val="tx2"/>
          </a:solidFill>
          <a:ln/>
        </p:spPr>
      </p:sp>
      <p:sp>
        <p:nvSpPr>
          <p:cNvPr id="40" name="Text 37"/>
          <p:cNvSpPr txBox="1"/>
          <p:nvPr/>
        </p:nvSpPr>
        <p:spPr>
          <a:xfrm>
            <a:off x="6461608" y="4005072"/>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3.3</a:t>
            </a:r>
            <a:endParaRPr lang="en-US" sz="1500" dirty="0"/>
          </a:p>
        </p:txBody>
      </p:sp>
      <p:sp>
        <p:nvSpPr>
          <p:cNvPr id="41" name="Text 38"/>
          <p:cNvSpPr txBox="1"/>
          <p:nvPr/>
        </p:nvSpPr>
        <p:spPr>
          <a:xfrm>
            <a:off x="7330288" y="3968496"/>
            <a:ext cx="4175608" cy="438912"/>
          </a:xfrm>
          <a:prstGeom prst="rect">
            <a:avLst/>
          </a:prstGeom>
          <a:noFill/>
          <a:ln/>
        </p:spPr>
        <p:txBody>
          <a:bodyPr wrap="square" lIns="0" tIns="0" rIns="0" bIns="0" rtlCol="0" anchor="ctr"/>
          <a:lstStyle/>
          <a:p>
            <a:pPr indent="0" marL="0">
              <a:buNone/>
            </a:pPr>
            <a:r>
              <a:rPr lang="en-US" sz="1700" dirty="0">
                <a:solidFill>
                  <a:schemeClr val="tx1"/>
                </a:solidFill>
              </a:rPr>
              <a:t>Test Lifecycle and Integration</a:t>
            </a:r>
            <a:endParaRPr lang="en-US" sz="1700" dirty="0"/>
          </a:p>
        </p:txBody>
      </p:sp>
      <p:sp>
        <p:nvSpPr>
          <p:cNvPr id="42" name="Level 3 · Defined 3.4"/>
          <p:cNvSpPr/>
          <p:nvPr/>
        </p:nvSpPr>
        <p:spPr>
          <a:xfrm>
            <a:off x="6278728" y="4626864"/>
            <a:ext cx="5364328" cy="621792"/>
          </a:xfrm>
          <a:prstGeom prst="roundRect">
            <a:avLst>
              <a:gd name="adj" fmla="val 11765"/>
            </a:avLst>
          </a:prstGeom>
          <a:solidFill>
            <a:schemeClr val="bg2"/>
          </a:solidFill>
          <a:ln/>
        </p:spPr>
      </p:sp>
      <p:sp>
        <p:nvSpPr>
          <p:cNvPr id="43" name="Shape 40"/>
          <p:cNvSpPr/>
          <p:nvPr/>
        </p:nvSpPr>
        <p:spPr>
          <a:xfrm>
            <a:off x="6461608" y="4754880"/>
            <a:ext cx="685800" cy="365760"/>
          </a:xfrm>
          <a:prstGeom prst="roundRect">
            <a:avLst>
              <a:gd name="adj" fmla="val 15000"/>
            </a:avLst>
          </a:prstGeom>
          <a:solidFill>
            <a:schemeClr val="tx2"/>
          </a:solidFill>
          <a:ln/>
        </p:spPr>
      </p:sp>
      <p:sp>
        <p:nvSpPr>
          <p:cNvPr id="44" name="Text 41"/>
          <p:cNvSpPr txBox="1"/>
          <p:nvPr/>
        </p:nvSpPr>
        <p:spPr>
          <a:xfrm>
            <a:off x="6461608" y="4754880"/>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3.4</a:t>
            </a:r>
            <a:endParaRPr lang="en-US" sz="1500" dirty="0"/>
          </a:p>
        </p:txBody>
      </p:sp>
      <p:sp>
        <p:nvSpPr>
          <p:cNvPr id="45" name="Text 42"/>
          <p:cNvSpPr txBox="1"/>
          <p:nvPr/>
        </p:nvSpPr>
        <p:spPr>
          <a:xfrm>
            <a:off x="7330288" y="4718304"/>
            <a:ext cx="4175608" cy="438912"/>
          </a:xfrm>
          <a:prstGeom prst="rect">
            <a:avLst/>
          </a:prstGeom>
          <a:noFill/>
          <a:ln/>
        </p:spPr>
        <p:txBody>
          <a:bodyPr wrap="square" lIns="0" tIns="0" rIns="0" bIns="0" rtlCol="0" anchor="ctr"/>
          <a:lstStyle/>
          <a:p>
            <a:pPr indent="0" marL="0">
              <a:buNone/>
            </a:pPr>
            <a:r>
              <a:rPr lang="en-US" sz="1700" dirty="0">
                <a:solidFill>
                  <a:schemeClr val="tx1"/>
                </a:solidFill>
              </a:rPr>
              <a:t>Non-functional Testing</a:t>
            </a:r>
            <a:endParaRPr lang="en-US" sz="1700" dirty="0"/>
          </a:p>
        </p:txBody>
      </p:sp>
      <p:sp>
        <p:nvSpPr>
          <p:cNvPr id="46" name="Level 3 · Defined 3.5"/>
          <p:cNvSpPr/>
          <p:nvPr/>
        </p:nvSpPr>
        <p:spPr>
          <a:xfrm>
            <a:off x="6278728" y="5376672"/>
            <a:ext cx="5364328" cy="621792"/>
          </a:xfrm>
          <a:prstGeom prst="roundRect">
            <a:avLst>
              <a:gd name="adj" fmla="val 11765"/>
            </a:avLst>
          </a:prstGeom>
          <a:solidFill>
            <a:schemeClr val="bg2"/>
          </a:solidFill>
          <a:ln/>
        </p:spPr>
      </p:sp>
      <p:sp>
        <p:nvSpPr>
          <p:cNvPr id="47" name="Shape 44"/>
          <p:cNvSpPr/>
          <p:nvPr/>
        </p:nvSpPr>
        <p:spPr>
          <a:xfrm>
            <a:off x="6461608" y="5504688"/>
            <a:ext cx="685800" cy="365760"/>
          </a:xfrm>
          <a:prstGeom prst="roundRect">
            <a:avLst>
              <a:gd name="adj" fmla="val 15000"/>
            </a:avLst>
          </a:prstGeom>
          <a:solidFill>
            <a:schemeClr val="tx2"/>
          </a:solidFill>
          <a:ln/>
        </p:spPr>
      </p:sp>
      <p:sp>
        <p:nvSpPr>
          <p:cNvPr id="48" name="Text 45"/>
          <p:cNvSpPr txBox="1"/>
          <p:nvPr/>
        </p:nvSpPr>
        <p:spPr>
          <a:xfrm>
            <a:off x="6461608" y="5504688"/>
            <a:ext cx="685800" cy="365760"/>
          </a:xfrm>
          <a:prstGeom prst="rect">
            <a:avLst/>
          </a:prstGeom>
          <a:noFill/>
          <a:ln/>
        </p:spPr>
        <p:txBody>
          <a:bodyPr wrap="square" lIns="0" tIns="0" rIns="0" bIns="0" rtlCol="0" anchor="ctr"/>
          <a:lstStyle/>
          <a:p>
            <a:pPr algn="ctr" indent="0" marL="0">
              <a:buNone/>
            </a:pPr>
            <a:r>
              <a:rPr lang="en-US" sz="1500" b="1" dirty="0">
                <a:solidFill>
                  <a:schemeClr val="bg1"/>
                </a:solidFill>
              </a:rPr>
              <a:t>3.5</a:t>
            </a:r>
            <a:endParaRPr lang="en-US" sz="1500" dirty="0"/>
          </a:p>
        </p:txBody>
      </p:sp>
      <p:sp>
        <p:nvSpPr>
          <p:cNvPr id="49" name="Text 46"/>
          <p:cNvSpPr txBox="1"/>
          <p:nvPr/>
        </p:nvSpPr>
        <p:spPr>
          <a:xfrm>
            <a:off x="7330288" y="5468112"/>
            <a:ext cx="4175608" cy="438912"/>
          </a:xfrm>
          <a:prstGeom prst="rect">
            <a:avLst/>
          </a:prstGeom>
          <a:noFill/>
          <a:ln/>
        </p:spPr>
        <p:txBody>
          <a:bodyPr wrap="square" lIns="0" tIns="0" rIns="0" bIns="0" rtlCol="0" anchor="ctr"/>
          <a:lstStyle/>
          <a:p>
            <a:pPr indent="0" marL="0">
              <a:buNone/>
            </a:pPr>
            <a:r>
              <a:rPr lang="en-US" sz="1700" dirty="0">
                <a:solidFill>
                  <a:schemeClr val="tx1"/>
                </a:solidFill>
              </a:rPr>
              <a:t>Peer Reviews</a:t>
            </a:r>
            <a:endParaRPr lang="en-US" sz="17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Our Testing &amp; Quality framework</a:t>
            </a:r>
            <a:endParaRPr lang="en-US" sz="3400" dirty="0"/>
          </a:p>
        </p:txBody>
      </p:sp>
      <p:sp>
        <p:nvSpPr>
          <p:cNvPr id="4" name="Area A"/>
          <p:cNvSpPr/>
          <p:nvPr/>
        </p:nvSpPr>
        <p:spPr>
          <a:xfrm>
            <a:off x="548640" y="1325880"/>
            <a:ext cx="3515258" cy="2240280"/>
          </a:xfrm>
          <a:prstGeom prst="roundRect">
            <a:avLst>
              <a:gd name="adj" fmla="val 3265"/>
            </a:avLst>
          </a:prstGeom>
          <a:solidFill>
            <a:schemeClr val="bg2"/>
          </a:solidFill>
          <a:ln/>
        </p:spPr>
      </p:sp>
      <p:sp>
        <p:nvSpPr>
          <p:cNvPr id="5" name="Shape 2"/>
          <p:cNvSpPr/>
          <p:nvPr/>
        </p:nvSpPr>
        <p:spPr>
          <a:xfrm>
            <a:off x="777240" y="1554480"/>
            <a:ext cx="594360" cy="594360"/>
          </a:xfrm>
          <a:prstGeom prst="ellipse">
            <a:avLst/>
          </a:prstGeom>
          <a:solidFill>
            <a:schemeClr val="accent1"/>
          </a:solidFill>
          <a:ln/>
        </p:spPr>
      </p:sp>
      <p:pic>
        <p:nvPicPr>
          <p:cNvPr id="6" name="Image 0" descr="Landmark icon">    </p:cNvPr>
          <p:cNvPicPr>
            <a:picLocks noChangeAspect="1"/>
          </p:cNvPicPr>
          <p:nvPr/>
        </p:nvPicPr>
        <p:blipFill>
          <a:blip r:embed="rId1"/>
          <a:stretch>
            <a:fillRect/>
          </a:stretch>
        </p:blipFill>
        <p:spPr>
          <a:xfrm>
            <a:off x="919886" y="1697126"/>
            <a:ext cx="309067" cy="309067"/>
          </a:xfrm>
          <a:prstGeom prst="rect">
            <a:avLst/>
          </a:prstGeom>
        </p:spPr>
      </p:pic>
      <p:sp>
        <p:nvSpPr>
          <p:cNvPr id="7" name="Text 3"/>
          <p:cNvSpPr txBox="1"/>
          <p:nvPr/>
        </p:nvSpPr>
        <p:spPr>
          <a:xfrm>
            <a:off x="1508760" y="1554480"/>
            <a:ext cx="2417978" cy="274320"/>
          </a:xfrm>
          <a:prstGeom prst="rect">
            <a:avLst/>
          </a:prstGeom>
          <a:noFill/>
          <a:ln/>
        </p:spPr>
        <p:txBody>
          <a:bodyPr wrap="square" lIns="0" tIns="0" rIns="0" bIns="0" rtlCol="0" anchor="t"/>
          <a:lstStyle/>
          <a:p>
            <a:pPr indent="0" marL="0">
              <a:buNone/>
            </a:pPr>
            <a:r>
              <a:rPr lang="en-US" sz="1200" b="1" dirty="0">
                <a:solidFill>
                  <a:schemeClr val="accent1"/>
                </a:solidFill>
              </a:rPr>
              <a:t>AREA A</a:t>
            </a:r>
            <a:endParaRPr lang="en-US" sz="1200" dirty="0"/>
          </a:p>
        </p:txBody>
      </p:sp>
      <p:sp>
        <p:nvSpPr>
          <p:cNvPr id="8" name="Text 4"/>
          <p:cNvSpPr txBox="1"/>
          <p:nvPr/>
        </p:nvSpPr>
        <p:spPr>
          <a:xfrm>
            <a:off x="1508760" y="1801368"/>
            <a:ext cx="2417978" cy="365760"/>
          </a:xfrm>
          <a:prstGeom prst="rect">
            <a:avLst/>
          </a:prstGeom>
          <a:noFill/>
          <a:ln/>
        </p:spPr>
        <p:txBody>
          <a:bodyPr wrap="square" lIns="0" tIns="0" rIns="0" bIns="0" rtlCol="0" anchor="t"/>
          <a:lstStyle/>
          <a:p>
            <a:pPr indent="0" marL="0">
              <a:buNone/>
            </a:pPr>
            <a:r>
              <a:rPr lang="en-US" sz="2000" b="1" dirty="0">
                <a:solidFill>
                  <a:schemeClr val="tx2"/>
                </a:solidFill>
              </a:rPr>
              <a:t>Who We Are</a:t>
            </a:r>
            <a:endParaRPr lang="en-US" sz="2000" dirty="0"/>
          </a:p>
        </p:txBody>
      </p:sp>
      <p:sp>
        <p:nvSpPr>
          <p:cNvPr id="9" name="Text 5"/>
          <p:cNvSpPr txBox="1"/>
          <p:nvPr/>
        </p:nvSpPr>
        <p:spPr>
          <a:xfrm>
            <a:off x="777240" y="2331720"/>
            <a:ext cx="3058058" cy="1143000"/>
          </a:xfrm>
          <a:prstGeom prst="rect">
            <a:avLst/>
          </a:prstGeom>
          <a:noFill/>
          <a:ln/>
        </p:spPr>
        <p:txBody>
          <a:bodyPr wrap="square" lIns="0" tIns="0" rIns="0" bIns="0" rtlCol="0" anchor="t"/>
          <a:lstStyle/>
          <a:p>
            <a:pPr indent="0" marL="0">
              <a:buNone/>
            </a:pPr>
            <a:r>
              <a:rPr lang="en-US" sz="1400" dirty="0">
                <a:solidFill>
                  <a:schemeClr val="tx1"/>
                </a:solidFill>
              </a:rPr>
              <a:t>A1 Organization Structure &amp; IT Relationships · A2 Test Policy</a:t>
            </a:r>
            <a:endParaRPr lang="en-US" sz="1400" dirty="0"/>
          </a:p>
        </p:txBody>
      </p:sp>
      <p:sp>
        <p:nvSpPr>
          <p:cNvPr id="10" name="Area B"/>
          <p:cNvSpPr/>
          <p:nvPr/>
        </p:nvSpPr>
        <p:spPr>
          <a:xfrm>
            <a:off x="4338218" y="1325880"/>
            <a:ext cx="3515258" cy="2240280"/>
          </a:xfrm>
          <a:prstGeom prst="roundRect">
            <a:avLst>
              <a:gd name="adj" fmla="val 3265"/>
            </a:avLst>
          </a:prstGeom>
          <a:solidFill>
            <a:schemeClr val="tx2"/>
          </a:solidFill>
          <a:ln/>
          <a:effectLst>
            <a:outerShdw sx="100000" sy="100000" kx="0" ky="0" algn="bl" rotWithShape="0" blurRad="101600" dist="25400" dir="5400000">
              <a:srgbClr val="000000">
                <a:alpha val="12000"/>
              </a:srgbClr>
            </a:outerShdw>
          </a:effectLst>
        </p:spPr>
      </p:sp>
      <p:sp>
        <p:nvSpPr>
          <p:cNvPr id="11" name="Shape 7"/>
          <p:cNvSpPr/>
          <p:nvPr/>
        </p:nvSpPr>
        <p:spPr>
          <a:xfrm>
            <a:off x="4566818" y="1554480"/>
            <a:ext cx="594360" cy="594360"/>
          </a:xfrm>
          <a:prstGeom prst="ellipse">
            <a:avLst/>
          </a:prstGeom>
          <a:solidFill>
            <a:schemeClr val="accent3"/>
          </a:solidFill>
          <a:ln/>
        </p:spPr>
      </p:sp>
      <p:pic>
        <p:nvPicPr>
          <p:cNvPr id="12" name="Image 1" descr="ClipboardList icon">    </p:cNvPr>
          <p:cNvPicPr>
            <a:picLocks noChangeAspect="1"/>
          </p:cNvPicPr>
          <p:nvPr/>
        </p:nvPicPr>
        <p:blipFill>
          <a:blip r:embed="rId2"/>
          <a:stretch>
            <a:fillRect/>
          </a:stretch>
        </p:blipFill>
        <p:spPr>
          <a:xfrm>
            <a:off x="4709465" y="1697126"/>
            <a:ext cx="309067" cy="309067"/>
          </a:xfrm>
          <a:prstGeom prst="rect">
            <a:avLst/>
          </a:prstGeom>
        </p:spPr>
      </p:pic>
      <p:sp>
        <p:nvSpPr>
          <p:cNvPr id="13" name="Text 8"/>
          <p:cNvSpPr txBox="1"/>
          <p:nvPr/>
        </p:nvSpPr>
        <p:spPr>
          <a:xfrm>
            <a:off x="5298338" y="1554480"/>
            <a:ext cx="2417978" cy="274320"/>
          </a:xfrm>
          <a:prstGeom prst="rect">
            <a:avLst/>
          </a:prstGeom>
          <a:noFill/>
          <a:ln/>
        </p:spPr>
        <p:txBody>
          <a:bodyPr wrap="square" lIns="0" tIns="0" rIns="0" bIns="0" rtlCol="0" anchor="t"/>
          <a:lstStyle/>
          <a:p>
            <a:pPr indent="0" marL="0">
              <a:buNone/>
            </a:pPr>
            <a:r>
              <a:rPr lang="en-US" sz="1200" b="1" dirty="0">
                <a:solidFill>
                  <a:schemeClr val="accent3"/>
                </a:solidFill>
              </a:rPr>
              <a:t>AREA B</a:t>
            </a:r>
            <a:endParaRPr lang="en-US" sz="1200" dirty="0"/>
          </a:p>
        </p:txBody>
      </p:sp>
      <p:sp>
        <p:nvSpPr>
          <p:cNvPr id="14" name="Text 9"/>
          <p:cNvSpPr txBox="1"/>
          <p:nvPr/>
        </p:nvSpPr>
        <p:spPr>
          <a:xfrm>
            <a:off x="5298338" y="1801368"/>
            <a:ext cx="2417978" cy="365760"/>
          </a:xfrm>
          <a:prstGeom prst="rect">
            <a:avLst/>
          </a:prstGeom>
          <a:noFill/>
          <a:ln/>
        </p:spPr>
        <p:txBody>
          <a:bodyPr wrap="square" lIns="0" tIns="0" rIns="0" bIns="0" rtlCol="0" anchor="t"/>
          <a:lstStyle/>
          <a:p>
            <a:pPr indent="0" marL="0">
              <a:buNone/>
            </a:pPr>
            <a:r>
              <a:rPr lang="en-US" sz="2000" b="1" dirty="0">
                <a:solidFill>
                  <a:schemeClr val="bg1"/>
                </a:solidFill>
              </a:rPr>
              <a:t>The Rules</a:t>
            </a:r>
            <a:endParaRPr lang="en-US" sz="2000" dirty="0"/>
          </a:p>
        </p:txBody>
      </p:sp>
      <p:sp>
        <p:nvSpPr>
          <p:cNvPr id="15" name="Text 10"/>
          <p:cNvSpPr txBox="1"/>
          <p:nvPr/>
        </p:nvSpPr>
        <p:spPr>
          <a:xfrm>
            <a:off x="4566818" y="2331720"/>
            <a:ext cx="3058058" cy="1143000"/>
          </a:xfrm>
          <a:prstGeom prst="rect">
            <a:avLst/>
          </a:prstGeom>
          <a:noFill/>
          <a:ln/>
        </p:spPr>
        <p:txBody>
          <a:bodyPr wrap="square" lIns="0" tIns="0" rIns="0" bIns="0" rtlCol="0" anchor="t"/>
          <a:lstStyle/>
          <a:p>
            <a:pPr indent="0" marL="0">
              <a:buNone/>
            </a:pPr>
            <a:r>
              <a:rPr lang="en-US" sz="1400" dirty="0">
                <a:solidFill>
                  <a:schemeClr val="bg1"/>
                </a:solidFill>
              </a:rPr>
              <a:t>B3 Test Strategy · B4 Lifecycle &amp; Integration · B5 Quality Gates · B6 Change &amp; Configuration Mgmt (CCB &amp; CAB)</a:t>
            </a:r>
            <a:endParaRPr lang="en-US" sz="1400" dirty="0"/>
          </a:p>
        </p:txBody>
      </p:sp>
      <p:sp>
        <p:nvSpPr>
          <p:cNvPr id="16" name="Today tag"/>
          <p:cNvSpPr/>
          <p:nvPr/>
        </p:nvSpPr>
        <p:spPr>
          <a:xfrm>
            <a:off x="6436157" y="1143000"/>
            <a:ext cx="1325880" cy="347472"/>
          </a:xfrm>
          <a:prstGeom prst="roundRect">
            <a:avLst>
              <a:gd name="adj" fmla="val 21053"/>
            </a:avLst>
          </a:prstGeom>
          <a:solidFill>
            <a:schemeClr val="accent3"/>
          </a:solidFill>
          <a:ln/>
        </p:spPr>
      </p:sp>
      <p:sp>
        <p:nvSpPr>
          <p:cNvPr id="17" name="Text 12"/>
          <p:cNvSpPr txBox="1"/>
          <p:nvPr/>
        </p:nvSpPr>
        <p:spPr>
          <a:xfrm>
            <a:off x="6436157" y="1143000"/>
            <a:ext cx="1325880" cy="347472"/>
          </a:xfrm>
          <a:prstGeom prst="rect">
            <a:avLst/>
          </a:prstGeom>
          <a:noFill/>
          <a:ln/>
        </p:spPr>
        <p:txBody>
          <a:bodyPr wrap="square" lIns="0" tIns="0" rIns="0" bIns="0" rtlCol="0" anchor="ctr"/>
          <a:lstStyle/>
          <a:p>
            <a:pPr algn="ctr" indent="0" marL="0">
              <a:buNone/>
            </a:pPr>
            <a:r>
              <a:rPr lang="en-US" sz="1200" b="1" dirty="0">
                <a:solidFill>
                  <a:schemeClr val="tx2"/>
                </a:solidFill>
              </a:rPr>
              <a:t>TODAY · B6</a:t>
            </a:r>
            <a:endParaRPr lang="en-US" sz="1200" dirty="0"/>
          </a:p>
        </p:txBody>
      </p:sp>
      <p:sp>
        <p:nvSpPr>
          <p:cNvPr id="18" name="Area C"/>
          <p:cNvSpPr/>
          <p:nvPr/>
        </p:nvSpPr>
        <p:spPr>
          <a:xfrm>
            <a:off x="8127797" y="1325880"/>
            <a:ext cx="3515258" cy="2240280"/>
          </a:xfrm>
          <a:prstGeom prst="roundRect">
            <a:avLst>
              <a:gd name="adj" fmla="val 3265"/>
            </a:avLst>
          </a:prstGeom>
          <a:solidFill>
            <a:schemeClr val="bg2"/>
          </a:solidFill>
          <a:ln/>
        </p:spPr>
      </p:sp>
      <p:sp>
        <p:nvSpPr>
          <p:cNvPr id="19" name="Shape 14"/>
          <p:cNvSpPr/>
          <p:nvPr/>
        </p:nvSpPr>
        <p:spPr>
          <a:xfrm>
            <a:off x="8356397" y="1554480"/>
            <a:ext cx="594360" cy="594360"/>
          </a:xfrm>
          <a:prstGeom prst="ellipse">
            <a:avLst/>
          </a:prstGeom>
          <a:solidFill>
            <a:schemeClr val="accent1"/>
          </a:solidFill>
          <a:ln/>
        </p:spPr>
      </p:sp>
      <p:pic>
        <p:nvPicPr>
          <p:cNvPr id="20" name="Image 2" descr="Tools icon">    </p:cNvPr>
          <p:cNvPicPr>
            <a:picLocks noChangeAspect="1"/>
          </p:cNvPicPr>
          <p:nvPr/>
        </p:nvPicPr>
        <p:blipFill>
          <a:blip r:embed="rId3"/>
          <a:stretch>
            <a:fillRect/>
          </a:stretch>
        </p:blipFill>
        <p:spPr>
          <a:xfrm>
            <a:off x="8499043" y="1697126"/>
            <a:ext cx="309067" cy="309067"/>
          </a:xfrm>
          <a:prstGeom prst="rect">
            <a:avLst/>
          </a:prstGeom>
        </p:spPr>
      </p:pic>
      <p:sp>
        <p:nvSpPr>
          <p:cNvPr id="21" name="Text 15"/>
          <p:cNvSpPr txBox="1"/>
          <p:nvPr/>
        </p:nvSpPr>
        <p:spPr>
          <a:xfrm>
            <a:off x="9087917" y="1554480"/>
            <a:ext cx="2417978" cy="274320"/>
          </a:xfrm>
          <a:prstGeom prst="rect">
            <a:avLst/>
          </a:prstGeom>
          <a:noFill/>
          <a:ln/>
        </p:spPr>
        <p:txBody>
          <a:bodyPr wrap="square" lIns="0" tIns="0" rIns="0" bIns="0" rtlCol="0" anchor="t"/>
          <a:lstStyle/>
          <a:p>
            <a:pPr indent="0" marL="0">
              <a:buNone/>
            </a:pPr>
            <a:r>
              <a:rPr lang="en-US" sz="1200" b="1" dirty="0">
                <a:solidFill>
                  <a:schemeClr val="accent1"/>
                </a:solidFill>
              </a:rPr>
              <a:t>AREA C</a:t>
            </a:r>
            <a:endParaRPr lang="en-US" sz="1200" dirty="0"/>
          </a:p>
        </p:txBody>
      </p:sp>
      <p:sp>
        <p:nvSpPr>
          <p:cNvPr id="22" name="Text 16"/>
          <p:cNvSpPr txBox="1"/>
          <p:nvPr/>
        </p:nvSpPr>
        <p:spPr>
          <a:xfrm>
            <a:off x="9087917" y="1801368"/>
            <a:ext cx="2417978" cy="365760"/>
          </a:xfrm>
          <a:prstGeom prst="rect">
            <a:avLst/>
          </a:prstGeom>
          <a:noFill/>
          <a:ln/>
        </p:spPr>
        <p:txBody>
          <a:bodyPr wrap="square" lIns="0" tIns="0" rIns="0" bIns="0" rtlCol="0" anchor="t"/>
          <a:lstStyle/>
          <a:p>
            <a:pPr indent="0" marL="0">
              <a:buNone/>
            </a:pPr>
            <a:r>
              <a:rPr lang="en-US" sz="2000" b="1" dirty="0">
                <a:solidFill>
                  <a:schemeClr val="tx2"/>
                </a:solidFill>
              </a:rPr>
              <a:t>Preparing</a:t>
            </a:r>
            <a:endParaRPr lang="en-US" sz="2000" dirty="0"/>
          </a:p>
        </p:txBody>
      </p:sp>
      <p:sp>
        <p:nvSpPr>
          <p:cNvPr id="23" name="Text 17"/>
          <p:cNvSpPr txBox="1"/>
          <p:nvPr/>
        </p:nvSpPr>
        <p:spPr>
          <a:xfrm>
            <a:off x="8356397" y="2331720"/>
            <a:ext cx="3058058" cy="1143000"/>
          </a:xfrm>
          <a:prstGeom prst="rect">
            <a:avLst/>
          </a:prstGeom>
          <a:noFill/>
          <a:ln/>
        </p:spPr>
        <p:txBody>
          <a:bodyPr wrap="square" lIns="0" tIns="0" rIns="0" bIns="0" rtlCol="0" anchor="t"/>
          <a:lstStyle/>
          <a:p>
            <a:pPr indent="0" marL="0">
              <a:buNone/>
            </a:pPr>
            <a:r>
              <a:rPr lang="en-US" sz="1400" dirty="0">
                <a:solidFill>
                  <a:schemeClr val="tx1"/>
                </a:solidFill>
              </a:rPr>
              <a:t>C7 Test Planning &amp; Risk Assessment · C8 Tool Setup · C9 Test Environment &amp; Test Data (optional)</a:t>
            </a:r>
            <a:endParaRPr lang="en-US" sz="1400" dirty="0"/>
          </a:p>
        </p:txBody>
      </p:sp>
      <p:sp>
        <p:nvSpPr>
          <p:cNvPr id="24" name="Area D"/>
          <p:cNvSpPr/>
          <p:nvPr/>
        </p:nvSpPr>
        <p:spPr>
          <a:xfrm>
            <a:off x="548640" y="3840480"/>
            <a:ext cx="3515258" cy="2240280"/>
          </a:xfrm>
          <a:prstGeom prst="roundRect">
            <a:avLst>
              <a:gd name="adj" fmla="val 3265"/>
            </a:avLst>
          </a:prstGeom>
          <a:solidFill>
            <a:schemeClr val="bg2"/>
          </a:solidFill>
          <a:ln/>
        </p:spPr>
      </p:sp>
      <p:sp>
        <p:nvSpPr>
          <p:cNvPr id="25" name="Shape 19"/>
          <p:cNvSpPr/>
          <p:nvPr/>
        </p:nvSpPr>
        <p:spPr>
          <a:xfrm>
            <a:off x="777240" y="4069080"/>
            <a:ext cx="594360" cy="594360"/>
          </a:xfrm>
          <a:prstGeom prst="ellipse">
            <a:avLst/>
          </a:prstGeom>
          <a:solidFill>
            <a:schemeClr val="accent1"/>
          </a:solidFill>
          <a:ln/>
        </p:spPr>
      </p:sp>
      <p:pic>
        <p:nvPicPr>
          <p:cNvPr id="26" name="Image 3" descr="Running icon">    </p:cNvPr>
          <p:cNvPicPr>
            <a:picLocks noChangeAspect="1"/>
          </p:cNvPicPr>
          <p:nvPr/>
        </p:nvPicPr>
        <p:blipFill>
          <a:blip r:embed="rId4"/>
          <a:stretch>
            <a:fillRect/>
          </a:stretch>
        </p:blipFill>
        <p:spPr>
          <a:xfrm>
            <a:off x="919886" y="4211726"/>
            <a:ext cx="309067" cy="309067"/>
          </a:xfrm>
          <a:prstGeom prst="rect">
            <a:avLst/>
          </a:prstGeom>
        </p:spPr>
      </p:pic>
      <p:sp>
        <p:nvSpPr>
          <p:cNvPr id="27" name="Text 20"/>
          <p:cNvSpPr txBox="1"/>
          <p:nvPr/>
        </p:nvSpPr>
        <p:spPr>
          <a:xfrm>
            <a:off x="1508760" y="4069080"/>
            <a:ext cx="2417978" cy="274320"/>
          </a:xfrm>
          <a:prstGeom prst="rect">
            <a:avLst/>
          </a:prstGeom>
          <a:noFill/>
          <a:ln/>
        </p:spPr>
        <p:txBody>
          <a:bodyPr wrap="square" lIns="0" tIns="0" rIns="0" bIns="0" rtlCol="0" anchor="t"/>
          <a:lstStyle/>
          <a:p>
            <a:pPr indent="0" marL="0">
              <a:buNone/>
            </a:pPr>
            <a:r>
              <a:rPr lang="en-US" sz="1200" b="1" dirty="0">
                <a:solidFill>
                  <a:schemeClr val="accent1"/>
                </a:solidFill>
              </a:rPr>
              <a:t>AREA D</a:t>
            </a:r>
            <a:endParaRPr lang="en-US" sz="1200" dirty="0"/>
          </a:p>
        </p:txBody>
      </p:sp>
      <p:sp>
        <p:nvSpPr>
          <p:cNvPr id="28" name="Text 21"/>
          <p:cNvSpPr txBox="1"/>
          <p:nvPr/>
        </p:nvSpPr>
        <p:spPr>
          <a:xfrm>
            <a:off x="1508760" y="4315968"/>
            <a:ext cx="2417978" cy="365760"/>
          </a:xfrm>
          <a:prstGeom prst="rect">
            <a:avLst/>
          </a:prstGeom>
          <a:noFill/>
          <a:ln/>
        </p:spPr>
        <p:txBody>
          <a:bodyPr wrap="square" lIns="0" tIns="0" rIns="0" bIns="0" rtlCol="0" anchor="t"/>
          <a:lstStyle/>
          <a:p>
            <a:pPr indent="0" marL="0">
              <a:buNone/>
            </a:pPr>
            <a:r>
              <a:rPr lang="en-US" sz="2000" b="1" dirty="0">
                <a:solidFill>
                  <a:schemeClr val="tx2"/>
                </a:solidFill>
              </a:rPr>
              <a:t>Doing the Work</a:t>
            </a:r>
            <a:endParaRPr lang="en-US" sz="2000" dirty="0"/>
          </a:p>
        </p:txBody>
      </p:sp>
      <p:sp>
        <p:nvSpPr>
          <p:cNvPr id="29" name="Text 22"/>
          <p:cNvSpPr txBox="1"/>
          <p:nvPr/>
        </p:nvSpPr>
        <p:spPr>
          <a:xfrm>
            <a:off x="777240" y="4846320"/>
            <a:ext cx="3058058" cy="1143000"/>
          </a:xfrm>
          <a:prstGeom prst="rect">
            <a:avLst/>
          </a:prstGeom>
          <a:noFill/>
          <a:ln/>
        </p:spPr>
        <p:txBody>
          <a:bodyPr wrap="square" lIns="0" tIns="0" rIns="0" bIns="0" rtlCol="0" anchor="t"/>
          <a:lstStyle/>
          <a:p>
            <a:pPr indent="0" marL="0">
              <a:buNone/>
            </a:pPr>
            <a:r>
              <a:rPr lang="en-US" sz="1400" dirty="0">
                <a:solidFill>
                  <a:schemeClr val="tx1"/>
                </a:solidFill>
              </a:rPr>
              <a:t>D10 Grooming &amp; Estimation · D11 Test Design &amp; Execution · D12 Defect Management</a:t>
            </a:r>
            <a:endParaRPr lang="en-US" sz="1400" dirty="0"/>
          </a:p>
        </p:txBody>
      </p:sp>
      <p:sp>
        <p:nvSpPr>
          <p:cNvPr id="30" name="Area E"/>
          <p:cNvSpPr/>
          <p:nvPr/>
        </p:nvSpPr>
        <p:spPr>
          <a:xfrm>
            <a:off x="4338218" y="3840480"/>
            <a:ext cx="3515258" cy="2240280"/>
          </a:xfrm>
          <a:prstGeom prst="roundRect">
            <a:avLst>
              <a:gd name="adj" fmla="val 3265"/>
            </a:avLst>
          </a:prstGeom>
          <a:solidFill>
            <a:schemeClr val="bg2"/>
          </a:solidFill>
          <a:ln/>
        </p:spPr>
      </p:sp>
      <p:sp>
        <p:nvSpPr>
          <p:cNvPr id="31" name="Shape 24"/>
          <p:cNvSpPr/>
          <p:nvPr/>
        </p:nvSpPr>
        <p:spPr>
          <a:xfrm>
            <a:off x="4566818" y="4069080"/>
            <a:ext cx="594360" cy="594360"/>
          </a:xfrm>
          <a:prstGeom prst="ellipse">
            <a:avLst/>
          </a:prstGeom>
          <a:solidFill>
            <a:schemeClr val="accent1"/>
          </a:solidFill>
          <a:ln/>
        </p:spPr>
      </p:sp>
      <p:pic>
        <p:nvPicPr>
          <p:cNvPr id="32" name="Image 4" descr="ShieldAlt icon">    </p:cNvPr>
          <p:cNvPicPr>
            <a:picLocks noChangeAspect="1"/>
          </p:cNvPicPr>
          <p:nvPr/>
        </p:nvPicPr>
        <p:blipFill>
          <a:blip r:embed="rId5"/>
          <a:stretch>
            <a:fillRect/>
          </a:stretch>
        </p:blipFill>
        <p:spPr>
          <a:xfrm>
            <a:off x="4709465" y="4211726"/>
            <a:ext cx="309067" cy="309067"/>
          </a:xfrm>
          <a:prstGeom prst="rect">
            <a:avLst/>
          </a:prstGeom>
        </p:spPr>
      </p:pic>
      <p:sp>
        <p:nvSpPr>
          <p:cNvPr id="33" name="Text 25"/>
          <p:cNvSpPr txBox="1"/>
          <p:nvPr/>
        </p:nvSpPr>
        <p:spPr>
          <a:xfrm>
            <a:off x="5298338" y="4069080"/>
            <a:ext cx="2417978" cy="274320"/>
          </a:xfrm>
          <a:prstGeom prst="rect">
            <a:avLst/>
          </a:prstGeom>
          <a:noFill/>
          <a:ln/>
        </p:spPr>
        <p:txBody>
          <a:bodyPr wrap="square" lIns="0" tIns="0" rIns="0" bIns="0" rtlCol="0" anchor="t"/>
          <a:lstStyle/>
          <a:p>
            <a:pPr indent="0" marL="0">
              <a:buNone/>
            </a:pPr>
            <a:r>
              <a:rPr lang="en-US" sz="1200" b="1" dirty="0">
                <a:solidFill>
                  <a:schemeClr val="accent1"/>
                </a:solidFill>
              </a:rPr>
              <a:t>AREA E</a:t>
            </a:r>
            <a:endParaRPr lang="en-US" sz="1200" dirty="0"/>
          </a:p>
        </p:txBody>
      </p:sp>
      <p:sp>
        <p:nvSpPr>
          <p:cNvPr id="34" name="Text 26"/>
          <p:cNvSpPr txBox="1"/>
          <p:nvPr/>
        </p:nvSpPr>
        <p:spPr>
          <a:xfrm>
            <a:off x="5298338" y="4315968"/>
            <a:ext cx="2417978" cy="365760"/>
          </a:xfrm>
          <a:prstGeom prst="rect">
            <a:avLst/>
          </a:prstGeom>
          <a:noFill/>
          <a:ln/>
        </p:spPr>
        <p:txBody>
          <a:bodyPr wrap="square" lIns="0" tIns="0" rIns="0" bIns="0" rtlCol="0" anchor="t"/>
          <a:lstStyle/>
          <a:p>
            <a:pPr indent="0" marL="0">
              <a:buNone/>
            </a:pPr>
            <a:r>
              <a:rPr lang="en-US" sz="2000" b="1" dirty="0">
                <a:solidFill>
                  <a:schemeClr val="tx2"/>
                </a:solidFill>
              </a:rPr>
              <a:t>Control</a:t>
            </a:r>
            <a:endParaRPr lang="en-US" sz="2000" dirty="0"/>
          </a:p>
        </p:txBody>
      </p:sp>
      <p:sp>
        <p:nvSpPr>
          <p:cNvPr id="35" name="Text 27"/>
          <p:cNvSpPr txBox="1"/>
          <p:nvPr/>
        </p:nvSpPr>
        <p:spPr>
          <a:xfrm>
            <a:off x="4566818" y="4846320"/>
            <a:ext cx="3058058" cy="1143000"/>
          </a:xfrm>
          <a:prstGeom prst="rect">
            <a:avLst/>
          </a:prstGeom>
          <a:noFill/>
          <a:ln/>
        </p:spPr>
        <p:txBody>
          <a:bodyPr wrap="square" lIns="0" tIns="0" rIns="0" bIns="0" rtlCol="0" anchor="t"/>
          <a:lstStyle/>
          <a:p>
            <a:pPr indent="0" marL="0">
              <a:buNone/>
            </a:pPr>
            <a:r>
              <a:rPr lang="en-US" sz="1400" dirty="0">
                <a:solidFill>
                  <a:schemeClr val="tx1"/>
                </a:solidFill>
              </a:rPr>
              <a:t>E13 Monitoring &amp; Control · E14 Reviews · E15 Risk · E16 KPIs &amp; Breaches · E17 RCA · E18 CAPA · E19 Audits</a:t>
            </a:r>
            <a:endParaRPr lang="en-US" sz="1400" dirty="0"/>
          </a:p>
        </p:txBody>
      </p:sp>
      <p:sp>
        <p:nvSpPr>
          <p:cNvPr id="36" name="Area F"/>
          <p:cNvSpPr/>
          <p:nvPr/>
        </p:nvSpPr>
        <p:spPr>
          <a:xfrm>
            <a:off x="8127797" y="3840480"/>
            <a:ext cx="3515258" cy="2240280"/>
          </a:xfrm>
          <a:prstGeom prst="roundRect">
            <a:avLst>
              <a:gd name="adj" fmla="val 3265"/>
            </a:avLst>
          </a:prstGeom>
          <a:solidFill>
            <a:schemeClr val="bg2"/>
          </a:solidFill>
          <a:ln/>
        </p:spPr>
      </p:sp>
      <p:sp>
        <p:nvSpPr>
          <p:cNvPr id="37" name="Shape 29"/>
          <p:cNvSpPr/>
          <p:nvPr/>
        </p:nvSpPr>
        <p:spPr>
          <a:xfrm>
            <a:off x="8356397" y="4069080"/>
            <a:ext cx="594360" cy="594360"/>
          </a:xfrm>
          <a:prstGeom prst="ellipse">
            <a:avLst/>
          </a:prstGeom>
          <a:solidFill>
            <a:schemeClr val="accent1"/>
          </a:solidFill>
          <a:ln/>
        </p:spPr>
      </p:sp>
      <p:pic>
        <p:nvPicPr>
          <p:cNvPr id="38" name="Image 5" descr="Bullseye icon">    </p:cNvPr>
          <p:cNvPicPr>
            <a:picLocks noChangeAspect="1"/>
          </p:cNvPicPr>
          <p:nvPr/>
        </p:nvPicPr>
        <p:blipFill>
          <a:blip r:embed="rId6"/>
          <a:stretch>
            <a:fillRect/>
          </a:stretch>
        </p:blipFill>
        <p:spPr>
          <a:xfrm>
            <a:off x="8499043" y="4211726"/>
            <a:ext cx="309067" cy="309067"/>
          </a:xfrm>
          <a:prstGeom prst="rect">
            <a:avLst/>
          </a:prstGeom>
        </p:spPr>
      </p:pic>
      <p:sp>
        <p:nvSpPr>
          <p:cNvPr id="39" name="Text 30"/>
          <p:cNvSpPr txBox="1"/>
          <p:nvPr/>
        </p:nvSpPr>
        <p:spPr>
          <a:xfrm>
            <a:off x="9087917" y="4069080"/>
            <a:ext cx="2417978" cy="274320"/>
          </a:xfrm>
          <a:prstGeom prst="rect">
            <a:avLst/>
          </a:prstGeom>
          <a:noFill/>
          <a:ln/>
        </p:spPr>
        <p:txBody>
          <a:bodyPr wrap="square" lIns="0" tIns="0" rIns="0" bIns="0" rtlCol="0" anchor="t"/>
          <a:lstStyle/>
          <a:p>
            <a:pPr indent="0" marL="0">
              <a:buNone/>
            </a:pPr>
            <a:r>
              <a:rPr lang="en-US" sz="1200" b="1" dirty="0">
                <a:solidFill>
                  <a:schemeClr val="accent1"/>
                </a:solidFill>
              </a:rPr>
              <a:t>AREA F</a:t>
            </a:r>
            <a:endParaRPr lang="en-US" sz="1200" dirty="0"/>
          </a:p>
        </p:txBody>
      </p:sp>
      <p:sp>
        <p:nvSpPr>
          <p:cNvPr id="40" name="Text 31"/>
          <p:cNvSpPr txBox="1"/>
          <p:nvPr/>
        </p:nvSpPr>
        <p:spPr>
          <a:xfrm>
            <a:off x="9087917" y="4315968"/>
            <a:ext cx="2417978" cy="365760"/>
          </a:xfrm>
          <a:prstGeom prst="rect">
            <a:avLst/>
          </a:prstGeom>
          <a:noFill/>
          <a:ln/>
        </p:spPr>
        <p:txBody>
          <a:bodyPr wrap="square" lIns="0" tIns="0" rIns="0" bIns="0" rtlCol="0" anchor="t"/>
          <a:lstStyle/>
          <a:p>
            <a:pPr indent="0" marL="0">
              <a:buNone/>
            </a:pPr>
            <a:r>
              <a:rPr lang="en-US" sz="2000" b="1" dirty="0">
                <a:solidFill>
                  <a:schemeClr val="tx2"/>
                </a:solidFill>
              </a:rPr>
              <a:t>Close &amp; Learn</a:t>
            </a:r>
            <a:endParaRPr lang="en-US" sz="2000" dirty="0"/>
          </a:p>
        </p:txBody>
      </p:sp>
      <p:sp>
        <p:nvSpPr>
          <p:cNvPr id="41" name="Text 32"/>
          <p:cNvSpPr txBox="1"/>
          <p:nvPr/>
        </p:nvSpPr>
        <p:spPr>
          <a:xfrm>
            <a:off x="8356397" y="4846320"/>
            <a:ext cx="3058058" cy="1143000"/>
          </a:xfrm>
          <a:prstGeom prst="rect">
            <a:avLst/>
          </a:prstGeom>
          <a:noFill/>
          <a:ln/>
        </p:spPr>
        <p:txBody>
          <a:bodyPr wrap="square" lIns="0" tIns="0" rIns="0" bIns="0" rtlCol="0" anchor="t"/>
          <a:lstStyle/>
          <a:p>
            <a:pPr indent="0" marL="0">
              <a:buNone/>
            </a:pPr>
            <a:r>
              <a:rPr lang="en-US" sz="1400" dirty="0">
                <a:solidFill>
                  <a:schemeClr val="tx1"/>
                </a:solidFill>
              </a:rPr>
              <a:t>F20 Test Closure &amp; Lessons Learned</a:t>
            </a:r>
            <a:endParaRPr lang="en-US" sz="14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Where change management meets TMMi</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206240"/>
                <a:gridCol w="6888175"/>
              </a:tblGrid>
              <a:tr h="713232">
                <a:tc>
                  <a:txBody>
                    <a:bodyPr/>
                    <a:lstStyle/>
                    <a:p>
                      <a:pPr indent="0" marL="0">
                        <a:buNone/>
                      </a:pPr>
                      <a:r>
                        <a:rPr lang="en-US" sz="1500" b="1" dirty="0">
                          <a:solidFill>
                            <a:schemeClr val="bg1"/>
                          </a:solidFill>
                        </a:rPr>
                        <a:t>TMMi practice</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indent="0" marL="0">
                        <a:buNone/>
                      </a:pPr>
                      <a:r>
                        <a:rPr lang="en-US" sz="1500" b="1" dirty="0">
                          <a:solidFill>
                            <a:schemeClr val="bg1"/>
                          </a:solidFill>
                        </a:rPr>
                        <a:t>What it means for change management</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r>
              <a:tr h="713232">
                <a:tc>
                  <a:txBody>
                    <a:bodyPr/>
                    <a:lstStyle/>
                    <a:p>
                      <a:pPr indent="0" marL="0">
                        <a:buNone/>
                      </a:pPr>
                      <a:r>
                        <a:rPr lang="en-US" sz="1500" b="1" dirty="0">
                          <a:solidFill>
                            <a:schemeClr val="tx2"/>
                          </a:solidFill>
                        </a:rPr>
                        <a:t>2.4 SP1.4 · Maintain horizontal traceability</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Requirement → test → defect links show exactly what a change affects and what to retest</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713232">
                <a:tc>
                  <a:txBody>
                    <a:bodyPr/>
                    <a:lstStyle/>
                    <a:p>
                      <a:pPr indent="0" marL="0">
                        <a:buNone/>
                      </a:pPr>
                      <a:r>
                        <a:rPr lang="en-US" sz="1500" b="1" dirty="0">
                          <a:solidFill>
                            <a:schemeClr val="tx2"/>
                          </a:solidFill>
                        </a:rPr>
                        <a:t>2.4 SP4.1 · Decide disposition in a control board</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Every change request gets a recorded decision: approved, rejected or deferred</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713232">
                <a:tc>
                  <a:txBody>
                    <a:bodyPr/>
                    <a:lstStyle/>
                    <a:p>
                      <a:pPr indent="0" marL="0">
                        <a:buNone/>
                      </a:pPr>
                      <a:r>
                        <a:rPr lang="en-US" sz="1500" b="1" dirty="0">
                          <a:solidFill>
                            <a:schemeClr val="tx2"/>
                          </a:solidFill>
                        </a:rPr>
                        <a:t>2.3 SP1.1 / SP2.3 · Monitor plan and product risks</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An approved change triggers re-planning and a fresh look at product risks</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r h="713232">
                <a:tc>
                  <a:txBody>
                    <a:bodyPr/>
                    <a:lstStyle/>
                    <a:p>
                      <a:pPr indent="0" marL="0">
                        <a:buNone/>
                      </a:pPr>
                      <a:r>
                        <a:rPr lang="en-US" sz="1500" b="1" dirty="0">
                          <a:solidFill>
                            <a:schemeClr val="tx2"/>
                          </a:solidFill>
                        </a:rPr>
                        <a:t>GP2.6 · Manage configurations</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Baselines, versions and CR records stay under control and traceable</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2"/>
                    </a:solidFill>
                  </a:tcPr>
                </a:tc>
              </a:tr>
              <a:tr h="713232">
                <a:tc>
                  <a:txBody>
                    <a:bodyPr/>
                    <a:lstStyle/>
                    <a:p>
                      <a:pPr indent="0" marL="0">
                        <a:buNone/>
                      </a:pPr>
                      <a:r>
                        <a:rPr lang="en-US" sz="1500" b="1" dirty="0">
                          <a:solidFill>
                            <a:schemeClr val="tx2"/>
                          </a:solidFill>
                        </a:rPr>
                        <a:t>3.3 SG2 · Integrate lifecycle models</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The CAB and the Go/No-Go gate are fixed points of our standard lifecycle</a:t>
                      </a:r>
                      <a:endParaRPr lang="en-US" sz="1500" dirty="0"/>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2331720"/>
            <a:ext cx="7772400" cy="1188720"/>
          </a:xfrm>
          <a:prstGeom prst="rect">
            <a:avLst/>
          </a:prstGeom>
          <a:noFill/>
          <a:ln/>
        </p:spPr>
        <p:txBody>
          <a:bodyPr wrap="square" lIns="0" tIns="0" rIns="0" bIns="0" rtlCol="0" anchor="ctr"/>
          <a:lstStyle/>
          <a:p>
            <a:pPr algn="l" indent="0" marL="0">
              <a:buNone/>
            </a:pPr>
            <a:r>
              <a:rPr lang="en-US" sz="5400" b="1" dirty="0">
                <a:solidFill>
                  <a:schemeClr val="bg1"/>
                </a:solidFill>
              </a:rPr>
              <a:t>WHAT?</a:t>
            </a:r>
            <a:endParaRPr lang="en-US" sz="5400" dirty="0"/>
          </a:p>
        </p:txBody>
      </p:sp>
      <p:sp>
        <p:nvSpPr>
          <p:cNvPr id="3" name="Text 1"/>
          <p:cNvSpPr/>
          <p:nvPr>
            <p:ph idx="103" type="body" hasCustomPrompt="1"/>
          </p:nvPr>
        </p:nvSpPr>
        <p:spPr>
          <a:xfrm>
            <a:off x="548640" y="3566160"/>
            <a:ext cx="7772400" cy="822960"/>
          </a:xfrm>
          <a:prstGeom prst="rect">
            <a:avLst/>
          </a:prstGeom>
          <a:noFill/>
          <a:ln/>
        </p:spPr>
        <p:txBody>
          <a:bodyPr wrap="square" lIns="0" tIns="0" rIns="0" bIns="0" rtlCol="0" anchor="t"/>
          <a:lstStyle/>
          <a:p>
            <a:pPr algn="l" indent="0" marL="0">
              <a:buNone/>
            </a:pPr>
            <a:r>
              <a:rPr lang="en-US" sz="2200" dirty="0">
                <a:solidFill>
                  <a:schemeClr val="accent3"/>
                </a:solidFill>
              </a:rPr>
              <a:t>What is change management, and what counts as a change?</a:t>
            </a:r>
            <a:endParaRPr lang="en-US" sz="22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What is a change?</a:t>
            </a:r>
            <a:endParaRPr lang="en-US" sz="3400" dirty="0"/>
          </a:p>
        </p:txBody>
      </p:sp>
      <p:sp>
        <p:nvSpPr>
          <p:cNvPr id="4" name="Definition card"/>
          <p:cNvSpPr/>
          <p:nvPr/>
        </p:nvSpPr>
        <p:spPr>
          <a:xfrm>
            <a:off x="548640" y="1325880"/>
            <a:ext cx="11094415" cy="1417320"/>
          </a:xfrm>
          <a:prstGeom prst="roundRect">
            <a:avLst>
              <a:gd name="adj" fmla="val 5161"/>
            </a:avLst>
          </a:prstGeom>
          <a:solidFill>
            <a:schemeClr val="tx2"/>
          </a:solidFill>
          <a:ln/>
        </p:spPr>
      </p:sp>
      <p:sp>
        <p:nvSpPr>
          <p:cNvPr id="5" name="Shape 2"/>
          <p:cNvSpPr/>
          <p:nvPr/>
        </p:nvSpPr>
        <p:spPr>
          <a:xfrm>
            <a:off x="822960" y="1600200"/>
            <a:ext cx="822960" cy="822960"/>
          </a:xfrm>
          <a:prstGeom prst="ellipse">
            <a:avLst/>
          </a:prstGeom>
          <a:solidFill>
            <a:schemeClr val="accent3"/>
          </a:solidFill>
          <a:ln/>
        </p:spPr>
      </p:sp>
      <p:pic>
        <p:nvPicPr>
          <p:cNvPr id="6" name="Image 0" descr="QuestionCircle icon">    </p:cNvPr>
          <p:cNvPicPr>
            <a:picLocks noChangeAspect="1"/>
          </p:cNvPicPr>
          <p:nvPr/>
        </p:nvPicPr>
        <p:blipFill>
          <a:blip r:embed="rId1"/>
          <a:stretch>
            <a:fillRect/>
          </a:stretch>
        </p:blipFill>
        <p:spPr>
          <a:xfrm>
            <a:off x="1020470" y="1797710"/>
            <a:ext cx="427939" cy="427939"/>
          </a:xfrm>
          <a:prstGeom prst="rect">
            <a:avLst/>
          </a:prstGeom>
        </p:spPr>
      </p:pic>
      <p:sp>
        <p:nvSpPr>
          <p:cNvPr id="7" name="Text 3"/>
          <p:cNvSpPr txBox="1"/>
          <p:nvPr/>
        </p:nvSpPr>
        <p:spPr>
          <a:xfrm>
            <a:off x="1920240" y="1481328"/>
            <a:ext cx="9448495" cy="1143000"/>
          </a:xfrm>
          <a:prstGeom prst="rect">
            <a:avLst/>
          </a:prstGeom>
          <a:noFill/>
          <a:ln/>
        </p:spPr>
        <p:txBody>
          <a:bodyPr wrap="square" lIns="0" tIns="0" rIns="0" bIns="0" rtlCol="0" anchor="ctr"/>
          <a:lstStyle/>
          <a:p>
            <a:pPr indent="0" marL="0">
              <a:buNone/>
            </a:pPr>
            <a:r>
              <a:rPr lang="en-US" sz="1800" i="1" dirty="0">
                <a:solidFill>
                  <a:schemeClr val="bg1"/>
                </a:solidFill>
              </a:rPr>
              <a:t>“A change is anything that transforms, alters, or modifies the operating environment or standard operating procedures or service that has the potential to affect the stability and reliability of the infrastructure or disrupt business flow.”</a:t>
            </a:r>
            <a:endParaRPr lang="en-US" sz="1800" dirty="0"/>
          </a:p>
        </p:txBody>
      </p:sp>
      <p:sp>
        <p:nvSpPr>
          <p:cNvPr id="8" name="Purpose card"/>
          <p:cNvSpPr/>
          <p:nvPr/>
        </p:nvSpPr>
        <p:spPr>
          <a:xfrm>
            <a:off x="548640" y="3017520"/>
            <a:ext cx="3515258" cy="3108960"/>
          </a:xfrm>
          <a:prstGeom prst="roundRect">
            <a:avLst>
              <a:gd name="adj" fmla="val 2353"/>
            </a:avLst>
          </a:prstGeom>
          <a:solidFill>
            <a:schemeClr val="bg2"/>
          </a:solidFill>
          <a:ln/>
        </p:spPr>
      </p:sp>
      <p:sp>
        <p:nvSpPr>
          <p:cNvPr id="9" name="Shape 5"/>
          <p:cNvSpPr/>
          <p:nvPr/>
        </p:nvSpPr>
        <p:spPr>
          <a:xfrm>
            <a:off x="822960" y="3291840"/>
            <a:ext cx="640080" cy="640080"/>
          </a:xfrm>
          <a:prstGeom prst="ellipse">
            <a:avLst/>
          </a:prstGeom>
          <a:solidFill>
            <a:schemeClr val="accent1"/>
          </a:solidFill>
          <a:ln/>
        </p:spPr>
      </p:sp>
      <p:pic>
        <p:nvPicPr>
          <p:cNvPr id="10" name="Image 1" descr="Bullseye icon">    </p:cNvPr>
          <p:cNvPicPr>
            <a:picLocks noChangeAspect="1"/>
          </p:cNvPicPr>
          <p:nvPr/>
        </p:nvPicPr>
        <p:blipFill>
          <a:blip r:embed="rId2"/>
          <a:stretch>
            <a:fillRect/>
          </a:stretch>
        </p:blipFill>
        <p:spPr>
          <a:xfrm>
            <a:off x="976579" y="3445459"/>
            <a:ext cx="332842" cy="332842"/>
          </a:xfrm>
          <a:prstGeom prst="rect">
            <a:avLst/>
          </a:prstGeom>
        </p:spPr>
      </p:pic>
      <p:sp>
        <p:nvSpPr>
          <p:cNvPr id="11" name="Text 6"/>
          <p:cNvSpPr txBox="1"/>
          <p:nvPr/>
        </p:nvSpPr>
        <p:spPr>
          <a:xfrm>
            <a:off x="1645920" y="3401568"/>
            <a:ext cx="2235098" cy="411480"/>
          </a:xfrm>
          <a:prstGeom prst="rect">
            <a:avLst/>
          </a:prstGeom>
          <a:noFill/>
          <a:ln/>
        </p:spPr>
        <p:txBody>
          <a:bodyPr wrap="square" lIns="0" tIns="0" rIns="0" bIns="0" rtlCol="0" anchor="t"/>
          <a:lstStyle/>
          <a:p>
            <a:pPr indent="0" marL="0">
              <a:buNone/>
            </a:pPr>
            <a:r>
              <a:rPr lang="en-US" sz="2000" b="1" dirty="0">
                <a:solidFill>
                  <a:schemeClr val="tx2"/>
                </a:solidFill>
              </a:rPr>
              <a:t>Purpose</a:t>
            </a:r>
            <a:endParaRPr lang="en-US" sz="2000" dirty="0"/>
          </a:p>
        </p:txBody>
      </p:sp>
      <p:sp>
        <p:nvSpPr>
          <p:cNvPr id="12" name="Text 7"/>
          <p:cNvSpPr txBox="1"/>
          <p:nvPr/>
        </p:nvSpPr>
        <p:spPr>
          <a:xfrm>
            <a:off x="822960" y="4160520"/>
            <a:ext cx="2966618" cy="1828800"/>
          </a:xfrm>
          <a:prstGeom prst="rect">
            <a:avLst/>
          </a:prstGeom>
          <a:noFill/>
          <a:ln/>
        </p:spPr>
        <p:txBody>
          <a:bodyPr wrap="square" lIns="0" tIns="0" rIns="0" bIns="0" rtlCol="0" anchor="t"/>
          <a:lstStyle/>
          <a:p>
            <a:pPr indent="0" marL="0">
              <a:buNone/>
            </a:pPr>
            <a:r>
              <a:rPr lang="en-US" sz="1500" dirty="0">
                <a:solidFill>
                  <a:schemeClr val="tx1"/>
                </a:solidFill>
              </a:rPr>
              <a:t>Manage changes to IT Services-maintained technology in a way that minimizes risk and impact to systems, applications, databases, devices and communications.</a:t>
            </a:r>
            <a:endParaRPr lang="en-US" sz="1500" dirty="0"/>
          </a:p>
        </p:txBody>
      </p:sp>
      <p:sp>
        <p:nvSpPr>
          <p:cNvPr id="13" name="Scope card"/>
          <p:cNvSpPr/>
          <p:nvPr/>
        </p:nvSpPr>
        <p:spPr>
          <a:xfrm>
            <a:off x="4338218" y="3017520"/>
            <a:ext cx="3515258" cy="3108960"/>
          </a:xfrm>
          <a:prstGeom prst="roundRect">
            <a:avLst>
              <a:gd name="adj" fmla="val 2353"/>
            </a:avLst>
          </a:prstGeom>
          <a:solidFill>
            <a:schemeClr val="bg2"/>
          </a:solidFill>
          <a:ln/>
        </p:spPr>
      </p:sp>
      <p:sp>
        <p:nvSpPr>
          <p:cNvPr id="14" name="Shape 9"/>
          <p:cNvSpPr/>
          <p:nvPr/>
        </p:nvSpPr>
        <p:spPr>
          <a:xfrm>
            <a:off x="4612538" y="3291840"/>
            <a:ext cx="640080" cy="640080"/>
          </a:xfrm>
          <a:prstGeom prst="ellipse">
            <a:avLst/>
          </a:prstGeom>
          <a:solidFill>
            <a:schemeClr val="accent1"/>
          </a:solidFill>
          <a:ln/>
        </p:spPr>
      </p:sp>
      <p:pic>
        <p:nvPicPr>
          <p:cNvPr id="15" name="Image 2" descr="Sitemap icon">    </p:cNvPr>
          <p:cNvPicPr>
            <a:picLocks noChangeAspect="1"/>
          </p:cNvPicPr>
          <p:nvPr/>
        </p:nvPicPr>
        <p:blipFill>
          <a:blip r:embed="rId3"/>
          <a:stretch>
            <a:fillRect/>
          </a:stretch>
        </p:blipFill>
        <p:spPr>
          <a:xfrm>
            <a:off x="4766158" y="3445459"/>
            <a:ext cx="332842" cy="332842"/>
          </a:xfrm>
          <a:prstGeom prst="rect">
            <a:avLst/>
          </a:prstGeom>
        </p:spPr>
      </p:pic>
      <p:sp>
        <p:nvSpPr>
          <p:cNvPr id="16" name="Text 10"/>
          <p:cNvSpPr txBox="1"/>
          <p:nvPr/>
        </p:nvSpPr>
        <p:spPr>
          <a:xfrm>
            <a:off x="5435498" y="3401568"/>
            <a:ext cx="2235098" cy="411480"/>
          </a:xfrm>
          <a:prstGeom prst="rect">
            <a:avLst/>
          </a:prstGeom>
          <a:noFill/>
          <a:ln/>
        </p:spPr>
        <p:txBody>
          <a:bodyPr wrap="square" lIns="0" tIns="0" rIns="0" bIns="0" rtlCol="0" anchor="t"/>
          <a:lstStyle/>
          <a:p>
            <a:pPr indent="0" marL="0">
              <a:buNone/>
            </a:pPr>
            <a:r>
              <a:rPr lang="en-US" sz="2000" b="1" dirty="0">
                <a:solidFill>
                  <a:schemeClr val="tx2"/>
                </a:solidFill>
              </a:rPr>
              <a:t>Scope</a:t>
            </a:r>
            <a:endParaRPr lang="en-US" sz="2000" dirty="0"/>
          </a:p>
        </p:txBody>
      </p:sp>
      <p:sp>
        <p:nvSpPr>
          <p:cNvPr id="17" name="Text 11"/>
          <p:cNvSpPr txBox="1"/>
          <p:nvPr/>
        </p:nvSpPr>
        <p:spPr>
          <a:xfrm>
            <a:off x="4612538" y="4160520"/>
            <a:ext cx="2966618" cy="1828800"/>
          </a:xfrm>
          <a:prstGeom prst="rect">
            <a:avLst/>
          </a:prstGeom>
          <a:noFill/>
          <a:ln/>
        </p:spPr>
        <p:txBody>
          <a:bodyPr wrap="square" lIns="0" tIns="0" rIns="0" bIns="0" rtlCol="0" anchor="t"/>
          <a:lstStyle/>
          <a:p>
            <a:pPr indent="0" marL="0">
              <a:buNone/>
            </a:pPr>
            <a:r>
              <a:rPr lang="en-US" sz="1500" dirty="0">
                <a:solidFill>
                  <a:schemeClr val="tx1"/>
                </a:solidFill>
              </a:rPr>
              <a:t>All members of IT Services, authorized members and service owners, for changes to all IT Services-managed live IT systems or services.</a:t>
            </a:r>
            <a:endParaRPr lang="en-US" sz="1500" dirty="0"/>
          </a:p>
        </p:txBody>
      </p:sp>
      <p:sp>
        <p:nvSpPr>
          <p:cNvPr id="18" name="Mission card"/>
          <p:cNvSpPr/>
          <p:nvPr/>
        </p:nvSpPr>
        <p:spPr>
          <a:xfrm>
            <a:off x="8127797" y="3017520"/>
            <a:ext cx="3515258" cy="3108960"/>
          </a:xfrm>
          <a:prstGeom prst="roundRect">
            <a:avLst>
              <a:gd name="adj" fmla="val 2353"/>
            </a:avLst>
          </a:prstGeom>
          <a:solidFill>
            <a:schemeClr val="bg2"/>
          </a:solidFill>
          <a:ln/>
        </p:spPr>
      </p:sp>
      <p:sp>
        <p:nvSpPr>
          <p:cNvPr id="19" name="Shape 13"/>
          <p:cNvSpPr/>
          <p:nvPr/>
        </p:nvSpPr>
        <p:spPr>
          <a:xfrm>
            <a:off x="8402117" y="3291840"/>
            <a:ext cx="640080" cy="640080"/>
          </a:xfrm>
          <a:prstGeom prst="ellipse">
            <a:avLst/>
          </a:prstGeom>
          <a:solidFill>
            <a:schemeClr val="accent1"/>
          </a:solidFill>
          <a:ln/>
        </p:spPr>
      </p:sp>
      <p:pic>
        <p:nvPicPr>
          <p:cNvPr id="20" name="Image 3" descr="ShieldAlt icon">    </p:cNvPr>
          <p:cNvPicPr>
            <a:picLocks noChangeAspect="1"/>
          </p:cNvPicPr>
          <p:nvPr/>
        </p:nvPicPr>
        <p:blipFill>
          <a:blip r:embed="rId4"/>
          <a:stretch>
            <a:fillRect/>
          </a:stretch>
        </p:blipFill>
        <p:spPr>
          <a:xfrm>
            <a:off x="8555736" y="3445459"/>
            <a:ext cx="332842" cy="332842"/>
          </a:xfrm>
          <a:prstGeom prst="rect">
            <a:avLst/>
          </a:prstGeom>
        </p:spPr>
      </p:pic>
      <p:sp>
        <p:nvSpPr>
          <p:cNvPr id="21" name="Text 14"/>
          <p:cNvSpPr txBox="1"/>
          <p:nvPr/>
        </p:nvSpPr>
        <p:spPr>
          <a:xfrm>
            <a:off x="9225077" y="3401568"/>
            <a:ext cx="2235098" cy="411480"/>
          </a:xfrm>
          <a:prstGeom prst="rect">
            <a:avLst/>
          </a:prstGeom>
          <a:noFill/>
          <a:ln/>
        </p:spPr>
        <p:txBody>
          <a:bodyPr wrap="square" lIns="0" tIns="0" rIns="0" bIns="0" rtlCol="0" anchor="t"/>
          <a:lstStyle/>
          <a:p>
            <a:pPr indent="0" marL="0">
              <a:buNone/>
            </a:pPr>
            <a:r>
              <a:rPr lang="en-US" sz="2000" b="1" dirty="0">
                <a:solidFill>
                  <a:schemeClr val="tx2"/>
                </a:solidFill>
              </a:rPr>
              <a:t>Mission</a:t>
            </a:r>
            <a:endParaRPr lang="en-US" sz="2000" dirty="0"/>
          </a:p>
        </p:txBody>
      </p:sp>
      <p:sp>
        <p:nvSpPr>
          <p:cNvPr id="22" name="Text 15"/>
          <p:cNvSpPr txBox="1"/>
          <p:nvPr/>
        </p:nvSpPr>
        <p:spPr>
          <a:xfrm>
            <a:off x="8402117" y="4160520"/>
            <a:ext cx="2966618" cy="1828800"/>
          </a:xfrm>
          <a:prstGeom prst="rect">
            <a:avLst/>
          </a:prstGeom>
          <a:noFill/>
          <a:ln/>
        </p:spPr>
        <p:txBody>
          <a:bodyPr wrap="square" lIns="0" tIns="0" rIns="0" bIns="0" rtlCol="0" anchor="t"/>
          <a:lstStyle/>
          <a:p>
            <a:pPr indent="0" marL="0">
              <a:buNone/>
            </a:pPr>
            <a:r>
              <a:rPr lang="en-US" sz="1500" dirty="0">
                <a:solidFill>
                  <a:schemeClr val="tx1"/>
                </a:solidFill>
              </a:rPr>
              <a:t>IT Services manages the life cycle of all systems supporting business and technical objectives. All change control processes are set out in the procedure.</a:t>
            </a:r>
            <a:endParaRPr lang="en-US" sz="15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Why do changes happen?</a:t>
            </a:r>
            <a:endParaRPr lang="en-US" sz="3400" dirty="0"/>
          </a:p>
        </p:txBody>
      </p:sp>
      <p:sp>
        <p:nvSpPr>
          <p:cNvPr id="4" name="Source 1"/>
          <p:cNvSpPr/>
          <p:nvPr/>
        </p:nvSpPr>
        <p:spPr>
          <a:xfrm>
            <a:off x="548640" y="1325880"/>
            <a:ext cx="2567864" cy="1371600"/>
          </a:xfrm>
          <a:prstGeom prst="roundRect">
            <a:avLst>
              <a:gd name="adj" fmla="val 5333"/>
            </a:avLst>
          </a:prstGeom>
          <a:solidFill>
            <a:schemeClr val="bg2"/>
          </a:solidFill>
          <a:ln/>
        </p:spPr>
      </p:sp>
      <p:sp>
        <p:nvSpPr>
          <p:cNvPr id="5" name="Shape 2"/>
          <p:cNvSpPr/>
          <p:nvPr/>
        </p:nvSpPr>
        <p:spPr>
          <a:xfrm>
            <a:off x="777240" y="1691640"/>
            <a:ext cx="640080" cy="640080"/>
          </a:xfrm>
          <a:prstGeom prst="ellipse">
            <a:avLst/>
          </a:prstGeom>
          <a:solidFill>
            <a:schemeClr val="accent1"/>
          </a:solidFill>
          <a:ln/>
        </p:spPr>
      </p:sp>
      <p:pic>
        <p:nvPicPr>
          <p:cNvPr id="6" name="Image 0" descr="Briefcase icon">    </p:cNvPr>
          <p:cNvPicPr>
            <a:picLocks noChangeAspect="1"/>
          </p:cNvPicPr>
          <p:nvPr/>
        </p:nvPicPr>
        <p:blipFill>
          <a:blip r:embed="rId1"/>
          <a:stretch>
            <a:fillRect/>
          </a:stretch>
        </p:blipFill>
        <p:spPr>
          <a:xfrm>
            <a:off x="930859" y="1845259"/>
            <a:ext cx="332842" cy="332842"/>
          </a:xfrm>
          <a:prstGeom prst="rect">
            <a:avLst/>
          </a:prstGeom>
        </p:spPr>
      </p:pic>
      <p:sp>
        <p:nvSpPr>
          <p:cNvPr id="7" name="Text 3"/>
          <p:cNvSpPr txBox="1"/>
          <p:nvPr/>
        </p:nvSpPr>
        <p:spPr>
          <a:xfrm>
            <a:off x="1554480" y="15087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Business change requests</a:t>
            </a:r>
            <a:endParaRPr lang="en-US" sz="1500" dirty="0"/>
          </a:p>
        </p:txBody>
      </p:sp>
      <p:sp>
        <p:nvSpPr>
          <p:cNvPr id="8" name="Source 2"/>
          <p:cNvSpPr/>
          <p:nvPr/>
        </p:nvSpPr>
        <p:spPr>
          <a:xfrm>
            <a:off x="3390824" y="1325880"/>
            <a:ext cx="2567864" cy="1371600"/>
          </a:xfrm>
          <a:prstGeom prst="roundRect">
            <a:avLst>
              <a:gd name="adj" fmla="val 5333"/>
            </a:avLst>
          </a:prstGeom>
          <a:solidFill>
            <a:schemeClr val="bg2"/>
          </a:solidFill>
          <a:ln/>
        </p:spPr>
      </p:sp>
      <p:sp>
        <p:nvSpPr>
          <p:cNvPr id="9" name="Shape 5"/>
          <p:cNvSpPr/>
          <p:nvPr/>
        </p:nvSpPr>
        <p:spPr>
          <a:xfrm>
            <a:off x="3619424" y="1691640"/>
            <a:ext cx="640080" cy="640080"/>
          </a:xfrm>
          <a:prstGeom prst="ellipse">
            <a:avLst/>
          </a:prstGeom>
          <a:solidFill>
            <a:schemeClr val="accent1"/>
          </a:solidFill>
          <a:ln/>
        </p:spPr>
      </p:sp>
      <p:pic>
        <p:nvPicPr>
          <p:cNvPr id="10" name="Image 1" descr="Handshake icon">    </p:cNvPr>
          <p:cNvPicPr>
            <a:picLocks noChangeAspect="1"/>
          </p:cNvPicPr>
          <p:nvPr/>
        </p:nvPicPr>
        <p:blipFill>
          <a:blip r:embed="rId2"/>
          <a:stretch>
            <a:fillRect/>
          </a:stretch>
        </p:blipFill>
        <p:spPr>
          <a:xfrm>
            <a:off x="3773043" y="1845259"/>
            <a:ext cx="332842" cy="332842"/>
          </a:xfrm>
          <a:prstGeom prst="rect">
            <a:avLst/>
          </a:prstGeom>
        </p:spPr>
      </p:pic>
      <p:sp>
        <p:nvSpPr>
          <p:cNvPr id="11" name="Text 6"/>
          <p:cNvSpPr txBox="1"/>
          <p:nvPr/>
        </p:nvSpPr>
        <p:spPr>
          <a:xfrm>
            <a:off x="4396664" y="15087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Vendor recommended or required changes</a:t>
            </a:r>
            <a:endParaRPr lang="en-US" sz="1500" dirty="0"/>
          </a:p>
        </p:txBody>
      </p:sp>
      <p:sp>
        <p:nvSpPr>
          <p:cNvPr id="12" name="Source 3"/>
          <p:cNvSpPr/>
          <p:nvPr/>
        </p:nvSpPr>
        <p:spPr>
          <a:xfrm>
            <a:off x="6233008" y="1325880"/>
            <a:ext cx="2567864" cy="1371600"/>
          </a:xfrm>
          <a:prstGeom prst="roundRect">
            <a:avLst>
              <a:gd name="adj" fmla="val 5333"/>
            </a:avLst>
          </a:prstGeom>
          <a:solidFill>
            <a:schemeClr val="bg2"/>
          </a:solidFill>
          <a:ln/>
        </p:spPr>
      </p:sp>
      <p:sp>
        <p:nvSpPr>
          <p:cNvPr id="13" name="Shape 8"/>
          <p:cNvSpPr/>
          <p:nvPr/>
        </p:nvSpPr>
        <p:spPr>
          <a:xfrm>
            <a:off x="6461608" y="1691640"/>
            <a:ext cx="640080" cy="640080"/>
          </a:xfrm>
          <a:prstGeom prst="ellipse">
            <a:avLst/>
          </a:prstGeom>
          <a:solidFill>
            <a:schemeClr val="accent1"/>
          </a:solidFill>
          <a:ln/>
        </p:spPr>
      </p:sp>
      <p:pic>
        <p:nvPicPr>
          <p:cNvPr id="14" name="Image 2" descr="BalanceScale icon">    </p:cNvPr>
          <p:cNvPicPr>
            <a:picLocks noChangeAspect="1"/>
          </p:cNvPicPr>
          <p:nvPr/>
        </p:nvPicPr>
        <p:blipFill>
          <a:blip r:embed="rId3"/>
          <a:stretch>
            <a:fillRect/>
          </a:stretch>
        </p:blipFill>
        <p:spPr>
          <a:xfrm>
            <a:off x="6615227" y="1845259"/>
            <a:ext cx="332842" cy="332842"/>
          </a:xfrm>
          <a:prstGeom prst="rect">
            <a:avLst/>
          </a:prstGeom>
        </p:spPr>
      </p:pic>
      <p:sp>
        <p:nvSpPr>
          <p:cNvPr id="15" name="Text 9"/>
          <p:cNvSpPr txBox="1"/>
          <p:nvPr/>
        </p:nvSpPr>
        <p:spPr>
          <a:xfrm>
            <a:off x="7238848" y="15087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Changes in regulations</a:t>
            </a:r>
            <a:endParaRPr lang="en-US" sz="1500" dirty="0"/>
          </a:p>
        </p:txBody>
      </p:sp>
      <p:sp>
        <p:nvSpPr>
          <p:cNvPr id="16" name="Source 4"/>
          <p:cNvSpPr/>
          <p:nvPr/>
        </p:nvSpPr>
        <p:spPr>
          <a:xfrm>
            <a:off x="9075191" y="1325880"/>
            <a:ext cx="2567864" cy="1371600"/>
          </a:xfrm>
          <a:prstGeom prst="roundRect">
            <a:avLst>
              <a:gd name="adj" fmla="val 5333"/>
            </a:avLst>
          </a:prstGeom>
          <a:solidFill>
            <a:schemeClr val="bg2"/>
          </a:solidFill>
          <a:ln/>
        </p:spPr>
      </p:sp>
      <p:sp>
        <p:nvSpPr>
          <p:cNvPr id="17" name="Shape 11"/>
          <p:cNvSpPr/>
          <p:nvPr/>
        </p:nvSpPr>
        <p:spPr>
          <a:xfrm>
            <a:off x="9303791" y="1691640"/>
            <a:ext cx="640080" cy="640080"/>
          </a:xfrm>
          <a:prstGeom prst="ellipse">
            <a:avLst/>
          </a:prstGeom>
          <a:solidFill>
            <a:schemeClr val="accent1"/>
          </a:solidFill>
          <a:ln/>
        </p:spPr>
      </p:sp>
      <p:pic>
        <p:nvPicPr>
          <p:cNvPr id="18" name="Image 3" descr="SyncAlt icon">    </p:cNvPr>
          <p:cNvPicPr>
            <a:picLocks noChangeAspect="1"/>
          </p:cNvPicPr>
          <p:nvPr/>
        </p:nvPicPr>
        <p:blipFill>
          <a:blip r:embed="rId4"/>
          <a:stretch>
            <a:fillRect/>
          </a:stretch>
        </p:blipFill>
        <p:spPr>
          <a:xfrm>
            <a:off x="9457411" y="1845259"/>
            <a:ext cx="332842" cy="332842"/>
          </a:xfrm>
          <a:prstGeom prst="rect">
            <a:avLst/>
          </a:prstGeom>
        </p:spPr>
      </p:pic>
      <p:sp>
        <p:nvSpPr>
          <p:cNvPr id="19" name="Text 12"/>
          <p:cNvSpPr txBox="1"/>
          <p:nvPr/>
        </p:nvSpPr>
        <p:spPr>
          <a:xfrm>
            <a:off x="10081031" y="15087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Hardware / software upgrades &amp; updates</a:t>
            </a:r>
            <a:endParaRPr lang="en-US" sz="1500" dirty="0"/>
          </a:p>
        </p:txBody>
      </p:sp>
      <p:sp>
        <p:nvSpPr>
          <p:cNvPr id="20" name="Source 5"/>
          <p:cNvSpPr/>
          <p:nvPr/>
        </p:nvSpPr>
        <p:spPr>
          <a:xfrm>
            <a:off x="548640" y="2926080"/>
            <a:ext cx="2567864" cy="1371600"/>
          </a:xfrm>
          <a:prstGeom prst="roundRect">
            <a:avLst>
              <a:gd name="adj" fmla="val 5333"/>
            </a:avLst>
          </a:prstGeom>
          <a:solidFill>
            <a:schemeClr val="bg2"/>
          </a:solidFill>
          <a:ln/>
        </p:spPr>
      </p:sp>
      <p:sp>
        <p:nvSpPr>
          <p:cNvPr id="21" name="Shape 14"/>
          <p:cNvSpPr/>
          <p:nvPr/>
        </p:nvSpPr>
        <p:spPr>
          <a:xfrm>
            <a:off x="777240" y="3291840"/>
            <a:ext cx="640080" cy="640080"/>
          </a:xfrm>
          <a:prstGeom prst="ellipse">
            <a:avLst/>
          </a:prstGeom>
          <a:solidFill>
            <a:schemeClr val="accent1"/>
          </a:solidFill>
          <a:ln/>
        </p:spPr>
      </p:sp>
      <p:pic>
        <p:nvPicPr>
          <p:cNvPr id="22" name="Image 4" descr="ExclamationTriangle icon">    </p:cNvPr>
          <p:cNvPicPr>
            <a:picLocks noChangeAspect="1"/>
          </p:cNvPicPr>
          <p:nvPr/>
        </p:nvPicPr>
        <p:blipFill>
          <a:blip r:embed="rId5"/>
          <a:stretch>
            <a:fillRect/>
          </a:stretch>
        </p:blipFill>
        <p:spPr>
          <a:xfrm>
            <a:off x="930859" y="3445459"/>
            <a:ext cx="332842" cy="332842"/>
          </a:xfrm>
          <a:prstGeom prst="rect">
            <a:avLst/>
          </a:prstGeom>
        </p:spPr>
      </p:pic>
      <p:sp>
        <p:nvSpPr>
          <p:cNvPr id="23" name="Text 15"/>
          <p:cNvSpPr txBox="1"/>
          <p:nvPr/>
        </p:nvSpPr>
        <p:spPr>
          <a:xfrm>
            <a:off x="1554480" y="31089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Hardware or software failures</a:t>
            </a:r>
            <a:endParaRPr lang="en-US" sz="1500" dirty="0"/>
          </a:p>
        </p:txBody>
      </p:sp>
      <p:sp>
        <p:nvSpPr>
          <p:cNvPr id="24" name="Source 6"/>
          <p:cNvSpPr/>
          <p:nvPr/>
        </p:nvSpPr>
        <p:spPr>
          <a:xfrm>
            <a:off x="3390824" y="2926080"/>
            <a:ext cx="2567864" cy="1371600"/>
          </a:xfrm>
          <a:prstGeom prst="roundRect">
            <a:avLst>
              <a:gd name="adj" fmla="val 5333"/>
            </a:avLst>
          </a:prstGeom>
          <a:solidFill>
            <a:schemeClr val="bg2"/>
          </a:solidFill>
          <a:ln/>
        </p:spPr>
      </p:sp>
      <p:sp>
        <p:nvSpPr>
          <p:cNvPr id="25" name="Shape 17"/>
          <p:cNvSpPr/>
          <p:nvPr/>
        </p:nvSpPr>
        <p:spPr>
          <a:xfrm>
            <a:off x="3619424" y="3291840"/>
            <a:ext cx="640080" cy="640080"/>
          </a:xfrm>
          <a:prstGeom prst="ellipse">
            <a:avLst/>
          </a:prstGeom>
          <a:solidFill>
            <a:schemeClr val="accent1"/>
          </a:solidFill>
          <a:ln/>
        </p:spPr>
      </p:sp>
      <p:pic>
        <p:nvPicPr>
          <p:cNvPr id="26" name="Image 5" descr="Bug icon">    </p:cNvPr>
          <p:cNvPicPr>
            <a:picLocks noChangeAspect="1"/>
          </p:cNvPicPr>
          <p:nvPr/>
        </p:nvPicPr>
        <p:blipFill>
          <a:blip r:embed="rId6"/>
          <a:stretch>
            <a:fillRect/>
          </a:stretch>
        </p:blipFill>
        <p:spPr>
          <a:xfrm>
            <a:off x="3773043" y="3445459"/>
            <a:ext cx="332842" cy="332842"/>
          </a:xfrm>
          <a:prstGeom prst="rect">
            <a:avLst/>
          </a:prstGeom>
        </p:spPr>
      </p:pic>
      <p:sp>
        <p:nvSpPr>
          <p:cNvPr id="27" name="Text 18"/>
          <p:cNvSpPr txBox="1"/>
          <p:nvPr/>
        </p:nvSpPr>
        <p:spPr>
          <a:xfrm>
            <a:off x="4396664" y="31089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Fixing defects in systems</a:t>
            </a:r>
            <a:endParaRPr lang="en-US" sz="1500" dirty="0"/>
          </a:p>
        </p:txBody>
      </p:sp>
      <p:sp>
        <p:nvSpPr>
          <p:cNvPr id="28" name="Source 7"/>
          <p:cNvSpPr/>
          <p:nvPr/>
        </p:nvSpPr>
        <p:spPr>
          <a:xfrm>
            <a:off x="6233008" y="2926080"/>
            <a:ext cx="2567864" cy="1371600"/>
          </a:xfrm>
          <a:prstGeom prst="roundRect">
            <a:avLst>
              <a:gd name="adj" fmla="val 5333"/>
            </a:avLst>
          </a:prstGeom>
          <a:solidFill>
            <a:schemeClr val="bg2"/>
          </a:solidFill>
          <a:ln/>
        </p:spPr>
      </p:sp>
      <p:sp>
        <p:nvSpPr>
          <p:cNvPr id="29" name="Shape 20"/>
          <p:cNvSpPr/>
          <p:nvPr/>
        </p:nvSpPr>
        <p:spPr>
          <a:xfrm>
            <a:off x="6461608" y="3291840"/>
            <a:ext cx="640080" cy="640080"/>
          </a:xfrm>
          <a:prstGeom prst="ellipse">
            <a:avLst/>
          </a:prstGeom>
          <a:solidFill>
            <a:schemeClr val="accent1"/>
          </a:solidFill>
          <a:ln/>
        </p:spPr>
      </p:sp>
      <p:pic>
        <p:nvPicPr>
          <p:cNvPr id="30" name="Image 6" descr="Server icon">    </p:cNvPr>
          <p:cNvPicPr>
            <a:picLocks noChangeAspect="1"/>
          </p:cNvPicPr>
          <p:nvPr/>
        </p:nvPicPr>
        <p:blipFill>
          <a:blip r:embed="rId7"/>
          <a:stretch>
            <a:fillRect/>
          </a:stretch>
        </p:blipFill>
        <p:spPr>
          <a:xfrm>
            <a:off x="6615227" y="3445459"/>
            <a:ext cx="332842" cy="332842"/>
          </a:xfrm>
          <a:prstGeom prst="rect">
            <a:avLst/>
          </a:prstGeom>
        </p:spPr>
      </p:pic>
      <p:sp>
        <p:nvSpPr>
          <p:cNvPr id="31" name="Text 21"/>
          <p:cNvSpPr txBox="1"/>
          <p:nvPr/>
        </p:nvSpPr>
        <p:spPr>
          <a:xfrm>
            <a:off x="7238848" y="31089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Infrastructure changes</a:t>
            </a:r>
            <a:endParaRPr lang="en-US" sz="1500" dirty="0"/>
          </a:p>
        </p:txBody>
      </p:sp>
      <p:sp>
        <p:nvSpPr>
          <p:cNvPr id="32" name="Source 8"/>
          <p:cNvSpPr/>
          <p:nvPr/>
        </p:nvSpPr>
        <p:spPr>
          <a:xfrm>
            <a:off x="9075191" y="2926080"/>
            <a:ext cx="2567864" cy="1371600"/>
          </a:xfrm>
          <a:prstGeom prst="roundRect">
            <a:avLst>
              <a:gd name="adj" fmla="val 5333"/>
            </a:avLst>
          </a:prstGeom>
          <a:solidFill>
            <a:schemeClr val="bg2"/>
          </a:solidFill>
          <a:ln/>
        </p:spPr>
      </p:sp>
      <p:sp>
        <p:nvSpPr>
          <p:cNvPr id="33" name="Shape 23"/>
          <p:cNvSpPr/>
          <p:nvPr/>
        </p:nvSpPr>
        <p:spPr>
          <a:xfrm>
            <a:off x="9303791" y="3291840"/>
            <a:ext cx="640080" cy="640080"/>
          </a:xfrm>
          <a:prstGeom prst="ellipse">
            <a:avLst/>
          </a:prstGeom>
          <a:solidFill>
            <a:schemeClr val="accent1"/>
          </a:solidFill>
          <a:ln/>
        </p:spPr>
      </p:sp>
      <p:pic>
        <p:nvPicPr>
          <p:cNvPr id="34" name="Image 7" descr="ThermometerHalf icon">    </p:cNvPr>
          <p:cNvPicPr>
            <a:picLocks noChangeAspect="1"/>
          </p:cNvPicPr>
          <p:nvPr/>
        </p:nvPicPr>
        <p:blipFill>
          <a:blip r:embed="rId8"/>
          <a:stretch>
            <a:fillRect/>
          </a:stretch>
        </p:blipFill>
        <p:spPr>
          <a:xfrm>
            <a:off x="9457411" y="3445459"/>
            <a:ext cx="332842" cy="332842"/>
          </a:xfrm>
          <a:prstGeom prst="rect">
            <a:avLst/>
          </a:prstGeom>
        </p:spPr>
      </p:pic>
      <p:sp>
        <p:nvSpPr>
          <p:cNvPr id="35" name="Text 24"/>
          <p:cNvSpPr txBox="1"/>
          <p:nvPr/>
        </p:nvSpPr>
        <p:spPr>
          <a:xfrm>
            <a:off x="10081031" y="31089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Environmental changes (power, cooling, data center)</a:t>
            </a:r>
            <a:endParaRPr lang="en-US" sz="1500" dirty="0"/>
          </a:p>
        </p:txBody>
      </p:sp>
      <p:sp>
        <p:nvSpPr>
          <p:cNvPr id="36" name="Source 9"/>
          <p:cNvSpPr/>
          <p:nvPr/>
        </p:nvSpPr>
        <p:spPr>
          <a:xfrm>
            <a:off x="548640" y="4526280"/>
            <a:ext cx="2567864" cy="1371600"/>
          </a:xfrm>
          <a:prstGeom prst="roundRect">
            <a:avLst>
              <a:gd name="adj" fmla="val 5333"/>
            </a:avLst>
          </a:prstGeom>
          <a:solidFill>
            <a:schemeClr val="bg2"/>
          </a:solidFill>
          <a:ln/>
        </p:spPr>
      </p:sp>
      <p:sp>
        <p:nvSpPr>
          <p:cNvPr id="37" name="Shape 26"/>
          <p:cNvSpPr/>
          <p:nvPr/>
        </p:nvSpPr>
        <p:spPr>
          <a:xfrm>
            <a:off x="777240" y="4892040"/>
            <a:ext cx="640080" cy="640080"/>
          </a:xfrm>
          <a:prstGeom prst="ellipse">
            <a:avLst/>
          </a:prstGeom>
          <a:solidFill>
            <a:schemeClr val="accent1"/>
          </a:solidFill>
          <a:ln/>
        </p:spPr>
      </p:sp>
      <p:pic>
        <p:nvPicPr>
          <p:cNvPr id="38" name="Image 8" descr="Bolt icon">    </p:cNvPr>
          <p:cNvPicPr>
            <a:picLocks noChangeAspect="1"/>
          </p:cNvPicPr>
          <p:nvPr/>
        </p:nvPicPr>
        <p:blipFill>
          <a:blip r:embed="rId9"/>
          <a:stretch>
            <a:fillRect/>
          </a:stretch>
        </p:blipFill>
        <p:spPr>
          <a:xfrm>
            <a:off x="930859" y="5045659"/>
            <a:ext cx="332842" cy="332842"/>
          </a:xfrm>
          <a:prstGeom prst="rect">
            <a:avLst/>
          </a:prstGeom>
        </p:spPr>
      </p:pic>
      <p:sp>
        <p:nvSpPr>
          <p:cNvPr id="39" name="Text 27"/>
          <p:cNvSpPr txBox="1"/>
          <p:nvPr/>
        </p:nvSpPr>
        <p:spPr>
          <a:xfrm>
            <a:off x="1554480" y="47091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Unforeseen events</a:t>
            </a:r>
            <a:endParaRPr lang="en-US" sz="1500" dirty="0"/>
          </a:p>
        </p:txBody>
      </p:sp>
      <p:sp>
        <p:nvSpPr>
          <p:cNvPr id="40" name="Source 10"/>
          <p:cNvSpPr/>
          <p:nvPr/>
        </p:nvSpPr>
        <p:spPr>
          <a:xfrm>
            <a:off x="3390824" y="4526280"/>
            <a:ext cx="2567864" cy="1371600"/>
          </a:xfrm>
          <a:prstGeom prst="roundRect">
            <a:avLst>
              <a:gd name="adj" fmla="val 5333"/>
            </a:avLst>
          </a:prstGeom>
          <a:solidFill>
            <a:schemeClr val="bg2"/>
          </a:solidFill>
          <a:ln/>
        </p:spPr>
      </p:sp>
      <p:sp>
        <p:nvSpPr>
          <p:cNvPr id="41" name="Shape 29"/>
          <p:cNvSpPr/>
          <p:nvPr/>
        </p:nvSpPr>
        <p:spPr>
          <a:xfrm>
            <a:off x="3619424" y="4892040"/>
            <a:ext cx="640080" cy="640080"/>
          </a:xfrm>
          <a:prstGeom prst="ellipse">
            <a:avLst/>
          </a:prstGeom>
          <a:solidFill>
            <a:schemeClr val="accent1"/>
          </a:solidFill>
          <a:ln/>
        </p:spPr>
      </p:sp>
      <p:pic>
        <p:nvPicPr>
          <p:cNvPr id="42" name="Image 9" descr="Lock icon">    </p:cNvPr>
          <p:cNvPicPr>
            <a:picLocks noChangeAspect="1"/>
          </p:cNvPicPr>
          <p:nvPr/>
        </p:nvPicPr>
        <p:blipFill>
          <a:blip r:embed="rId10"/>
          <a:stretch>
            <a:fillRect/>
          </a:stretch>
        </p:blipFill>
        <p:spPr>
          <a:xfrm>
            <a:off x="3773043" y="5045659"/>
            <a:ext cx="332842" cy="332842"/>
          </a:xfrm>
          <a:prstGeom prst="rect">
            <a:avLst/>
          </a:prstGeom>
        </p:spPr>
      </p:pic>
      <p:sp>
        <p:nvSpPr>
          <p:cNvPr id="43" name="Text 30"/>
          <p:cNvSpPr txBox="1"/>
          <p:nvPr/>
        </p:nvSpPr>
        <p:spPr>
          <a:xfrm>
            <a:off x="4396664" y="47091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Security requirements</a:t>
            </a:r>
            <a:endParaRPr lang="en-US" sz="1500" dirty="0"/>
          </a:p>
        </p:txBody>
      </p:sp>
      <p:sp>
        <p:nvSpPr>
          <p:cNvPr id="44" name="Source 11"/>
          <p:cNvSpPr/>
          <p:nvPr/>
        </p:nvSpPr>
        <p:spPr>
          <a:xfrm>
            <a:off x="6233008" y="4526280"/>
            <a:ext cx="2567864" cy="1371600"/>
          </a:xfrm>
          <a:prstGeom prst="roundRect">
            <a:avLst>
              <a:gd name="adj" fmla="val 5333"/>
            </a:avLst>
          </a:prstGeom>
          <a:solidFill>
            <a:schemeClr val="bg2"/>
          </a:solidFill>
          <a:ln/>
        </p:spPr>
      </p:sp>
      <p:sp>
        <p:nvSpPr>
          <p:cNvPr id="45" name="Shape 32"/>
          <p:cNvSpPr/>
          <p:nvPr/>
        </p:nvSpPr>
        <p:spPr>
          <a:xfrm>
            <a:off x="6461608" y="4892040"/>
            <a:ext cx="640080" cy="640080"/>
          </a:xfrm>
          <a:prstGeom prst="ellipse">
            <a:avLst/>
          </a:prstGeom>
          <a:solidFill>
            <a:schemeClr val="accent1"/>
          </a:solidFill>
          <a:ln/>
        </p:spPr>
      </p:sp>
      <p:pic>
        <p:nvPicPr>
          <p:cNvPr id="46" name="Image 10" descr="Wrench icon">    </p:cNvPr>
          <p:cNvPicPr>
            <a:picLocks noChangeAspect="1"/>
          </p:cNvPicPr>
          <p:nvPr/>
        </p:nvPicPr>
        <p:blipFill>
          <a:blip r:embed="rId11"/>
          <a:stretch>
            <a:fillRect/>
          </a:stretch>
        </p:blipFill>
        <p:spPr>
          <a:xfrm>
            <a:off x="6615227" y="5045659"/>
            <a:ext cx="332842" cy="332842"/>
          </a:xfrm>
          <a:prstGeom prst="rect">
            <a:avLst/>
          </a:prstGeom>
        </p:spPr>
      </p:pic>
      <p:sp>
        <p:nvSpPr>
          <p:cNvPr id="47" name="Text 33"/>
          <p:cNvSpPr txBox="1"/>
          <p:nvPr/>
        </p:nvSpPr>
        <p:spPr>
          <a:xfrm>
            <a:off x="7238848" y="4709160"/>
            <a:ext cx="1424864" cy="1005840"/>
          </a:xfrm>
          <a:prstGeom prst="rect">
            <a:avLst/>
          </a:prstGeom>
          <a:noFill/>
          <a:ln/>
        </p:spPr>
        <p:txBody>
          <a:bodyPr wrap="square" lIns="0" tIns="0" rIns="0" bIns="0" rtlCol="0" anchor="ctr"/>
          <a:lstStyle/>
          <a:p>
            <a:pPr indent="0" marL="0">
              <a:buNone/>
            </a:pPr>
            <a:r>
              <a:rPr lang="en-US" sz="1500" b="1" dirty="0">
                <a:solidFill>
                  <a:schemeClr val="tx2"/>
                </a:solidFill>
              </a:rPr>
              <a:t>Periodic maintenance</a:t>
            </a:r>
            <a:endParaRPr lang="en-US" sz="1500" dirty="0"/>
          </a:p>
        </p:txBody>
      </p:sp>
      <p:sp>
        <p:nvSpPr>
          <p:cNvPr id="48" name="Note card"/>
          <p:cNvSpPr/>
          <p:nvPr/>
        </p:nvSpPr>
        <p:spPr>
          <a:xfrm>
            <a:off x="9075191" y="4526280"/>
            <a:ext cx="2567864" cy="1371600"/>
          </a:xfrm>
          <a:prstGeom prst="roundRect">
            <a:avLst>
              <a:gd name="adj" fmla="val 5333"/>
            </a:avLst>
          </a:prstGeom>
          <a:solidFill>
            <a:schemeClr val="tx2"/>
          </a:solidFill>
          <a:ln/>
        </p:spPr>
      </p:sp>
      <p:sp>
        <p:nvSpPr>
          <p:cNvPr id="49" name="Text 35"/>
          <p:cNvSpPr txBox="1"/>
          <p:nvPr/>
        </p:nvSpPr>
        <p:spPr>
          <a:xfrm>
            <a:off x="9303791" y="4709160"/>
            <a:ext cx="2110664" cy="1005840"/>
          </a:xfrm>
          <a:prstGeom prst="rect">
            <a:avLst/>
          </a:prstGeom>
          <a:noFill/>
          <a:ln/>
        </p:spPr>
        <p:txBody>
          <a:bodyPr wrap="square" lIns="0" tIns="0" rIns="0" bIns="0" rtlCol="0" anchor="ctr"/>
          <a:lstStyle/>
          <a:p>
            <a:pPr indent="0" marL="0">
              <a:buNone/>
            </a:pPr>
            <a:r>
              <a:rPr lang="en-US" sz="1500" i="1" dirty="0">
                <a:solidFill>
                  <a:schemeClr val="bg1"/>
                </a:solidFill>
              </a:rPr>
              <a:t>…and any other event that can affect stability or business flow</a:t>
            </a:r>
            <a:endParaRPr lang="en-US" sz="15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Types of change at the IT CAB</a:t>
            </a:r>
            <a:endParaRPr lang="en-US" sz="3400" dirty="0"/>
          </a:p>
        </p:txBody>
      </p:sp>
      <p:sp>
        <p:nvSpPr>
          <p:cNvPr id="4" name="Normal card"/>
          <p:cNvSpPr/>
          <p:nvPr/>
        </p:nvSpPr>
        <p:spPr>
          <a:xfrm>
            <a:off x="548640" y="1371600"/>
            <a:ext cx="1999427" cy="4709160"/>
          </a:xfrm>
          <a:prstGeom prst="roundRect">
            <a:avLst>
              <a:gd name="adj" fmla="val 3659"/>
            </a:avLst>
          </a:prstGeom>
          <a:solidFill>
            <a:schemeClr val="bg2"/>
          </a:solidFill>
          <a:ln/>
        </p:spPr>
      </p:sp>
      <p:sp>
        <p:nvSpPr>
          <p:cNvPr id="5" name="Shape 2"/>
          <p:cNvSpPr/>
          <p:nvPr/>
        </p:nvSpPr>
        <p:spPr>
          <a:xfrm>
            <a:off x="1136874" y="1691640"/>
            <a:ext cx="822960" cy="822960"/>
          </a:xfrm>
          <a:prstGeom prst="ellipse">
            <a:avLst/>
          </a:prstGeom>
          <a:solidFill>
            <a:schemeClr val="accent1"/>
          </a:solidFill>
          <a:ln/>
        </p:spPr>
      </p:sp>
      <p:pic>
        <p:nvPicPr>
          <p:cNvPr id="6" name="Image 0" descr="CheckCircle icon">    </p:cNvPr>
          <p:cNvPicPr>
            <a:picLocks noChangeAspect="1"/>
          </p:cNvPicPr>
          <p:nvPr/>
        </p:nvPicPr>
        <p:blipFill>
          <a:blip r:embed="rId1"/>
          <a:stretch>
            <a:fillRect/>
          </a:stretch>
        </p:blipFill>
        <p:spPr>
          <a:xfrm>
            <a:off x="1334384" y="1889150"/>
            <a:ext cx="427939" cy="427939"/>
          </a:xfrm>
          <a:prstGeom prst="rect">
            <a:avLst/>
          </a:prstGeom>
        </p:spPr>
      </p:pic>
      <p:sp>
        <p:nvSpPr>
          <p:cNvPr id="7" name="Text 3"/>
          <p:cNvSpPr txBox="1"/>
          <p:nvPr/>
        </p:nvSpPr>
        <p:spPr>
          <a:xfrm>
            <a:off x="731520" y="2697480"/>
            <a:ext cx="1633667" cy="685800"/>
          </a:xfrm>
          <a:prstGeom prst="rect">
            <a:avLst/>
          </a:prstGeom>
          <a:noFill/>
          <a:ln/>
        </p:spPr>
        <p:txBody>
          <a:bodyPr wrap="square" lIns="0" tIns="0" rIns="0" bIns="0" rtlCol="0" anchor="ctr"/>
          <a:lstStyle/>
          <a:p>
            <a:pPr algn="ctr" indent="0" marL="0">
              <a:buNone/>
            </a:pPr>
            <a:r>
              <a:rPr lang="en-US" sz="1800" b="1" dirty="0">
                <a:solidFill>
                  <a:schemeClr val="tx2"/>
                </a:solidFill>
              </a:rPr>
              <a:t>Normal</a:t>
            </a:r>
            <a:endParaRPr lang="en-US" sz="1800" dirty="0"/>
          </a:p>
        </p:txBody>
      </p:sp>
      <p:sp>
        <p:nvSpPr>
          <p:cNvPr id="8" name="Text 4"/>
          <p:cNvSpPr txBox="1"/>
          <p:nvPr/>
        </p:nvSpPr>
        <p:spPr>
          <a:xfrm>
            <a:off x="731520" y="3383280"/>
            <a:ext cx="1633667" cy="320040"/>
          </a:xfrm>
          <a:prstGeom prst="rect">
            <a:avLst/>
          </a:prstGeom>
          <a:noFill/>
          <a:ln/>
        </p:spPr>
        <p:txBody>
          <a:bodyPr wrap="square" lIns="0" tIns="0" rIns="0" bIns="0" rtlCol="0" anchor="t"/>
          <a:lstStyle/>
          <a:p>
            <a:pPr algn="ctr" indent="0" marL="0">
              <a:buNone/>
            </a:pPr>
            <a:r>
              <a:rPr lang="en-US" sz="1300" b="1" dirty="0">
                <a:solidFill>
                  <a:schemeClr val="accent1"/>
                </a:solidFill>
              </a:rPr>
              <a:t>Minor / routine</a:t>
            </a:r>
            <a:endParaRPr lang="en-US" sz="1300" dirty="0"/>
          </a:p>
        </p:txBody>
      </p:sp>
      <p:sp>
        <p:nvSpPr>
          <p:cNvPr id="9" name="Text 5"/>
          <p:cNvSpPr txBox="1"/>
          <p:nvPr/>
        </p:nvSpPr>
        <p:spPr>
          <a:xfrm>
            <a:off x="749808" y="3840480"/>
            <a:ext cx="1597091" cy="2103120"/>
          </a:xfrm>
          <a:prstGeom prst="rect">
            <a:avLst/>
          </a:prstGeom>
          <a:noFill/>
          <a:ln/>
        </p:spPr>
        <p:txBody>
          <a:bodyPr wrap="square" lIns="0" tIns="0" rIns="0" bIns="0" rtlCol="0" anchor="t"/>
          <a:lstStyle/>
          <a:p>
            <a:pPr indent="0" marL="0">
              <a:buNone/>
            </a:pPr>
            <a:r>
              <a:rPr lang="en-US" sz="1600" dirty="0">
                <a:solidFill>
                  <a:schemeClr val="tx1"/>
                </a:solidFill>
              </a:rPr>
              <a:t>Low-risk changes with known, well-documented procedures. Can be done at any time.</a:t>
            </a:r>
            <a:endParaRPr lang="en-US" sz="1600" dirty="0"/>
          </a:p>
        </p:txBody>
      </p:sp>
      <p:sp>
        <p:nvSpPr>
          <p:cNvPr id="10" name="Pre-Approval card"/>
          <p:cNvSpPr/>
          <p:nvPr/>
        </p:nvSpPr>
        <p:spPr>
          <a:xfrm>
            <a:off x="2822387" y="1371600"/>
            <a:ext cx="1999427" cy="4709160"/>
          </a:xfrm>
          <a:prstGeom prst="roundRect">
            <a:avLst>
              <a:gd name="adj" fmla="val 3659"/>
            </a:avLst>
          </a:prstGeom>
          <a:solidFill>
            <a:schemeClr val="bg2"/>
          </a:solidFill>
          <a:ln/>
        </p:spPr>
      </p:sp>
      <p:sp>
        <p:nvSpPr>
          <p:cNvPr id="11" name="Shape 7"/>
          <p:cNvSpPr/>
          <p:nvPr/>
        </p:nvSpPr>
        <p:spPr>
          <a:xfrm>
            <a:off x="3410621" y="1691640"/>
            <a:ext cx="822960" cy="822960"/>
          </a:xfrm>
          <a:prstGeom prst="ellipse">
            <a:avLst/>
          </a:prstGeom>
          <a:solidFill>
            <a:schemeClr val="accent1"/>
          </a:solidFill>
          <a:ln/>
        </p:spPr>
      </p:sp>
      <p:pic>
        <p:nvPicPr>
          <p:cNvPr id="12" name="Image 1" descr="CalendarCheck icon">    </p:cNvPr>
          <p:cNvPicPr>
            <a:picLocks noChangeAspect="1"/>
          </p:cNvPicPr>
          <p:nvPr/>
        </p:nvPicPr>
        <p:blipFill>
          <a:blip r:embed="rId2"/>
          <a:stretch>
            <a:fillRect/>
          </a:stretch>
        </p:blipFill>
        <p:spPr>
          <a:xfrm>
            <a:off x="3608131" y="1889150"/>
            <a:ext cx="427939" cy="427939"/>
          </a:xfrm>
          <a:prstGeom prst="rect">
            <a:avLst/>
          </a:prstGeom>
        </p:spPr>
      </p:pic>
      <p:sp>
        <p:nvSpPr>
          <p:cNvPr id="13" name="Text 8"/>
          <p:cNvSpPr txBox="1"/>
          <p:nvPr/>
        </p:nvSpPr>
        <p:spPr>
          <a:xfrm>
            <a:off x="3005267" y="2697480"/>
            <a:ext cx="1633667" cy="685800"/>
          </a:xfrm>
          <a:prstGeom prst="rect">
            <a:avLst/>
          </a:prstGeom>
          <a:noFill/>
          <a:ln/>
        </p:spPr>
        <p:txBody>
          <a:bodyPr wrap="square" lIns="0" tIns="0" rIns="0" bIns="0" rtlCol="0" anchor="ctr"/>
          <a:lstStyle/>
          <a:p>
            <a:pPr algn="ctr" indent="0" marL="0">
              <a:buNone/>
            </a:pPr>
            <a:r>
              <a:rPr lang="en-US" sz="1800" b="1" dirty="0">
                <a:solidFill>
                  <a:schemeClr val="tx2"/>
                </a:solidFill>
              </a:rPr>
              <a:t>Pre-Approval</a:t>
            </a:r>
            <a:endParaRPr lang="en-US" sz="1800" dirty="0"/>
          </a:p>
        </p:txBody>
      </p:sp>
      <p:sp>
        <p:nvSpPr>
          <p:cNvPr id="14" name="Text 9"/>
          <p:cNvSpPr txBox="1"/>
          <p:nvPr/>
        </p:nvSpPr>
        <p:spPr>
          <a:xfrm>
            <a:off x="3005267" y="3383280"/>
            <a:ext cx="1633667" cy="320040"/>
          </a:xfrm>
          <a:prstGeom prst="rect">
            <a:avLst/>
          </a:prstGeom>
          <a:noFill/>
          <a:ln/>
        </p:spPr>
        <p:txBody>
          <a:bodyPr wrap="square" lIns="0" tIns="0" rIns="0" bIns="0" rtlCol="0" anchor="t"/>
          <a:lstStyle/>
          <a:p>
            <a:pPr algn="ctr" indent="0" marL="0">
              <a:buNone/>
            </a:pPr>
            <a:r>
              <a:rPr lang="en-US" sz="1300" b="1" dirty="0">
                <a:solidFill>
                  <a:schemeClr val="accent1"/>
                </a:solidFill>
              </a:rPr>
              <a:t>Scheduled operation</a:t>
            </a:r>
            <a:endParaRPr lang="en-US" sz="1300" dirty="0"/>
          </a:p>
        </p:txBody>
      </p:sp>
      <p:sp>
        <p:nvSpPr>
          <p:cNvPr id="15" name="Text 10"/>
          <p:cNvSpPr txBox="1"/>
          <p:nvPr/>
        </p:nvSpPr>
        <p:spPr>
          <a:xfrm>
            <a:off x="3023555" y="3840480"/>
            <a:ext cx="1597091" cy="2103120"/>
          </a:xfrm>
          <a:prstGeom prst="rect">
            <a:avLst/>
          </a:prstGeom>
          <a:noFill/>
          <a:ln/>
        </p:spPr>
        <p:txBody>
          <a:bodyPr wrap="square" lIns="0" tIns="0" rIns="0" bIns="0" rtlCol="0" anchor="t"/>
          <a:lstStyle/>
          <a:p>
            <a:pPr indent="0" marL="0">
              <a:buNone/>
            </a:pPr>
            <a:r>
              <a:rPr lang="en-US" sz="1600" dirty="0">
                <a:solidFill>
                  <a:schemeClr val="tx1"/>
                </a:solidFill>
              </a:rPr>
              <a:t>Routine changes done frequently. Approved once by the CAB; no new approval needed each time.</a:t>
            </a:r>
            <a:endParaRPr lang="en-US" sz="1600" dirty="0"/>
          </a:p>
        </p:txBody>
      </p:sp>
      <p:sp>
        <p:nvSpPr>
          <p:cNvPr id="16" name="New Function / Feature card"/>
          <p:cNvSpPr/>
          <p:nvPr/>
        </p:nvSpPr>
        <p:spPr>
          <a:xfrm>
            <a:off x="5096134" y="1371600"/>
            <a:ext cx="1999427" cy="4709160"/>
          </a:xfrm>
          <a:prstGeom prst="roundRect">
            <a:avLst>
              <a:gd name="adj" fmla="val 3659"/>
            </a:avLst>
          </a:prstGeom>
          <a:solidFill>
            <a:schemeClr val="bg2"/>
          </a:solidFill>
          <a:ln/>
        </p:spPr>
      </p:sp>
      <p:sp>
        <p:nvSpPr>
          <p:cNvPr id="17" name="Shape 12"/>
          <p:cNvSpPr/>
          <p:nvPr/>
        </p:nvSpPr>
        <p:spPr>
          <a:xfrm>
            <a:off x="5684368" y="1691640"/>
            <a:ext cx="822960" cy="822960"/>
          </a:xfrm>
          <a:prstGeom prst="ellipse">
            <a:avLst/>
          </a:prstGeom>
          <a:solidFill>
            <a:schemeClr val="tx2"/>
          </a:solidFill>
          <a:ln/>
        </p:spPr>
      </p:sp>
      <p:pic>
        <p:nvPicPr>
          <p:cNvPr id="18" name="Image 2" descr="Rocket icon">    </p:cNvPr>
          <p:cNvPicPr>
            <a:picLocks noChangeAspect="1"/>
          </p:cNvPicPr>
          <p:nvPr/>
        </p:nvPicPr>
        <p:blipFill>
          <a:blip r:embed="rId3"/>
          <a:stretch>
            <a:fillRect/>
          </a:stretch>
        </p:blipFill>
        <p:spPr>
          <a:xfrm>
            <a:off x="5881878" y="1889150"/>
            <a:ext cx="427939" cy="427939"/>
          </a:xfrm>
          <a:prstGeom prst="rect">
            <a:avLst/>
          </a:prstGeom>
        </p:spPr>
      </p:pic>
      <p:sp>
        <p:nvSpPr>
          <p:cNvPr id="19" name="Text 13"/>
          <p:cNvSpPr txBox="1"/>
          <p:nvPr/>
        </p:nvSpPr>
        <p:spPr>
          <a:xfrm>
            <a:off x="5279014" y="2697480"/>
            <a:ext cx="1633667" cy="685800"/>
          </a:xfrm>
          <a:prstGeom prst="rect">
            <a:avLst/>
          </a:prstGeom>
          <a:noFill/>
          <a:ln/>
        </p:spPr>
        <p:txBody>
          <a:bodyPr wrap="square" lIns="0" tIns="0" rIns="0" bIns="0" rtlCol="0" anchor="ctr"/>
          <a:lstStyle/>
          <a:p>
            <a:pPr algn="ctr" indent="0" marL="0">
              <a:buNone/>
            </a:pPr>
            <a:r>
              <a:rPr lang="en-US" sz="1800" b="1" dirty="0">
                <a:solidFill>
                  <a:schemeClr val="tx2"/>
                </a:solidFill>
              </a:rPr>
              <a:t>New Function / Feature</a:t>
            </a:r>
            <a:endParaRPr lang="en-US" sz="1800" dirty="0"/>
          </a:p>
        </p:txBody>
      </p:sp>
      <p:sp>
        <p:nvSpPr>
          <p:cNvPr id="20" name="Text 14"/>
          <p:cNvSpPr txBox="1"/>
          <p:nvPr/>
        </p:nvSpPr>
        <p:spPr>
          <a:xfrm>
            <a:off x="5279014" y="3383280"/>
            <a:ext cx="1633667" cy="320040"/>
          </a:xfrm>
          <a:prstGeom prst="rect">
            <a:avLst/>
          </a:prstGeom>
          <a:noFill/>
          <a:ln/>
        </p:spPr>
        <p:txBody>
          <a:bodyPr wrap="square" lIns="0" tIns="0" rIns="0" bIns="0" rtlCol="0" anchor="t"/>
          <a:lstStyle/>
          <a:p>
            <a:pPr algn="ctr" indent="0" marL="0">
              <a:buNone/>
            </a:pPr>
            <a:r>
              <a:rPr lang="en-US" sz="1300" b="1" dirty="0">
                <a:solidFill>
                  <a:schemeClr val="tx2"/>
                </a:solidFill>
              </a:rPr>
              <a:t>New development</a:t>
            </a:r>
            <a:endParaRPr lang="en-US" sz="1300" dirty="0"/>
          </a:p>
        </p:txBody>
      </p:sp>
      <p:sp>
        <p:nvSpPr>
          <p:cNvPr id="21" name="Text 15"/>
          <p:cNvSpPr txBox="1"/>
          <p:nvPr/>
        </p:nvSpPr>
        <p:spPr>
          <a:xfrm>
            <a:off x="5297302" y="3840480"/>
            <a:ext cx="1597091" cy="2103120"/>
          </a:xfrm>
          <a:prstGeom prst="rect">
            <a:avLst/>
          </a:prstGeom>
          <a:noFill/>
          <a:ln/>
        </p:spPr>
        <p:txBody>
          <a:bodyPr wrap="square" lIns="0" tIns="0" rIns="0" bIns="0" rtlCol="0" anchor="t"/>
          <a:lstStyle/>
          <a:p>
            <a:pPr indent="0" marL="0">
              <a:buNone/>
            </a:pPr>
            <a:r>
              <a:rPr lang="en-US" sz="1600" dirty="0">
                <a:solidFill>
                  <a:schemeClr val="tx1"/>
                </a:solidFill>
              </a:rPr>
              <a:t>Deployment of new features, functionality, services or applications. Not a fix to a problem.</a:t>
            </a:r>
            <a:endParaRPr lang="en-US" sz="1600" dirty="0"/>
          </a:p>
        </p:txBody>
      </p:sp>
      <p:sp>
        <p:nvSpPr>
          <p:cNvPr id="22" name="Emergency / Unscheduled card"/>
          <p:cNvSpPr/>
          <p:nvPr/>
        </p:nvSpPr>
        <p:spPr>
          <a:xfrm>
            <a:off x="7369881" y="1371600"/>
            <a:ext cx="1999427" cy="4709160"/>
          </a:xfrm>
          <a:prstGeom prst="roundRect">
            <a:avLst>
              <a:gd name="adj" fmla="val 3659"/>
            </a:avLst>
          </a:prstGeom>
          <a:solidFill>
            <a:schemeClr val="bg2"/>
          </a:solidFill>
          <a:ln/>
        </p:spPr>
      </p:sp>
      <p:sp>
        <p:nvSpPr>
          <p:cNvPr id="23" name="Shape 17"/>
          <p:cNvSpPr/>
          <p:nvPr/>
        </p:nvSpPr>
        <p:spPr>
          <a:xfrm>
            <a:off x="7958115" y="1691640"/>
            <a:ext cx="822960" cy="822960"/>
          </a:xfrm>
          <a:prstGeom prst="ellipse">
            <a:avLst/>
          </a:prstGeom>
          <a:solidFill>
            <a:schemeClr val="accent5"/>
          </a:solidFill>
          <a:ln/>
        </p:spPr>
      </p:sp>
      <p:pic>
        <p:nvPicPr>
          <p:cNvPr id="24" name="Image 3" descr="ExclamationCircle icon">    </p:cNvPr>
          <p:cNvPicPr>
            <a:picLocks noChangeAspect="1"/>
          </p:cNvPicPr>
          <p:nvPr/>
        </p:nvPicPr>
        <p:blipFill>
          <a:blip r:embed="rId4"/>
          <a:stretch>
            <a:fillRect/>
          </a:stretch>
        </p:blipFill>
        <p:spPr>
          <a:xfrm>
            <a:off x="8155625" y="1889150"/>
            <a:ext cx="427939" cy="427939"/>
          </a:xfrm>
          <a:prstGeom prst="rect">
            <a:avLst/>
          </a:prstGeom>
        </p:spPr>
      </p:pic>
      <p:sp>
        <p:nvSpPr>
          <p:cNvPr id="25" name="Text 18"/>
          <p:cNvSpPr txBox="1"/>
          <p:nvPr/>
        </p:nvSpPr>
        <p:spPr>
          <a:xfrm>
            <a:off x="7552761" y="2697480"/>
            <a:ext cx="1633667" cy="685800"/>
          </a:xfrm>
          <a:prstGeom prst="rect">
            <a:avLst/>
          </a:prstGeom>
          <a:noFill/>
          <a:ln/>
        </p:spPr>
        <p:txBody>
          <a:bodyPr wrap="square" lIns="0" tIns="0" rIns="0" bIns="0" rtlCol="0" anchor="ctr"/>
          <a:lstStyle/>
          <a:p>
            <a:pPr algn="ctr" indent="0" marL="0">
              <a:buNone/>
            </a:pPr>
            <a:r>
              <a:rPr lang="en-US" sz="1800" b="1" dirty="0">
                <a:solidFill>
                  <a:schemeClr val="tx2"/>
                </a:solidFill>
              </a:rPr>
              <a:t>Emergency / Unscheduled</a:t>
            </a:r>
            <a:endParaRPr lang="en-US" sz="1800" dirty="0"/>
          </a:p>
        </p:txBody>
      </p:sp>
      <p:sp>
        <p:nvSpPr>
          <p:cNvPr id="26" name="Text 19"/>
          <p:cNvSpPr txBox="1"/>
          <p:nvPr/>
        </p:nvSpPr>
        <p:spPr>
          <a:xfrm>
            <a:off x="7552761" y="3383280"/>
            <a:ext cx="1633667" cy="320040"/>
          </a:xfrm>
          <a:prstGeom prst="rect">
            <a:avLst/>
          </a:prstGeom>
          <a:noFill/>
          <a:ln/>
        </p:spPr>
        <p:txBody>
          <a:bodyPr wrap="square" lIns="0" tIns="0" rIns="0" bIns="0" rtlCol="0" anchor="t"/>
          <a:lstStyle/>
          <a:p>
            <a:pPr algn="ctr" indent="0" marL="0">
              <a:buNone/>
            </a:pPr>
            <a:r>
              <a:rPr lang="en-US" sz="1300" b="1" dirty="0">
                <a:solidFill>
                  <a:schemeClr val="accent5"/>
                </a:solidFill>
              </a:rPr>
              <a:t>Immediate attention</a:t>
            </a:r>
            <a:endParaRPr lang="en-US" sz="1300" dirty="0"/>
          </a:p>
        </p:txBody>
      </p:sp>
      <p:sp>
        <p:nvSpPr>
          <p:cNvPr id="27" name="Text 20"/>
          <p:cNvSpPr txBox="1"/>
          <p:nvPr/>
        </p:nvSpPr>
        <p:spPr>
          <a:xfrm>
            <a:off x="7571049" y="3840480"/>
            <a:ext cx="1597091" cy="2103120"/>
          </a:xfrm>
          <a:prstGeom prst="rect">
            <a:avLst/>
          </a:prstGeom>
          <a:noFill/>
          <a:ln/>
        </p:spPr>
        <p:txBody>
          <a:bodyPr wrap="square" lIns="0" tIns="0" rIns="0" bIns="0" rtlCol="0" anchor="t"/>
          <a:lstStyle/>
          <a:p>
            <a:pPr indent="0" marL="0">
              <a:buNone/>
            </a:pPr>
            <a:r>
              <a:rPr lang="en-US" sz="1600" dirty="0">
                <a:solidFill>
                  <a:schemeClr val="tx1"/>
                </a:solidFill>
              </a:rPr>
              <a:t>Unscheduled outages (server crashes, client complaints…) that need attention whenever they happen.</a:t>
            </a:r>
            <a:endParaRPr lang="en-US" sz="1600" dirty="0"/>
          </a:p>
        </p:txBody>
      </p:sp>
      <p:sp>
        <p:nvSpPr>
          <p:cNvPr id="28" name="Catastrophic card"/>
          <p:cNvSpPr/>
          <p:nvPr/>
        </p:nvSpPr>
        <p:spPr>
          <a:xfrm>
            <a:off x="9643628" y="1371600"/>
            <a:ext cx="1999427" cy="4709160"/>
          </a:xfrm>
          <a:prstGeom prst="roundRect">
            <a:avLst>
              <a:gd name="adj" fmla="val 3659"/>
            </a:avLst>
          </a:prstGeom>
          <a:solidFill>
            <a:schemeClr val="bg2"/>
          </a:solidFill>
          <a:ln/>
        </p:spPr>
      </p:sp>
      <p:sp>
        <p:nvSpPr>
          <p:cNvPr id="29" name="Shape 22"/>
          <p:cNvSpPr/>
          <p:nvPr/>
        </p:nvSpPr>
        <p:spPr>
          <a:xfrm>
            <a:off x="10231862" y="1691640"/>
            <a:ext cx="822960" cy="822960"/>
          </a:xfrm>
          <a:prstGeom prst="ellipse">
            <a:avLst/>
          </a:prstGeom>
          <a:solidFill>
            <a:schemeClr val="accent6"/>
          </a:solidFill>
          <a:ln/>
        </p:spPr>
      </p:sp>
      <p:pic>
        <p:nvPicPr>
          <p:cNvPr id="30" name="Image 4" descr="Fire icon">    </p:cNvPr>
          <p:cNvPicPr>
            <a:picLocks noChangeAspect="1"/>
          </p:cNvPicPr>
          <p:nvPr/>
        </p:nvPicPr>
        <p:blipFill>
          <a:blip r:embed="rId5"/>
          <a:stretch>
            <a:fillRect/>
          </a:stretch>
        </p:blipFill>
        <p:spPr>
          <a:xfrm>
            <a:off x="10429372" y="1889150"/>
            <a:ext cx="427939" cy="427939"/>
          </a:xfrm>
          <a:prstGeom prst="rect">
            <a:avLst/>
          </a:prstGeom>
        </p:spPr>
      </p:pic>
      <p:sp>
        <p:nvSpPr>
          <p:cNvPr id="31" name="Text 23"/>
          <p:cNvSpPr txBox="1"/>
          <p:nvPr/>
        </p:nvSpPr>
        <p:spPr>
          <a:xfrm>
            <a:off x="9826508" y="2697480"/>
            <a:ext cx="1633667" cy="685800"/>
          </a:xfrm>
          <a:prstGeom prst="rect">
            <a:avLst/>
          </a:prstGeom>
          <a:noFill/>
          <a:ln/>
        </p:spPr>
        <p:txBody>
          <a:bodyPr wrap="square" lIns="0" tIns="0" rIns="0" bIns="0" rtlCol="0" anchor="ctr"/>
          <a:lstStyle/>
          <a:p>
            <a:pPr algn="ctr" indent="0" marL="0">
              <a:buNone/>
            </a:pPr>
            <a:r>
              <a:rPr lang="en-US" sz="1800" b="1" dirty="0">
                <a:solidFill>
                  <a:schemeClr val="tx2"/>
                </a:solidFill>
              </a:rPr>
              <a:t>Catastrophic</a:t>
            </a:r>
            <a:endParaRPr lang="en-US" sz="1800" dirty="0"/>
          </a:p>
        </p:txBody>
      </p:sp>
      <p:sp>
        <p:nvSpPr>
          <p:cNvPr id="32" name="Text 24"/>
          <p:cNvSpPr txBox="1"/>
          <p:nvPr/>
        </p:nvSpPr>
        <p:spPr>
          <a:xfrm>
            <a:off x="9826508" y="3383280"/>
            <a:ext cx="1633667" cy="320040"/>
          </a:xfrm>
          <a:prstGeom prst="rect">
            <a:avLst/>
          </a:prstGeom>
          <a:noFill/>
          <a:ln/>
        </p:spPr>
        <p:txBody>
          <a:bodyPr wrap="square" lIns="0" tIns="0" rIns="0" bIns="0" rtlCol="0" anchor="t"/>
          <a:lstStyle/>
          <a:p>
            <a:pPr algn="ctr" indent="0" marL="0">
              <a:buNone/>
            </a:pPr>
            <a:r>
              <a:rPr lang="en-US" sz="1300" b="1" dirty="0">
                <a:solidFill>
                  <a:schemeClr val="accent6"/>
                </a:solidFill>
              </a:rPr>
              <a:t>Emergency CAB</a:t>
            </a:r>
            <a:endParaRPr lang="en-US" sz="1300" dirty="0"/>
          </a:p>
        </p:txBody>
      </p:sp>
      <p:sp>
        <p:nvSpPr>
          <p:cNvPr id="33" name="Text 25"/>
          <p:cNvSpPr txBox="1"/>
          <p:nvPr/>
        </p:nvSpPr>
        <p:spPr>
          <a:xfrm>
            <a:off x="9844796" y="3840480"/>
            <a:ext cx="1597091" cy="2103120"/>
          </a:xfrm>
          <a:prstGeom prst="rect">
            <a:avLst/>
          </a:prstGeom>
          <a:noFill/>
          <a:ln/>
        </p:spPr>
        <p:txBody>
          <a:bodyPr wrap="square" lIns="0" tIns="0" rIns="0" bIns="0" rtlCol="0" anchor="t"/>
          <a:lstStyle/>
          <a:p>
            <a:pPr indent="0" marL="0">
              <a:buNone/>
            </a:pPr>
            <a:r>
              <a:rPr lang="en-US" sz="1600" dirty="0">
                <a:solidFill>
                  <a:schemeClr val="tx1"/>
                </a:solidFill>
              </a:rPr>
              <a:t>Sudden, very harmful or disastrous change. Emergency CAB decides, e.g. moving to the DR site.</a:t>
            </a:r>
            <a:endParaRPr lang="en-US" sz="16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Two levels of change control</a:t>
            </a:r>
            <a:endParaRPr lang="en-US" sz="3400" dirty="0"/>
          </a:p>
        </p:txBody>
      </p:sp>
      <p:sp>
        <p:nvSpPr>
          <p:cNvPr id="4" name="Project Change Request"/>
          <p:cNvSpPr/>
          <p:nvPr/>
        </p:nvSpPr>
        <p:spPr>
          <a:xfrm>
            <a:off x="548640" y="1417320"/>
            <a:ext cx="4754880" cy="4206240"/>
          </a:xfrm>
          <a:prstGeom prst="roundRect">
            <a:avLst>
              <a:gd name="adj" fmla="val 1739"/>
            </a:avLst>
          </a:prstGeom>
          <a:solidFill>
            <a:schemeClr val="bg2"/>
          </a:solidFill>
          <a:ln/>
        </p:spPr>
      </p:sp>
      <p:sp>
        <p:nvSpPr>
          <p:cNvPr id="5" name="Shape 2"/>
          <p:cNvSpPr/>
          <p:nvPr/>
        </p:nvSpPr>
        <p:spPr>
          <a:xfrm>
            <a:off x="822960" y="1691640"/>
            <a:ext cx="731520" cy="731520"/>
          </a:xfrm>
          <a:prstGeom prst="ellipse">
            <a:avLst/>
          </a:prstGeom>
          <a:solidFill>
            <a:schemeClr val="accent1"/>
          </a:solidFill>
          <a:ln/>
        </p:spPr>
      </p:sp>
      <p:pic>
        <p:nvPicPr>
          <p:cNvPr id="6" name="Image 0" descr="ProjectDiagram icon">    </p:cNvPr>
          <p:cNvPicPr>
            <a:picLocks noChangeAspect="1"/>
          </p:cNvPicPr>
          <p:nvPr/>
        </p:nvPicPr>
        <p:blipFill>
          <a:blip r:embed="rId1"/>
          <a:stretch>
            <a:fillRect/>
          </a:stretch>
        </p:blipFill>
        <p:spPr>
          <a:xfrm>
            <a:off x="998525" y="1867205"/>
            <a:ext cx="380390" cy="380390"/>
          </a:xfrm>
          <a:prstGeom prst="rect">
            <a:avLst/>
          </a:prstGeom>
        </p:spPr>
      </p:pic>
      <p:sp>
        <p:nvSpPr>
          <p:cNvPr id="7" name="Text 3"/>
          <p:cNvSpPr txBox="1"/>
          <p:nvPr/>
        </p:nvSpPr>
        <p:spPr>
          <a:xfrm>
            <a:off x="1737360" y="1691640"/>
            <a:ext cx="3383280" cy="411480"/>
          </a:xfrm>
          <a:prstGeom prst="rect">
            <a:avLst/>
          </a:prstGeom>
          <a:noFill/>
          <a:ln/>
        </p:spPr>
        <p:txBody>
          <a:bodyPr wrap="square" lIns="0" tIns="0" rIns="0" bIns="0" rtlCol="0" anchor="t"/>
          <a:lstStyle/>
          <a:p>
            <a:pPr indent="0" marL="0">
              <a:buNone/>
            </a:pPr>
            <a:r>
              <a:rPr lang="en-US" sz="2000" b="1" dirty="0">
                <a:solidFill>
                  <a:schemeClr val="tx2"/>
                </a:solidFill>
              </a:rPr>
              <a:t>Project Change Request</a:t>
            </a:r>
            <a:endParaRPr lang="en-US" sz="2000" dirty="0"/>
          </a:p>
        </p:txBody>
      </p:sp>
      <p:sp>
        <p:nvSpPr>
          <p:cNvPr id="8" name="Text 4"/>
          <p:cNvSpPr txBox="1"/>
          <p:nvPr/>
        </p:nvSpPr>
        <p:spPr>
          <a:xfrm>
            <a:off x="1737360" y="2103120"/>
            <a:ext cx="3383280" cy="320040"/>
          </a:xfrm>
          <a:prstGeom prst="rect">
            <a:avLst/>
          </a:prstGeom>
          <a:noFill/>
          <a:ln/>
        </p:spPr>
        <p:txBody>
          <a:bodyPr wrap="square" lIns="0" tIns="0" rIns="0" bIns="0" rtlCol="0" anchor="t"/>
          <a:lstStyle/>
          <a:p>
            <a:pPr indent="0" marL="0">
              <a:buNone/>
            </a:pPr>
            <a:r>
              <a:rPr lang="en-US" sz="1400" b="1" dirty="0">
                <a:solidFill>
                  <a:schemeClr val="accent1"/>
                </a:solidFill>
              </a:rPr>
              <a:t>Software development project</a:t>
            </a:r>
            <a:endParaRPr lang="en-US" sz="1400" dirty="0"/>
          </a:p>
        </p:txBody>
      </p:sp>
      <p:sp>
        <p:nvSpPr>
          <p:cNvPr id="9" name="Text 5"/>
          <p:cNvSpPr txBox="1"/>
          <p:nvPr/>
        </p:nvSpPr>
        <p:spPr>
          <a:xfrm>
            <a:off x="822960" y="2651760"/>
            <a:ext cx="420624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Changes scope, requirements or baseline</a:t>
            </a:r>
            <a:endParaRPr lang="en-US" sz="1500" dirty="0"/>
          </a:p>
          <a:p>
            <a:pPr marL="342900" indent="-342900">
              <a:spcAft>
                <a:spcPts val="800"/>
              </a:spcAft>
              <a:buSzPct val="100000"/>
              <a:buChar char="•"/>
            </a:pPr>
            <a:r>
              <a:rPr lang="en-US" sz="1500" dirty="0">
                <a:solidFill>
                  <a:schemeClr val="tx1"/>
                </a:solidFill>
              </a:rPr>
              <a:t>Reviewed by Project Manager &amp; Business Analyst</a:t>
            </a:r>
            <a:endParaRPr lang="en-US" sz="1500" dirty="0"/>
          </a:p>
          <a:p>
            <a:pPr marL="342900" indent="-342900">
              <a:spcAft>
                <a:spcPts val="800"/>
              </a:spcAft>
              <a:buSzPct val="100000"/>
              <a:buChar char="•"/>
            </a:pPr>
            <a:r>
              <a:rPr lang="en-US" sz="1500" dirty="0">
                <a:solidFill>
                  <a:schemeClr val="tx1"/>
                </a:solidFill>
              </a:rPr>
              <a:t>Impact analysis by Development &amp; QA</a:t>
            </a:r>
            <a:endParaRPr lang="en-US" sz="1500" dirty="0"/>
          </a:p>
          <a:p>
            <a:pPr marL="342900" indent="-342900">
              <a:spcAft>
                <a:spcPts val="800"/>
              </a:spcAft>
              <a:buSzPct val="100000"/>
              <a:buChar char="•"/>
            </a:pPr>
            <a:r>
              <a:rPr lang="en-US" sz="1500" dirty="0">
                <a:solidFill>
                  <a:schemeClr val="tx1"/>
                </a:solidFill>
              </a:rPr>
              <a:t>Approved by CAB or Steering Committee</a:t>
            </a:r>
            <a:endParaRPr lang="en-US" sz="1500" dirty="0"/>
          </a:p>
          <a:p>
            <a:pPr marL="342900" indent="-342900">
              <a:spcAft>
                <a:spcPts val="800"/>
              </a:spcAft>
              <a:buSzPct val="100000"/>
              <a:buChar char="•"/>
            </a:pPr>
            <a:r>
              <a:rPr lang="en-US" sz="1500" dirty="0">
                <a:solidFill>
                  <a:schemeClr val="tx1"/>
                </a:solidFill>
              </a:rPr>
              <a:t>Updates project scope, plan and backlog</a:t>
            </a:r>
            <a:endParaRPr lang="en-US" sz="1500" dirty="0"/>
          </a:p>
        </p:txBody>
      </p:sp>
      <p:sp>
        <p:nvSpPr>
          <p:cNvPr id="10" name="IT Change Request (IT CR)"/>
          <p:cNvSpPr/>
          <p:nvPr/>
        </p:nvSpPr>
        <p:spPr>
          <a:xfrm>
            <a:off x="6888175" y="1417320"/>
            <a:ext cx="4754880" cy="4206240"/>
          </a:xfrm>
          <a:prstGeom prst="roundRect">
            <a:avLst>
              <a:gd name="adj" fmla="val 1739"/>
            </a:avLst>
          </a:prstGeom>
          <a:solidFill>
            <a:schemeClr val="bg2"/>
          </a:solidFill>
          <a:ln/>
        </p:spPr>
      </p:sp>
      <p:sp>
        <p:nvSpPr>
          <p:cNvPr id="11" name="Shape 7"/>
          <p:cNvSpPr/>
          <p:nvPr/>
        </p:nvSpPr>
        <p:spPr>
          <a:xfrm>
            <a:off x="7162495" y="1691640"/>
            <a:ext cx="731520" cy="731520"/>
          </a:xfrm>
          <a:prstGeom prst="ellipse">
            <a:avLst/>
          </a:prstGeom>
          <a:solidFill>
            <a:schemeClr val="tx2"/>
          </a:solidFill>
          <a:ln/>
        </p:spPr>
      </p:sp>
      <p:pic>
        <p:nvPicPr>
          <p:cNvPr id="12" name="Image 1" descr="Server icon">    </p:cNvPr>
          <p:cNvPicPr>
            <a:picLocks noChangeAspect="1"/>
          </p:cNvPicPr>
          <p:nvPr/>
        </p:nvPicPr>
        <p:blipFill>
          <a:blip r:embed="rId2"/>
          <a:stretch>
            <a:fillRect/>
          </a:stretch>
        </p:blipFill>
        <p:spPr>
          <a:xfrm>
            <a:off x="7338060" y="1867205"/>
            <a:ext cx="380390" cy="380390"/>
          </a:xfrm>
          <a:prstGeom prst="rect">
            <a:avLst/>
          </a:prstGeom>
        </p:spPr>
      </p:pic>
      <p:sp>
        <p:nvSpPr>
          <p:cNvPr id="13" name="Text 8"/>
          <p:cNvSpPr txBox="1"/>
          <p:nvPr/>
        </p:nvSpPr>
        <p:spPr>
          <a:xfrm>
            <a:off x="8076895" y="1691640"/>
            <a:ext cx="3383280" cy="411480"/>
          </a:xfrm>
          <a:prstGeom prst="rect">
            <a:avLst/>
          </a:prstGeom>
          <a:noFill/>
          <a:ln/>
        </p:spPr>
        <p:txBody>
          <a:bodyPr wrap="square" lIns="0" tIns="0" rIns="0" bIns="0" rtlCol="0" anchor="t"/>
          <a:lstStyle/>
          <a:p>
            <a:pPr indent="0" marL="0">
              <a:buNone/>
            </a:pPr>
            <a:r>
              <a:rPr lang="en-US" sz="2000" b="1" dirty="0">
                <a:solidFill>
                  <a:schemeClr val="tx2"/>
                </a:solidFill>
              </a:rPr>
              <a:t>IT Change Request (IT CR)</a:t>
            </a:r>
            <a:endParaRPr lang="en-US" sz="2000" dirty="0"/>
          </a:p>
        </p:txBody>
      </p:sp>
      <p:sp>
        <p:nvSpPr>
          <p:cNvPr id="14" name="Text 9"/>
          <p:cNvSpPr txBox="1"/>
          <p:nvPr/>
        </p:nvSpPr>
        <p:spPr>
          <a:xfrm>
            <a:off x="8076895" y="2103120"/>
            <a:ext cx="3383280" cy="320040"/>
          </a:xfrm>
          <a:prstGeom prst="rect">
            <a:avLst/>
          </a:prstGeom>
          <a:noFill/>
          <a:ln/>
        </p:spPr>
        <p:txBody>
          <a:bodyPr wrap="square" lIns="0" tIns="0" rIns="0" bIns="0" rtlCol="0" anchor="t"/>
          <a:lstStyle/>
          <a:p>
            <a:pPr indent="0" marL="0">
              <a:buNone/>
            </a:pPr>
            <a:r>
              <a:rPr lang="en-US" sz="1400" b="1" dirty="0">
                <a:solidFill>
                  <a:schemeClr val="accent1"/>
                </a:solidFill>
              </a:rPr>
              <a:t>Live IT systems and services</a:t>
            </a:r>
            <a:endParaRPr lang="en-US" sz="1400" dirty="0"/>
          </a:p>
        </p:txBody>
      </p:sp>
      <p:sp>
        <p:nvSpPr>
          <p:cNvPr id="15" name="Text 10"/>
          <p:cNvSpPr txBox="1"/>
          <p:nvPr/>
        </p:nvSpPr>
        <p:spPr>
          <a:xfrm>
            <a:off x="7162495" y="2651760"/>
            <a:ext cx="420624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Changes production systems, infrastructure or services</a:t>
            </a:r>
            <a:endParaRPr lang="en-US" sz="1500" dirty="0"/>
          </a:p>
          <a:p>
            <a:pPr marL="342900" indent="-342900">
              <a:spcAft>
                <a:spcPts val="800"/>
              </a:spcAft>
              <a:buSzPct val="100000"/>
              <a:buChar char="•"/>
            </a:pPr>
            <a:r>
              <a:rPr lang="en-US" sz="1500" dirty="0">
                <a:solidFill>
                  <a:schemeClr val="tx1"/>
                </a:solidFill>
              </a:rPr>
              <a:t>Numbered CR# [Serial]-[YYYY], raised by the requester</a:t>
            </a:r>
            <a:endParaRPr lang="en-US" sz="1500" dirty="0"/>
          </a:p>
          <a:p>
            <a:pPr marL="342900" indent="-342900">
              <a:spcAft>
                <a:spcPts val="800"/>
              </a:spcAft>
              <a:buSzPct val="100000"/>
              <a:buChar char="•"/>
            </a:pPr>
            <a:r>
              <a:rPr lang="en-US" sz="1500" dirty="0">
                <a:solidFill>
                  <a:schemeClr val="tx1"/>
                </a:solidFill>
              </a:rPr>
              <a:t>Reviewed with the CAB owner before the IT CAB meeting</a:t>
            </a:r>
            <a:endParaRPr lang="en-US" sz="1500" dirty="0"/>
          </a:p>
          <a:p>
            <a:pPr marL="342900" indent="-342900">
              <a:spcAft>
                <a:spcPts val="800"/>
              </a:spcAft>
              <a:buSzPct val="100000"/>
              <a:buChar char="•"/>
            </a:pPr>
            <a:r>
              <a:rPr lang="en-US" sz="1500" dirty="0">
                <a:solidFill>
                  <a:schemeClr val="tx1"/>
                </a:solidFill>
              </a:rPr>
              <a:t>Service owner approval mandatory if their services are affected</a:t>
            </a:r>
            <a:endParaRPr lang="en-US" sz="1500" dirty="0"/>
          </a:p>
          <a:p>
            <a:pPr marL="342900" indent="-342900">
              <a:spcAft>
                <a:spcPts val="800"/>
              </a:spcAft>
              <a:buSzPct val="100000"/>
              <a:buChar char="•"/>
            </a:pPr>
            <a:r>
              <a:rPr lang="en-US" sz="1500" dirty="0">
                <a:solidFill>
                  <a:schemeClr val="tx1"/>
                </a:solidFill>
              </a:rPr>
              <a:t>Deployed in an agreed time slot with rollback plan</a:t>
            </a:r>
            <a:endParaRPr lang="en-US" sz="1500" dirty="0"/>
          </a:p>
        </p:txBody>
      </p:sp>
      <p:sp>
        <p:nvSpPr>
          <p:cNvPr id="16" name="Flow arrow"/>
          <p:cNvSpPr/>
          <p:nvPr/>
        </p:nvSpPr>
        <p:spPr>
          <a:xfrm>
            <a:off x="5440680" y="3154680"/>
            <a:ext cx="1310335" cy="731520"/>
          </a:xfrm>
          <a:prstGeom prst="rightArrow">
            <a:avLst/>
          </a:prstGeom>
          <a:solidFill>
            <a:schemeClr val="accent3"/>
          </a:solidFill>
          <a:ln/>
        </p:spPr>
      </p:sp>
      <p:sp>
        <p:nvSpPr>
          <p:cNvPr id="17" name="Text 12"/>
          <p:cNvSpPr txBox="1"/>
          <p:nvPr/>
        </p:nvSpPr>
        <p:spPr>
          <a:xfrm>
            <a:off x="5440680" y="3977640"/>
            <a:ext cx="1310335" cy="1097280"/>
          </a:xfrm>
          <a:prstGeom prst="rect">
            <a:avLst/>
          </a:prstGeom>
          <a:noFill/>
          <a:ln/>
        </p:spPr>
        <p:txBody>
          <a:bodyPr wrap="square" lIns="0" tIns="0" rIns="0" bIns="0" rtlCol="0" anchor="t"/>
          <a:lstStyle/>
          <a:p>
            <a:pPr algn="ctr" indent="0" marL="0">
              <a:buNone/>
            </a:pPr>
            <a:r>
              <a:rPr lang="en-US" sz="1300" i="1" dirty="0">
                <a:solidFill>
                  <a:schemeClr val="tx2"/>
                </a:solidFill>
              </a:rPr>
              <a:t>Approved &amp; tested project change becomes an IT CR for production</a:t>
            </a:r>
            <a:endParaRPr lang="en-US" sz="13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2331720"/>
            <a:ext cx="7772400" cy="1188720"/>
          </a:xfrm>
          <a:prstGeom prst="rect">
            <a:avLst/>
          </a:prstGeom>
          <a:noFill/>
          <a:ln/>
        </p:spPr>
        <p:txBody>
          <a:bodyPr wrap="square" lIns="0" tIns="0" rIns="0" bIns="0" rtlCol="0" anchor="ctr"/>
          <a:lstStyle/>
          <a:p>
            <a:pPr algn="l" indent="0" marL="0">
              <a:buNone/>
            </a:pPr>
            <a:r>
              <a:rPr lang="en-US" sz="5400" b="1" dirty="0">
                <a:solidFill>
                  <a:schemeClr val="bg1"/>
                </a:solidFill>
              </a:rPr>
              <a:t>WHY?</a:t>
            </a:r>
            <a:endParaRPr lang="en-US" sz="5400" dirty="0"/>
          </a:p>
        </p:txBody>
      </p:sp>
      <p:sp>
        <p:nvSpPr>
          <p:cNvPr id="3" name="Text 1"/>
          <p:cNvSpPr/>
          <p:nvPr>
            <p:ph idx="103" type="body" hasCustomPrompt="1"/>
          </p:nvPr>
        </p:nvSpPr>
        <p:spPr>
          <a:xfrm>
            <a:off x="548640" y="3566160"/>
            <a:ext cx="7772400" cy="822960"/>
          </a:xfrm>
          <a:prstGeom prst="rect">
            <a:avLst/>
          </a:prstGeom>
          <a:noFill/>
          <a:ln/>
        </p:spPr>
        <p:txBody>
          <a:bodyPr wrap="square" lIns="0" tIns="0" rIns="0" bIns="0" rtlCol="0" anchor="t"/>
          <a:lstStyle/>
          <a:p>
            <a:pPr algn="l" indent="0" marL="0">
              <a:buNone/>
            </a:pPr>
            <a:r>
              <a:rPr lang="en-US" sz="2200" dirty="0">
                <a:solidFill>
                  <a:schemeClr val="accent3"/>
                </a:solidFill>
              </a:rPr>
              <a:t>Why do we need change management?</a:t>
            </a:r>
            <a:endParaRPr lang="en-US" sz="22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Without it vs. with it</a:t>
            </a:r>
            <a:endParaRPr lang="en-US" sz="3400" dirty="0"/>
          </a:p>
        </p:txBody>
      </p:sp>
      <p:sp>
        <p:nvSpPr>
          <p:cNvPr id="4" name="Without change management"/>
          <p:cNvSpPr/>
          <p:nvPr/>
        </p:nvSpPr>
        <p:spPr>
          <a:xfrm>
            <a:off x="548640" y="1325880"/>
            <a:ext cx="5364328" cy="4754880"/>
          </a:xfrm>
          <a:prstGeom prst="roundRect">
            <a:avLst>
              <a:gd name="adj" fmla="val 1538"/>
            </a:avLst>
          </a:prstGeom>
          <a:solidFill>
            <a:schemeClr val="bg2"/>
          </a:solidFill>
          <a:ln/>
        </p:spPr>
      </p:sp>
      <p:pic>
        <p:nvPicPr>
          <p:cNvPr id="5" name="Image 0" descr="Without change management icon">    </p:cNvPr>
          <p:cNvPicPr>
            <a:picLocks noChangeAspect="1"/>
          </p:cNvPicPr>
          <p:nvPr/>
        </p:nvPicPr>
        <p:blipFill>
          <a:blip r:embed="rId1"/>
          <a:stretch>
            <a:fillRect/>
          </a:stretch>
        </p:blipFill>
        <p:spPr>
          <a:xfrm>
            <a:off x="822960" y="1600200"/>
            <a:ext cx="548640" cy="548640"/>
          </a:xfrm>
          <a:prstGeom prst="rect">
            <a:avLst/>
          </a:prstGeom>
        </p:spPr>
      </p:pic>
      <p:sp>
        <p:nvSpPr>
          <p:cNvPr id="6" name="Text 2"/>
          <p:cNvSpPr txBox="1"/>
          <p:nvPr/>
        </p:nvSpPr>
        <p:spPr>
          <a:xfrm>
            <a:off x="1508760" y="1618488"/>
            <a:ext cx="4175608" cy="502920"/>
          </a:xfrm>
          <a:prstGeom prst="rect">
            <a:avLst/>
          </a:prstGeom>
          <a:noFill/>
          <a:ln/>
        </p:spPr>
        <p:txBody>
          <a:bodyPr wrap="square" lIns="0" tIns="0" rIns="0" bIns="0" rtlCol="0" anchor="ctr"/>
          <a:lstStyle/>
          <a:p>
            <a:pPr indent="0" marL="0">
              <a:buNone/>
            </a:pPr>
            <a:r>
              <a:rPr lang="en-US" sz="2100" b="1" dirty="0">
                <a:solidFill>
                  <a:schemeClr val="tx2"/>
                </a:solidFill>
              </a:rPr>
              <a:t>Without change management</a:t>
            </a:r>
            <a:endParaRPr lang="en-US" sz="2100" dirty="0"/>
          </a:p>
        </p:txBody>
      </p:sp>
      <p:pic>
        <p:nvPicPr>
          <p:cNvPr id="7" name="Image 1" descr="bullet icon">    </p:cNvPr>
          <p:cNvPicPr>
            <a:picLocks noChangeAspect="1"/>
          </p:cNvPicPr>
          <p:nvPr/>
        </p:nvPicPr>
        <p:blipFill>
          <a:blip r:embed="rId2"/>
          <a:stretch>
            <a:fillRect/>
          </a:stretch>
        </p:blipFill>
        <p:spPr>
          <a:xfrm>
            <a:off x="868680" y="2450592"/>
            <a:ext cx="256032" cy="256032"/>
          </a:xfrm>
          <a:prstGeom prst="rect">
            <a:avLst/>
          </a:prstGeom>
        </p:spPr>
      </p:pic>
      <p:sp>
        <p:nvSpPr>
          <p:cNvPr id="8" name="Text 3"/>
          <p:cNvSpPr txBox="1"/>
          <p:nvPr/>
        </p:nvSpPr>
        <p:spPr>
          <a:xfrm>
            <a:off x="1280160" y="2377440"/>
            <a:ext cx="4404208" cy="548640"/>
          </a:xfrm>
          <a:prstGeom prst="rect">
            <a:avLst/>
          </a:prstGeom>
          <a:noFill/>
          <a:ln/>
        </p:spPr>
        <p:txBody>
          <a:bodyPr wrap="square" lIns="0" tIns="0" rIns="0" bIns="0" rtlCol="0" anchor="t"/>
          <a:lstStyle/>
          <a:p>
            <a:pPr indent="0" marL="0">
              <a:buNone/>
            </a:pPr>
            <a:r>
              <a:rPr lang="en-US" sz="1500" dirty="0">
                <a:solidFill>
                  <a:schemeClr val="tx1"/>
                </a:solidFill>
              </a:rPr>
              <a:t>Unplanned outages that disrupt business flow</a:t>
            </a:r>
            <a:endParaRPr lang="en-US" sz="1500" dirty="0"/>
          </a:p>
        </p:txBody>
      </p:sp>
      <p:pic>
        <p:nvPicPr>
          <p:cNvPr id="9" name="Image 2" descr="bullet icon">    </p:cNvPr>
          <p:cNvPicPr>
            <a:picLocks noChangeAspect="1"/>
          </p:cNvPicPr>
          <p:nvPr/>
        </p:nvPicPr>
        <p:blipFill>
          <a:blip r:embed="rId3"/>
          <a:stretch>
            <a:fillRect/>
          </a:stretch>
        </p:blipFill>
        <p:spPr>
          <a:xfrm>
            <a:off x="868680" y="3054096"/>
            <a:ext cx="256032" cy="256032"/>
          </a:xfrm>
          <a:prstGeom prst="rect">
            <a:avLst/>
          </a:prstGeom>
        </p:spPr>
      </p:pic>
      <p:sp>
        <p:nvSpPr>
          <p:cNvPr id="10" name="Text 4"/>
          <p:cNvSpPr txBox="1"/>
          <p:nvPr/>
        </p:nvSpPr>
        <p:spPr>
          <a:xfrm>
            <a:off x="1280160" y="2980944"/>
            <a:ext cx="4404208" cy="548640"/>
          </a:xfrm>
          <a:prstGeom prst="rect">
            <a:avLst/>
          </a:prstGeom>
          <a:noFill/>
          <a:ln/>
        </p:spPr>
        <p:txBody>
          <a:bodyPr wrap="square" lIns="0" tIns="0" rIns="0" bIns="0" rtlCol="0" anchor="t"/>
          <a:lstStyle/>
          <a:p>
            <a:pPr indent="0" marL="0">
              <a:buNone/>
            </a:pPr>
            <a:r>
              <a:rPr lang="en-US" sz="1500" dirty="0">
                <a:solidFill>
                  <a:schemeClr val="tx1"/>
                </a:solidFill>
              </a:rPr>
              <a:t>Untested changes reaching production</a:t>
            </a:r>
            <a:endParaRPr lang="en-US" sz="1500" dirty="0"/>
          </a:p>
        </p:txBody>
      </p:sp>
      <p:pic>
        <p:nvPicPr>
          <p:cNvPr id="11" name="Image 3" descr="bullet icon">    </p:cNvPr>
          <p:cNvPicPr>
            <a:picLocks noChangeAspect="1"/>
          </p:cNvPicPr>
          <p:nvPr/>
        </p:nvPicPr>
        <p:blipFill>
          <a:blip r:embed="rId4"/>
          <a:stretch>
            <a:fillRect/>
          </a:stretch>
        </p:blipFill>
        <p:spPr>
          <a:xfrm>
            <a:off x="868680" y="3657600"/>
            <a:ext cx="256032" cy="256032"/>
          </a:xfrm>
          <a:prstGeom prst="rect">
            <a:avLst/>
          </a:prstGeom>
        </p:spPr>
      </p:pic>
      <p:sp>
        <p:nvSpPr>
          <p:cNvPr id="12" name="Text 5"/>
          <p:cNvSpPr txBox="1"/>
          <p:nvPr/>
        </p:nvSpPr>
        <p:spPr>
          <a:xfrm>
            <a:off x="1280160" y="3584448"/>
            <a:ext cx="4404208" cy="548640"/>
          </a:xfrm>
          <a:prstGeom prst="rect">
            <a:avLst/>
          </a:prstGeom>
          <a:noFill/>
          <a:ln/>
        </p:spPr>
        <p:txBody>
          <a:bodyPr wrap="square" lIns="0" tIns="0" rIns="0" bIns="0" rtlCol="0" anchor="t"/>
          <a:lstStyle/>
          <a:p>
            <a:pPr indent="0" marL="0">
              <a:buNone/>
            </a:pPr>
            <a:r>
              <a:rPr lang="en-US" sz="1500" dirty="0">
                <a:solidFill>
                  <a:schemeClr val="tx1"/>
                </a:solidFill>
              </a:rPr>
              <a:t>Nobody knows what changed, when, or by whom</a:t>
            </a:r>
            <a:endParaRPr lang="en-US" sz="1500" dirty="0"/>
          </a:p>
        </p:txBody>
      </p:sp>
      <p:pic>
        <p:nvPicPr>
          <p:cNvPr id="13" name="Image 4" descr="bullet icon">    </p:cNvPr>
          <p:cNvPicPr>
            <a:picLocks noChangeAspect="1"/>
          </p:cNvPicPr>
          <p:nvPr/>
        </p:nvPicPr>
        <p:blipFill>
          <a:blip r:embed="rId5"/>
          <a:stretch>
            <a:fillRect/>
          </a:stretch>
        </p:blipFill>
        <p:spPr>
          <a:xfrm>
            <a:off x="868680" y="4261104"/>
            <a:ext cx="256032" cy="256032"/>
          </a:xfrm>
          <a:prstGeom prst="rect">
            <a:avLst/>
          </a:prstGeom>
        </p:spPr>
      </p:pic>
      <p:sp>
        <p:nvSpPr>
          <p:cNvPr id="14" name="Text 6"/>
          <p:cNvSpPr txBox="1"/>
          <p:nvPr/>
        </p:nvSpPr>
        <p:spPr>
          <a:xfrm>
            <a:off x="1280160" y="4187952"/>
            <a:ext cx="4404208" cy="548640"/>
          </a:xfrm>
          <a:prstGeom prst="rect">
            <a:avLst/>
          </a:prstGeom>
          <a:noFill/>
          <a:ln/>
        </p:spPr>
        <p:txBody>
          <a:bodyPr wrap="square" lIns="0" tIns="0" rIns="0" bIns="0" rtlCol="0" anchor="t"/>
          <a:lstStyle/>
          <a:p>
            <a:pPr indent="0" marL="0">
              <a:buNone/>
            </a:pPr>
            <a:r>
              <a:rPr lang="en-US" sz="1500" dirty="0">
                <a:solidFill>
                  <a:schemeClr val="tx1"/>
                </a:solidFill>
              </a:rPr>
              <a:t>Scope, timeline and budget surprises</a:t>
            </a:r>
            <a:endParaRPr lang="en-US" sz="1500" dirty="0"/>
          </a:p>
        </p:txBody>
      </p:sp>
      <p:pic>
        <p:nvPicPr>
          <p:cNvPr id="15" name="Image 5" descr="bullet icon">    </p:cNvPr>
          <p:cNvPicPr>
            <a:picLocks noChangeAspect="1"/>
          </p:cNvPicPr>
          <p:nvPr/>
        </p:nvPicPr>
        <p:blipFill>
          <a:blip r:embed="rId6"/>
          <a:stretch>
            <a:fillRect/>
          </a:stretch>
        </p:blipFill>
        <p:spPr>
          <a:xfrm>
            <a:off x="868680" y="4864608"/>
            <a:ext cx="256032" cy="256032"/>
          </a:xfrm>
          <a:prstGeom prst="rect">
            <a:avLst/>
          </a:prstGeom>
        </p:spPr>
      </p:pic>
      <p:sp>
        <p:nvSpPr>
          <p:cNvPr id="16" name="Text 7"/>
          <p:cNvSpPr txBox="1"/>
          <p:nvPr/>
        </p:nvSpPr>
        <p:spPr>
          <a:xfrm>
            <a:off x="1280160" y="4791456"/>
            <a:ext cx="4404208" cy="548640"/>
          </a:xfrm>
          <a:prstGeom prst="rect">
            <a:avLst/>
          </a:prstGeom>
          <a:noFill/>
          <a:ln/>
        </p:spPr>
        <p:txBody>
          <a:bodyPr wrap="square" lIns="0" tIns="0" rIns="0" bIns="0" rtlCol="0" anchor="t"/>
          <a:lstStyle/>
          <a:p>
            <a:pPr indent="0" marL="0">
              <a:buNone/>
            </a:pPr>
            <a:r>
              <a:rPr lang="en-US" sz="1500" dirty="0">
                <a:solidFill>
                  <a:schemeClr val="tx1"/>
                </a:solidFill>
              </a:rPr>
              <a:t>No way back when a change fails</a:t>
            </a:r>
            <a:endParaRPr lang="en-US" sz="1500" dirty="0"/>
          </a:p>
        </p:txBody>
      </p:sp>
      <p:pic>
        <p:nvPicPr>
          <p:cNvPr id="17" name="Image 6" descr="bullet icon">    </p:cNvPr>
          <p:cNvPicPr>
            <a:picLocks noChangeAspect="1"/>
          </p:cNvPicPr>
          <p:nvPr/>
        </p:nvPicPr>
        <p:blipFill>
          <a:blip r:embed="rId7"/>
          <a:stretch>
            <a:fillRect/>
          </a:stretch>
        </p:blipFill>
        <p:spPr>
          <a:xfrm>
            <a:off x="868680" y="5468112"/>
            <a:ext cx="256032" cy="256032"/>
          </a:xfrm>
          <a:prstGeom prst="rect">
            <a:avLst/>
          </a:prstGeom>
        </p:spPr>
      </p:pic>
      <p:sp>
        <p:nvSpPr>
          <p:cNvPr id="18" name="Text 8"/>
          <p:cNvSpPr txBox="1"/>
          <p:nvPr/>
        </p:nvSpPr>
        <p:spPr>
          <a:xfrm>
            <a:off x="1280160" y="5394960"/>
            <a:ext cx="4404208" cy="548640"/>
          </a:xfrm>
          <a:prstGeom prst="rect">
            <a:avLst/>
          </a:prstGeom>
          <a:noFill/>
          <a:ln/>
        </p:spPr>
        <p:txBody>
          <a:bodyPr wrap="square" lIns="0" tIns="0" rIns="0" bIns="0" rtlCol="0" anchor="t"/>
          <a:lstStyle/>
          <a:p>
            <a:pPr indent="0" marL="0">
              <a:buNone/>
            </a:pPr>
            <a:r>
              <a:rPr lang="en-US" sz="1500" dirty="0">
                <a:solidFill>
                  <a:schemeClr val="tx1"/>
                </a:solidFill>
              </a:rPr>
              <a:t>Gaps in audit and compliance evidence</a:t>
            </a:r>
            <a:endParaRPr lang="en-US" sz="1500" dirty="0"/>
          </a:p>
        </p:txBody>
      </p:sp>
      <p:sp>
        <p:nvSpPr>
          <p:cNvPr id="19" name="With change management"/>
          <p:cNvSpPr/>
          <p:nvPr/>
        </p:nvSpPr>
        <p:spPr>
          <a:xfrm>
            <a:off x="6278728" y="1325880"/>
            <a:ext cx="5364328" cy="4754880"/>
          </a:xfrm>
          <a:prstGeom prst="roundRect">
            <a:avLst>
              <a:gd name="adj" fmla="val 1538"/>
            </a:avLst>
          </a:prstGeom>
          <a:solidFill>
            <a:schemeClr val="bg2"/>
          </a:solidFill>
          <a:ln/>
        </p:spPr>
      </p:sp>
      <p:pic>
        <p:nvPicPr>
          <p:cNvPr id="20" name="Image 7" descr="With change management icon">    </p:cNvPr>
          <p:cNvPicPr>
            <a:picLocks noChangeAspect="1"/>
          </p:cNvPicPr>
          <p:nvPr/>
        </p:nvPicPr>
        <p:blipFill>
          <a:blip r:embed="rId8"/>
          <a:stretch>
            <a:fillRect/>
          </a:stretch>
        </p:blipFill>
        <p:spPr>
          <a:xfrm>
            <a:off x="6553048" y="1600200"/>
            <a:ext cx="548640" cy="548640"/>
          </a:xfrm>
          <a:prstGeom prst="rect">
            <a:avLst/>
          </a:prstGeom>
        </p:spPr>
      </p:pic>
      <p:sp>
        <p:nvSpPr>
          <p:cNvPr id="21" name="Text 10"/>
          <p:cNvSpPr txBox="1"/>
          <p:nvPr/>
        </p:nvSpPr>
        <p:spPr>
          <a:xfrm>
            <a:off x="7238848" y="1618488"/>
            <a:ext cx="4175608" cy="502920"/>
          </a:xfrm>
          <a:prstGeom prst="rect">
            <a:avLst/>
          </a:prstGeom>
          <a:noFill/>
          <a:ln/>
        </p:spPr>
        <p:txBody>
          <a:bodyPr wrap="square" lIns="0" tIns="0" rIns="0" bIns="0" rtlCol="0" anchor="ctr"/>
          <a:lstStyle/>
          <a:p>
            <a:pPr indent="0" marL="0">
              <a:buNone/>
            </a:pPr>
            <a:r>
              <a:rPr lang="en-US" sz="2100" b="1" dirty="0">
                <a:solidFill>
                  <a:schemeClr val="tx2"/>
                </a:solidFill>
              </a:rPr>
              <a:t>With change management</a:t>
            </a:r>
            <a:endParaRPr lang="en-US" sz="2100" dirty="0"/>
          </a:p>
        </p:txBody>
      </p:sp>
      <p:pic>
        <p:nvPicPr>
          <p:cNvPr id="22" name="Image 8" descr="bullet icon">    </p:cNvPr>
          <p:cNvPicPr>
            <a:picLocks noChangeAspect="1"/>
          </p:cNvPicPr>
          <p:nvPr/>
        </p:nvPicPr>
        <p:blipFill>
          <a:blip r:embed="rId9"/>
          <a:stretch>
            <a:fillRect/>
          </a:stretch>
        </p:blipFill>
        <p:spPr>
          <a:xfrm>
            <a:off x="6598768" y="2450592"/>
            <a:ext cx="256032" cy="256032"/>
          </a:xfrm>
          <a:prstGeom prst="rect">
            <a:avLst/>
          </a:prstGeom>
        </p:spPr>
      </p:pic>
      <p:sp>
        <p:nvSpPr>
          <p:cNvPr id="23" name="Text 11"/>
          <p:cNvSpPr txBox="1"/>
          <p:nvPr/>
        </p:nvSpPr>
        <p:spPr>
          <a:xfrm>
            <a:off x="7010248" y="2377440"/>
            <a:ext cx="4404208" cy="548640"/>
          </a:xfrm>
          <a:prstGeom prst="rect">
            <a:avLst/>
          </a:prstGeom>
          <a:noFill/>
          <a:ln/>
        </p:spPr>
        <p:txBody>
          <a:bodyPr wrap="square" lIns="0" tIns="0" rIns="0" bIns="0" rtlCol="0" anchor="t"/>
          <a:lstStyle/>
          <a:p>
            <a:pPr indent="0" marL="0">
              <a:buNone/>
            </a:pPr>
            <a:r>
              <a:rPr lang="en-US" sz="1500" dirty="0">
                <a:solidFill>
                  <a:schemeClr val="tx1"/>
                </a:solidFill>
              </a:rPr>
              <a:t>Risk and impact minimized for systems, applications, databases, devices and communications</a:t>
            </a:r>
            <a:endParaRPr lang="en-US" sz="1500" dirty="0"/>
          </a:p>
        </p:txBody>
      </p:sp>
      <p:pic>
        <p:nvPicPr>
          <p:cNvPr id="24" name="Image 9" descr="bullet icon">    </p:cNvPr>
          <p:cNvPicPr>
            <a:picLocks noChangeAspect="1"/>
          </p:cNvPicPr>
          <p:nvPr/>
        </p:nvPicPr>
        <p:blipFill>
          <a:blip r:embed="rId10"/>
          <a:stretch>
            <a:fillRect/>
          </a:stretch>
        </p:blipFill>
        <p:spPr>
          <a:xfrm>
            <a:off x="6598768" y="3054096"/>
            <a:ext cx="256032" cy="256032"/>
          </a:xfrm>
          <a:prstGeom prst="rect">
            <a:avLst/>
          </a:prstGeom>
        </p:spPr>
      </p:pic>
      <p:sp>
        <p:nvSpPr>
          <p:cNvPr id="25" name="Text 12"/>
          <p:cNvSpPr txBox="1"/>
          <p:nvPr/>
        </p:nvSpPr>
        <p:spPr>
          <a:xfrm>
            <a:off x="7010248" y="2980944"/>
            <a:ext cx="4404208" cy="548640"/>
          </a:xfrm>
          <a:prstGeom prst="rect">
            <a:avLst/>
          </a:prstGeom>
          <a:noFill/>
          <a:ln/>
        </p:spPr>
        <p:txBody>
          <a:bodyPr wrap="square" lIns="0" tIns="0" rIns="0" bIns="0" rtlCol="0" anchor="t"/>
          <a:lstStyle/>
          <a:p>
            <a:pPr indent="0" marL="0">
              <a:buNone/>
            </a:pPr>
            <a:r>
              <a:rPr lang="en-US" sz="1500" dirty="0">
                <a:solidFill>
                  <a:schemeClr val="tx1"/>
                </a:solidFill>
              </a:rPr>
              <a:t>Stable, reliable infrastructure and business flow</a:t>
            </a:r>
            <a:endParaRPr lang="en-US" sz="1500" dirty="0"/>
          </a:p>
        </p:txBody>
      </p:sp>
      <p:pic>
        <p:nvPicPr>
          <p:cNvPr id="26" name="Image 10" descr="bullet icon">    </p:cNvPr>
          <p:cNvPicPr>
            <a:picLocks noChangeAspect="1"/>
          </p:cNvPicPr>
          <p:nvPr/>
        </p:nvPicPr>
        <p:blipFill>
          <a:blip r:embed="rId11"/>
          <a:stretch>
            <a:fillRect/>
          </a:stretch>
        </p:blipFill>
        <p:spPr>
          <a:xfrm>
            <a:off x="6598768" y="3657600"/>
            <a:ext cx="256032" cy="256032"/>
          </a:xfrm>
          <a:prstGeom prst="rect">
            <a:avLst/>
          </a:prstGeom>
        </p:spPr>
      </p:pic>
      <p:sp>
        <p:nvSpPr>
          <p:cNvPr id="27" name="Text 13"/>
          <p:cNvSpPr txBox="1"/>
          <p:nvPr/>
        </p:nvSpPr>
        <p:spPr>
          <a:xfrm>
            <a:off x="7010248" y="3584448"/>
            <a:ext cx="4404208" cy="548640"/>
          </a:xfrm>
          <a:prstGeom prst="rect">
            <a:avLst/>
          </a:prstGeom>
          <a:noFill/>
          <a:ln/>
        </p:spPr>
        <p:txBody>
          <a:bodyPr wrap="square" lIns="0" tIns="0" rIns="0" bIns="0" rtlCol="0" anchor="t"/>
          <a:lstStyle/>
          <a:p>
            <a:pPr indent="0" marL="0">
              <a:buNone/>
            </a:pPr>
            <a:r>
              <a:rPr lang="en-US" sz="1500" dirty="0">
                <a:solidFill>
                  <a:schemeClr val="tx1"/>
                </a:solidFill>
              </a:rPr>
              <a:t>Every change justified, assessed and formally decided</a:t>
            </a:r>
            <a:endParaRPr lang="en-US" sz="1500" dirty="0"/>
          </a:p>
        </p:txBody>
      </p:sp>
      <p:pic>
        <p:nvPicPr>
          <p:cNvPr id="28" name="Image 11" descr="bullet icon">    </p:cNvPr>
          <p:cNvPicPr>
            <a:picLocks noChangeAspect="1"/>
          </p:cNvPicPr>
          <p:nvPr/>
        </p:nvPicPr>
        <p:blipFill>
          <a:blip r:embed="rId12"/>
          <a:stretch>
            <a:fillRect/>
          </a:stretch>
        </p:blipFill>
        <p:spPr>
          <a:xfrm>
            <a:off x="6598768" y="4261104"/>
            <a:ext cx="256032" cy="256032"/>
          </a:xfrm>
          <a:prstGeom prst="rect">
            <a:avLst/>
          </a:prstGeom>
        </p:spPr>
      </p:pic>
      <p:sp>
        <p:nvSpPr>
          <p:cNvPr id="29" name="Text 14"/>
          <p:cNvSpPr txBox="1"/>
          <p:nvPr/>
        </p:nvSpPr>
        <p:spPr>
          <a:xfrm>
            <a:off x="7010248" y="4187952"/>
            <a:ext cx="4404208" cy="548640"/>
          </a:xfrm>
          <a:prstGeom prst="rect">
            <a:avLst/>
          </a:prstGeom>
          <a:noFill/>
          <a:ln/>
        </p:spPr>
        <p:txBody>
          <a:bodyPr wrap="square" lIns="0" tIns="0" rIns="0" bIns="0" rtlCol="0" anchor="t"/>
          <a:lstStyle/>
          <a:p>
            <a:pPr indent="0" marL="0">
              <a:buNone/>
            </a:pPr>
            <a:r>
              <a:rPr lang="en-US" sz="1500" dirty="0">
                <a:solidFill>
                  <a:schemeClr val="tx1"/>
                </a:solidFill>
              </a:rPr>
              <a:t>Impact on scope, time and cost known before approval</a:t>
            </a:r>
            <a:endParaRPr lang="en-US" sz="1500" dirty="0"/>
          </a:p>
        </p:txBody>
      </p:sp>
      <p:pic>
        <p:nvPicPr>
          <p:cNvPr id="30" name="Image 12" descr="bullet icon">    </p:cNvPr>
          <p:cNvPicPr>
            <a:picLocks noChangeAspect="1"/>
          </p:cNvPicPr>
          <p:nvPr/>
        </p:nvPicPr>
        <p:blipFill>
          <a:blip r:embed="rId13"/>
          <a:stretch>
            <a:fillRect/>
          </a:stretch>
        </p:blipFill>
        <p:spPr>
          <a:xfrm>
            <a:off x="6598768" y="4864608"/>
            <a:ext cx="256032" cy="256032"/>
          </a:xfrm>
          <a:prstGeom prst="rect">
            <a:avLst/>
          </a:prstGeom>
        </p:spPr>
      </p:pic>
      <p:sp>
        <p:nvSpPr>
          <p:cNvPr id="31" name="Text 15"/>
          <p:cNvSpPr txBox="1"/>
          <p:nvPr/>
        </p:nvSpPr>
        <p:spPr>
          <a:xfrm>
            <a:off x="7010248" y="4791456"/>
            <a:ext cx="4404208" cy="548640"/>
          </a:xfrm>
          <a:prstGeom prst="rect">
            <a:avLst/>
          </a:prstGeom>
          <a:noFill/>
          <a:ln/>
        </p:spPr>
        <p:txBody>
          <a:bodyPr wrap="square" lIns="0" tIns="0" rIns="0" bIns="0" rtlCol="0" anchor="t"/>
          <a:lstStyle/>
          <a:p>
            <a:pPr indent="0" marL="0">
              <a:buNone/>
            </a:pPr>
            <a:r>
              <a:rPr lang="en-US" sz="1500" dirty="0">
                <a:solidFill>
                  <a:schemeClr val="tx1"/>
                </a:solidFill>
              </a:rPr>
              <a:t>Rollback plan and post go-live sanity check for every CR</a:t>
            </a:r>
            <a:endParaRPr lang="en-US" sz="1500" dirty="0"/>
          </a:p>
        </p:txBody>
      </p:sp>
      <p:pic>
        <p:nvPicPr>
          <p:cNvPr id="32" name="Image 13" descr="bullet icon">    </p:cNvPr>
          <p:cNvPicPr>
            <a:picLocks noChangeAspect="1"/>
          </p:cNvPicPr>
          <p:nvPr/>
        </p:nvPicPr>
        <p:blipFill>
          <a:blip r:embed="rId14"/>
          <a:stretch>
            <a:fillRect/>
          </a:stretch>
        </p:blipFill>
        <p:spPr>
          <a:xfrm>
            <a:off x="6598768" y="5468112"/>
            <a:ext cx="256032" cy="256032"/>
          </a:xfrm>
          <a:prstGeom prst="rect">
            <a:avLst/>
          </a:prstGeom>
        </p:spPr>
      </p:pic>
      <p:sp>
        <p:nvSpPr>
          <p:cNvPr id="33" name="Text 16"/>
          <p:cNvSpPr txBox="1"/>
          <p:nvPr/>
        </p:nvSpPr>
        <p:spPr>
          <a:xfrm>
            <a:off x="7010248" y="5394960"/>
            <a:ext cx="4404208" cy="548640"/>
          </a:xfrm>
          <a:prstGeom prst="rect">
            <a:avLst/>
          </a:prstGeom>
          <a:noFill/>
          <a:ln/>
        </p:spPr>
        <p:txBody>
          <a:bodyPr wrap="square" lIns="0" tIns="0" rIns="0" bIns="0" rtlCol="0" anchor="t"/>
          <a:lstStyle/>
          <a:p>
            <a:pPr indent="0" marL="0">
              <a:buNone/>
            </a:pPr>
            <a:r>
              <a:rPr lang="en-US" sz="1500" dirty="0">
                <a:solidFill>
                  <a:schemeClr val="tx1"/>
                </a:solidFill>
              </a:rPr>
              <a:t>CRs archived for audit and compliance</a:t>
            </a:r>
            <a:endParaRPr lang="en-US" sz="15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Why it matters for testing</a:t>
            </a:r>
            <a:endParaRPr lang="en-US" sz="3400" dirty="0"/>
          </a:p>
        </p:txBody>
      </p:sp>
      <p:sp>
        <p:nvSpPr>
          <p:cNvPr id="4" name="Impact analysis"/>
          <p:cNvSpPr/>
          <p:nvPr/>
        </p:nvSpPr>
        <p:spPr>
          <a:xfrm>
            <a:off x="548640" y="1463040"/>
            <a:ext cx="2567864" cy="4480560"/>
          </a:xfrm>
          <a:prstGeom prst="roundRect">
            <a:avLst>
              <a:gd name="adj" fmla="val 2849"/>
            </a:avLst>
          </a:prstGeom>
          <a:solidFill>
            <a:schemeClr val="bg2"/>
          </a:solidFill>
          <a:ln/>
        </p:spPr>
      </p:sp>
      <p:sp>
        <p:nvSpPr>
          <p:cNvPr id="5" name="Shape 2"/>
          <p:cNvSpPr/>
          <p:nvPr/>
        </p:nvSpPr>
        <p:spPr>
          <a:xfrm>
            <a:off x="1329652" y="1874520"/>
            <a:ext cx="1005840" cy="1005840"/>
          </a:xfrm>
          <a:prstGeom prst="ellipse">
            <a:avLst/>
          </a:prstGeom>
          <a:solidFill>
            <a:schemeClr val="accent1"/>
          </a:solidFill>
          <a:ln/>
        </p:spPr>
      </p:sp>
      <p:pic>
        <p:nvPicPr>
          <p:cNvPr id="6" name="Image 0" descr="Search icon">    </p:cNvPr>
          <p:cNvPicPr>
            <a:picLocks noChangeAspect="1"/>
          </p:cNvPicPr>
          <p:nvPr/>
        </p:nvPicPr>
        <p:blipFill>
          <a:blip r:embed="rId1"/>
          <a:stretch>
            <a:fillRect/>
          </a:stretch>
        </p:blipFill>
        <p:spPr>
          <a:xfrm>
            <a:off x="1571054" y="2115922"/>
            <a:ext cx="523037" cy="523037"/>
          </a:xfrm>
          <a:prstGeom prst="rect">
            <a:avLst/>
          </a:prstGeom>
        </p:spPr>
      </p:pic>
      <p:sp>
        <p:nvSpPr>
          <p:cNvPr id="7" name="Text 3"/>
          <p:cNvSpPr txBox="1"/>
          <p:nvPr/>
        </p:nvSpPr>
        <p:spPr>
          <a:xfrm>
            <a:off x="777240" y="3154680"/>
            <a:ext cx="2110664" cy="457200"/>
          </a:xfrm>
          <a:prstGeom prst="rect">
            <a:avLst/>
          </a:prstGeom>
          <a:noFill/>
          <a:ln/>
        </p:spPr>
        <p:txBody>
          <a:bodyPr wrap="square" lIns="0" tIns="0" rIns="0" bIns="0" rtlCol="0" anchor="t"/>
          <a:lstStyle/>
          <a:p>
            <a:pPr algn="ctr" indent="0" marL="0">
              <a:buNone/>
            </a:pPr>
            <a:r>
              <a:rPr lang="en-US" sz="1900" b="1" dirty="0">
                <a:solidFill>
                  <a:schemeClr val="tx2"/>
                </a:solidFill>
              </a:rPr>
              <a:t>Impact analysis</a:t>
            </a:r>
            <a:endParaRPr lang="en-US" sz="1900" dirty="0"/>
          </a:p>
        </p:txBody>
      </p:sp>
      <p:sp>
        <p:nvSpPr>
          <p:cNvPr id="8" name="Text 4"/>
          <p:cNvSpPr txBox="1"/>
          <p:nvPr/>
        </p:nvSpPr>
        <p:spPr>
          <a:xfrm>
            <a:off x="822960" y="3749040"/>
            <a:ext cx="2019224" cy="2011680"/>
          </a:xfrm>
          <a:prstGeom prst="rect">
            <a:avLst/>
          </a:prstGeom>
          <a:noFill/>
          <a:ln/>
        </p:spPr>
        <p:txBody>
          <a:bodyPr wrap="square" lIns="0" tIns="0" rIns="0" bIns="0" rtlCol="0" anchor="t"/>
          <a:lstStyle/>
          <a:p>
            <a:pPr indent="0" marL="0">
              <a:buNone/>
            </a:pPr>
            <a:r>
              <a:rPr lang="en-US" sz="1700" dirty="0">
                <a:solidFill>
                  <a:schemeClr val="tx1"/>
                </a:solidFill>
              </a:rPr>
              <a:t>Development &amp; QA analyse impact on functionality, architecture, performance and dependencies</a:t>
            </a:r>
            <a:endParaRPr lang="en-US" sz="1700" dirty="0"/>
          </a:p>
        </p:txBody>
      </p:sp>
      <p:sp>
        <p:nvSpPr>
          <p:cNvPr id="9" name="Regression scope"/>
          <p:cNvSpPr/>
          <p:nvPr/>
        </p:nvSpPr>
        <p:spPr>
          <a:xfrm>
            <a:off x="3390824" y="1463040"/>
            <a:ext cx="2567864" cy="4480560"/>
          </a:xfrm>
          <a:prstGeom prst="roundRect">
            <a:avLst>
              <a:gd name="adj" fmla="val 2849"/>
            </a:avLst>
          </a:prstGeom>
          <a:solidFill>
            <a:schemeClr val="bg2"/>
          </a:solidFill>
          <a:ln/>
        </p:spPr>
      </p:sp>
      <p:sp>
        <p:nvSpPr>
          <p:cNvPr id="10" name="Shape 6"/>
          <p:cNvSpPr/>
          <p:nvPr/>
        </p:nvSpPr>
        <p:spPr>
          <a:xfrm>
            <a:off x="4171836" y="1874520"/>
            <a:ext cx="1005840" cy="1005840"/>
          </a:xfrm>
          <a:prstGeom prst="ellipse">
            <a:avLst/>
          </a:prstGeom>
          <a:solidFill>
            <a:schemeClr val="accent1"/>
          </a:solidFill>
          <a:ln/>
        </p:spPr>
      </p:sp>
      <p:pic>
        <p:nvPicPr>
          <p:cNvPr id="11" name="Image 1" descr="SyncAlt icon">    </p:cNvPr>
          <p:cNvPicPr>
            <a:picLocks noChangeAspect="1"/>
          </p:cNvPicPr>
          <p:nvPr/>
        </p:nvPicPr>
        <p:blipFill>
          <a:blip r:embed="rId2"/>
          <a:stretch>
            <a:fillRect/>
          </a:stretch>
        </p:blipFill>
        <p:spPr>
          <a:xfrm>
            <a:off x="4413237" y="2115922"/>
            <a:ext cx="523037" cy="523037"/>
          </a:xfrm>
          <a:prstGeom prst="rect">
            <a:avLst/>
          </a:prstGeom>
        </p:spPr>
      </p:pic>
      <p:sp>
        <p:nvSpPr>
          <p:cNvPr id="12" name="Text 7"/>
          <p:cNvSpPr txBox="1"/>
          <p:nvPr/>
        </p:nvSpPr>
        <p:spPr>
          <a:xfrm>
            <a:off x="3619424" y="3154680"/>
            <a:ext cx="2110664" cy="457200"/>
          </a:xfrm>
          <a:prstGeom prst="rect">
            <a:avLst/>
          </a:prstGeom>
          <a:noFill/>
          <a:ln/>
        </p:spPr>
        <p:txBody>
          <a:bodyPr wrap="square" lIns="0" tIns="0" rIns="0" bIns="0" rtlCol="0" anchor="t"/>
          <a:lstStyle/>
          <a:p>
            <a:pPr algn="ctr" indent="0" marL="0">
              <a:buNone/>
            </a:pPr>
            <a:r>
              <a:rPr lang="en-US" sz="1900" b="1" dirty="0">
                <a:solidFill>
                  <a:schemeClr val="tx2"/>
                </a:solidFill>
              </a:rPr>
              <a:t>Regression scope</a:t>
            </a:r>
            <a:endParaRPr lang="en-US" sz="1900" dirty="0"/>
          </a:p>
        </p:txBody>
      </p:sp>
      <p:sp>
        <p:nvSpPr>
          <p:cNvPr id="13" name="Text 8"/>
          <p:cNvSpPr txBox="1"/>
          <p:nvPr/>
        </p:nvSpPr>
        <p:spPr>
          <a:xfrm>
            <a:off x="3665144" y="3749040"/>
            <a:ext cx="2019224" cy="2011680"/>
          </a:xfrm>
          <a:prstGeom prst="rect">
            <a:avLst/>
          </a:prstGeom>
          <a:noFill/>
          <a:ln/>
        </p:spPr>
        <p:txBody>
          <a:bodyPr wrap="square" lIns="0" tIns="0" rIns="0" bIns="0" rtlCol="0" anchor="t"/>
          <a:lstStyle/>
          <a:p>
            <a:pPr indent="0" marL="0">
              <a:buNone/>
            </a:pPr>
            <a:r>
              <a:rPr lang="en-US" sz="1700" dirty="0">
                <a:solidFill>
                  <a:schemeClr val="tx1"/>
                </a:solidFill>
              </a:rPr>
              <a:t>Unit, integration and regression testing are part of every change, plus UAT if required</a:t>
            </a:r>
            <a:endParaRPr lang="en-US" sz="1700" dirty="0"/>
          </a:p>
        </p:txBody>
      </p:sp>
      <p:sp>
        <p:nvSpPr>
          <p:cNvPr id="14" name="Evidence on the CR"/>
          <p:cNvSpPr/>
          <p:nvPr/>
        </p:nvSpPr>
        <p:spPr>
          <a:xfrm>
            <a:off x="6233008" y="1463040"/>
            <a:ext cx="2567864" cy="4480560"/>
          </a:xfrm>
          <a:prstGeom prst="roundRect">
            <a:avLst>
              <a:gd name="adj" fmla="val 2849"/>
            </a:avLst>
          </a:prstGeom>
          <a:solidFill>
            <a:schemeClr val="bg2"/>
          </a:solidFill>
          <a:ln/>
        </p:spPr>
      </p:sp>
      <p:sp>
        <p:nvSpPr>
          <p:cNvPr id="15" name="Shape 10"/>
          <p:cNvSpPr/>
          <p:nvPr/>
        </p:nvSpPr>
        <p:spPr>
          <a:xfrm>
            <a:off x="7014019" y="1874520"/>
            <a:ext cx="1005840" cy="1005840"/>
          </a:xfrm>
          <a:prstGeom prst="ellipse">
            <a:avLst/>
          </a:prstGeom>
          <a:solidFill>
            <a:schemeClr val="accent1"/>
          </a:solidFill>
          <a:ln/>
        </p:spPr>
      </p:sp>
      <p:pic>
        <p:nvPicPr>
          <p:cNvPr id="16" name="Image 2" descr="ClipboardCheck icon">    </p:cNvPr>
          <p:cNvPicPr>
            <a:picLocks noChangeAspect="1"/>
          </p:cNvPicPr>
          <p:nvPr/>
        </p:nvPicPr>
        <p:blipFill>
          <a:blip r:embed="rId3"/>
          <a:stretch>
            <a:fillRect/>
          </a:stretch>
        </p:blipFill>
        <p:spPr>
          <a:xfrm>
            <a:off x="7255421" y="2115922"/>
            <a:ext cx="523037" cy="523037"/>
          </a:xfrm>
          <a:prstGeom prst="rect">
            <a:avLst/>
          </a:prstGeom>
        </p:spPr>
      </p:pic>
      <p:sp>
        <p:nvSpPr>
          <p:cNvPr id="17" name="Text 11"/>
          <p:cNvSpPr txBox="1"/>
          <p:nvPr/>
        </p:nvSpPr>
        <p:spPr>
          <a:xfrm>
            <a:off x="6461608" y="3154680"/>
            <a:ext cx="2110664" cy="457200"/>
          </a:xfrm>
          <a:prstGeom prst="rect">
            <a:avLst/>
          </a:prstGeom>
          <a:noFill/>
          <a:ln/>
        </p:spPr>
        <p:txBody>
          <a:bodyPr wrap="square" lIns="0" tIns="0" rIns="0" bIns="0" rtlCol="0" anchor="t"/>
          <a:lstStyle/>
          <a:p>
            <a:pPr algn="ctr" indent="0" marL="0">
              <a:buNone/>
            </a:pPr>
            <a:r>
              <a:rPr lang="en-US" sz="1900" b="1" dirty="0">
                <a:solidFill>
                  <a:schemeClr val="tx2"/>
                </a:solidFill>
              </a:rPr>
              <a:t>Evidence on the CR</a:t>
            </a:r>
            <a:endParaRPr lang="en-US" sz="1900" dirty="0"/>
          </a:p>
        </p:txBody>
      </p:sp>
      <p:sp>
        <p:nvSpPr>
          <p:cNvPr id="18" name="Text 12"/>
          <p:cNvSpPr txBox="1"/>
          <p:nvPr/>
        </p:nvSpPr>
        <p:spPr>
          <a:xfrm>
            <a:off x="6507328" y="3749040"/>
            <a:ext cx="2019224" cy="2011680"/>
          </a:xfrm>
          <a:prstGeom prst="rect">
            <a:avLst/>
          </a:prstGeom>
          <a:noFill/>
          <a:ln/>
        </p:spPr>
        <p:txBody>
          <a:bodyPr wrap="square" lIns="0" tIns="0" rIns="0" bIns="0" rtlCol="0" anchor="t"/>
          <a:lstStyle/>
          <a:p>
            <a:pPr indent="0" marL="0">
              <a:buNone/>
            </a:pPr>
            <a:r>
              <a:rPr lang="en-US" sz="1700" dirty="0">
                <a:solidFill>
                  <a:schemeClr val="tx1"/>
                </a:solidFill>
              </a:rPr>
              <a:t>Test steps, results, tester and acceptance signatures are fields on the IT CR form</a:t>
            </a:r>
            <a:endParaRPr lang="en-US" sz="1700" dirty="0"/>
          </a:p>
        </p:txBody>
      </p:sp>
      <p:sp>
        <p:nvSpPr>
          <p:cNvPr id="19" name="Post go-live check"/>
          <p:cNvSpPr/>
          <p:nvPr/>
        </p:nvSpPr>
        <p:spPr>
          <a:xfrm>
            <a:off x="9075191" y="1463040"/>
            <a:ext cx="2567864" cy="4480560"/>
          </a:xfrm>
          <a:prstGeom prst="roundRect">
            <a:avLst>
              <a:gd name="adj" fmla="val 2849"/>
            </a:avLst>
          </a:prstGeom>
          <a:solidFill>
            <a:schemeClr val="bg2"/>
          </a:solidFill>
          <a:ln/>
        </p:spPr>
      </p:sp>
      <p:sp>
        <p:nvSpPr>
          <p:cNvPr id="20" name="Shape 14"/>
          <p:cNvSpPr/>
          <p:nvPr/>
        </p:nvSpPr>
        <p:spPr>
          <a:xfrm>
            <a:off x="9856203" y="1874520"/>
            <a:ext cx="1005840" cy="1005840"/>
          </a:xfrm>
          <a:prstGeom prst="ellipse">
            <a:avLst/>
          </a:prstGeom>
          <a:solidFill>
            <a:schemeClr val="accent1"/>
          </a:solidFill>
          <a:ln/>
        </p:spPr>
      </p:sp>
      <p:pic>
        <p:nvPicPr>
          <p:cNvPr id="21" name="Image 3" descr="Eye icon">    </p:cNvPr>
          <p:cNvPicPr>
            <a:picLocks noChangeAspect="1"/>
          </p:cNvPicPr>
          <p:nvPr/>
        </p:nvPicPr>
        <p:blipFill>
          <a:blip r:embed="rId4"/>
          <a:stretch>
            <a:fillRect/>
          </a:stretch>
        </p:blipFill>
        <p:spPr>
          <a:xfrm>
            <a:off x="10097605" y="2115922"/>
            <a:ext cx="523037" cy="523037"/>
          </a:xfrm>
          <a:prstGeom prst="rect">
            <a:avLst/>
          </a:prstGeom>
        </p:spPr>
      </p:pic>
      <p:sp>
        <p:nvSpPr>
          <p:cNvPr id="22" name="Text 15"/>
          <p:cNvSpPr txBox="1"/>
          <p:nvPr/>
        </p:nvSpPr>
        <p:spPr>
          <a:xfrm>
            <a:off x="9303791" y="3154680"/>
            <a:ext cx="2110664" cy="457200"/>
          </a:xfrm>
          <a:prstGeom prst="rect">
            <a:avLst/>
          </a:prstGeom>
          <a:noFill/>
          <a:ln/>
        </p:spPr>
        <p:txBody>
          <a:bodyPr wrap="square" lIns="0" tIns="0" rIns="0" bIns="0" rtlCol="0" anchor="t"/>
          <a:lstStyle/>
          <a:p>
            <a:pPr algn="ctr" indent="0" marL="0">
              <a:buNone/>
            </a:pPr>
            <a:r>
              <a:rPr lang="en-US" sz="1900" b="1" dirty="0">
                <a:solidFill>
                  <a:schemeClr val="tx2"/>
                </a:solidFill>
              </a:rPr>
              <a:t>Post go-live check</a:t>
            </a:r>
            <a:endParaRPr lang="en-US" sz="1900" dirty="0"/>
          </a:p>
        </p:txBody>
      </p:sp>
      <p:sp>
        <p:nvSpPr>
          <p:cNvPr id="23" name="Text 16"/>
          <p:cNvSpPr txBox="1"/>
          <p:nvPr/>
        </p:nvSpPr>
        <p:spPr>
          <a:xfrm>
            <a:off x="9349511" y="3749040"/>
            <a:ext cx="2019224" cy="2011680"/>
          </a:xfrm>
          <a:prstGeom prst="rect">
            <a:avLst/>
          </a:prstGeom>
          <a:noFill/>
          <a:ln/>
        </p:spPr>
        <p:txBody>
          <a:bodyPr wrap="square" lIns="0" tIns="0" rIns="0" bIns="0" rtlCol="0" anchor="t"/>
          <a:lstStyle/>
          <a:p>
            <a:pPr indent="0" marL="0">
              <a:buNone/>
            </a:pPr>
            <a:r>
              <a:rPr lang="en-US" sz="1700" dirty="0">
                <a:solidFill>
                  <a:schemeClr val="tx1"/>
                </a:solidFill>
              </a:rPr>
              <a:t>A sanity check after deployment confirms the change worked in production</a:t>
            </a:r>
            <a:endParaRPr lang="en-US" sz="17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2331720"/>
            <a:ext cx="7772400" cy="1188720"/>
          </a:xfrm>
          <a:prstGeom prst="rect">
            <a:avLst/>
          </a:prstGeom>
          <a:noFill/>
          <a:ln/>
        </p:spPr>
        <p:txBody>
          <a:bodyPr wrap="square" lIns="0" tIns="0" rIns="0" bIns="0" rtlCol="0" anchor="ctr"/>
          <a:lstStyle/>
          <a:p>
            <a:pPr algn="l" indent="0" marL="0">
              <a:buNone/>
            </a:pPr>
            <a:r>
              <a:rPr lang="en-US" sz="5400" b="1" dirty="0">
                <a:solidFill>
                  <a:schemeClr val="bg1"/>
                </a:solidFill>
              </a:rPr>
              <a:t>HOW?</a:t>
            </a:r>
            <a:endParaRPr lang="en-US" sz="5400" dirty="0"/>
          </a:p>
        </p:txBody>
      </p:sp>
      <p:sp>
        <p:nvSpPr>
          <p:cNvPr id="3" name="Text 1"/>
          <p:cNvSpPr/>
          <p:nvPr>
            <p:ph idx="103" type="body" hasCustomPrompt="1"/>
          </p:nvPr>
        </p:nvSpPr>
        <p:spPr>
          <a:xfrm>
            <a:off x="548640" y="3566160"/>
            <a:ext cx="7772400" cy="822960"/>
          </a:xfrm>
          <a:prstGeom prst="rect">
            <a:avLst/>
          </a:prstGeom>
          <a:noFill/>
          <a:ln/>
        </p:spPr>
        <p:txBody>
          <a:bodyPr wrap="square" lIns="0" tIns="0" rIns="0" bIns="0" rtlCol="0" anchor="t"/>
          <a:lstStyle/>
          <a:p>
            <a:pPr algn="l" indent="0" marL="0">
              <a:buNone/>
            </a:pPr>
            <a:r>
              <a:rPr lang="en-US" sz="2200" dirty="0">
                <a:solidFill>
                  <a:schemeClr val="accent3"/>
                </a:solidFill>
              </a:rPr>
              <a:t>Roles, the CAB, the CR process and the IT CR form</a:t>
            </a:r>
            <a:endParaRPr lang="en-US" sz="22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Roles and responsibilities</a:t>
            </a:r>
            <a:endParaRPr lang="en-US" sz="3400" dirty="0"/>
          </a:p>
        </p:txBody>
      </p:sp>
      <p:sp>
        <p:nvSpPr>
          <p:cNvPr id="4" name="Technical Change Advisory Board"/>
          <p:cNvSpPr/>
          <p:nvPr/>
        </p:nvSpPr>
        <p:spPr>
          <a:xfrm>
            <a:off x="548640" y="1325880"/>
            <a:ext cx="5364328" cy="1965960"/>
          </a:xfrm>
          <a:prstGeom prst="roundRect">
            <a:avLst>
              <a:gd name="adj" fmla="val 3721"/>
            </a:avLst>
          </a:prstGeom>
          <a:solidFill>
            <a:schemeClr val="bg2"/>
          </a:solidFill>
          <a:ln/>
        </p:spPr>
      </p:sp>
      <p:sp>
        <p:nvSpPr>
          <p:cNvPr id="5" name="Shape 2"/>
          <p:cNvSpPr/>
          <p:nvPr/>
        </p:nvSpPr>
        <p:spPr>
          <a:xfrm>
            <a:off x="822960" y="1600200"/>
            <a:ext cx="777240" cy="777240"/>
          </a:xfrm>
          <a:prstGeom prst="ellipse">
            <a:avLst/>
          </a:prstGeom>
          <a:solidFill>
            <a:schemeClr val="tx2"/>
          </a:solidFill>
          <a:ln/>
        </p:spPr>
      </p:sp>
      <p:pic>
        <p:nvPicPr>
          <p:cNvPr id="6" name="Image 0" descr="Users icon">    </p:cNvPr>
          <p:cNvPicPr>
            <a:picLocks noChangeAspect="1"/>
          </p:cNvPicPr>
          <p:nvPr/>
        </p:nvPicPr>
        <p:blipFill>
          <a:blip r:embed="rId1"/>
          <a:stretch>
            <a:fillRect/>
          </a:stretch>
        </p:blipFill>
        <p:spPr>
          <a:xfrm>
            <a:off x="1009498" y="1786738"/>
            <a:ext cx="404165" cy="404165"/>
          </a:xfrm>
          <a:prstGeom prst="rect">
            <a:avLst/>
          </a:prstGeom>
        </p:spPr>
      </p:pic>
      <p:sp>
        <p:nvSpPr>
          <p:cNvPr id="7" name="Text 3"/>
          <p:cNvSpPr txBox="1"/>
          <p:nvPr/>
        </p:nvSpPr>
        <p:spPr>
          <a:xfrm>
            <a:off x="1828800" y="1600200"/>
            <a:ext cx="3901288" cy="457200"/>
          </a:xfrm>
          <a:prstGeom prst="rect">
            <a:avLst/>
          </a:prstGeom>
          <a:noFill/>
          <a:ln/>
        </p:spPr>
        <p:txBody>
          <a:bodyPr wrap="square" lIns="0" tIns="0" rIns="0" bIns="0" rtlCol="0" anchor="t"/>
          <a:lstStyle/>
          <a:p>
            <a:pPr indent="0" marL="0">
              <a:buNone/>
            </a:pPr>
            <a:r>
              <a:rPr lang="en-US" sz="1900" b="1" dirty="0">
                <a:solidFill>
                  <a:schemeClr val="tx2"/>
                </a:solidFill>
              </a:rPr>
              <a:t>Technical Change Advisory Board</a:t>
            </a:r>
            <a:endParaRPr lang="en-US" sz="1900" dirty="0"/>
          </a:p>
        </p:txBody>
      </p:sp>
      <p:sp>
        <p:nvSpPr>
          <p:cNvPr id="8" name="Text 4"/>
          <p:cNvSpPr txBox="1"/>
          <p:nvPr/>
        </p:nvSpPr>
        <p:spPr>
          <a:xfrm>
            <a:off x="1828800" y="2103120"/>
            <a:ext cx="3901288" cy="1051560"/>
          </a:xfrm>
          <a:prstGeom prst="rect">
            <a:avLst/>
          </a:prstGeom>
          <a:noFill/>
          <a:ln/>
        </p:spPr>
        <p:txBody>
          <a:bodyPr wrap="square" lIns="0" tIns="0" rIns="0" bIns="0" rtlCol="0" anchor="t"/>
          <a:lstStyle/>
          <a:p>
            <a:pPr indent="0" marL="0">
              <a:buNone/>
            </a:pPr>
            <a:r>
              <a:rPr lang="en-US" sz="1500" dirty="0">
                <a:solidFill>
                  <a:schemeClr val="tx1"/>
                </a:solidFill>
              </a:rPr>
              <a:t>Ensures changes follow the Change Management Procedure. Reviews the procedure to keep it up to date and relevant. Defines which service-owner approvals are required.</a:t>
            </a:r>
            <a:endParaRPr lang="en-US" sz="1500" dirty="0"/>
          </a:p>
        </p:txBody>
      </p:sp>
      <p:sp>
        <p:nvSpPr>
          <p:cNvPr id="9" name="IT Services Staff (technical role)"/>
          <p:cNvSpPr/>
          <p:nvPr/>
        </p:nvSpPr>
        <p:spPr>
          <a:xfrm>
            <a:off x="6278728" y="1325880"/>
            <a:ext cx="5364328" cy="1965960"/>
          </a:xfrm>
          <a:prstGeom prst="roundRect">
            <a:avLst>
              <a:gd name="adj" fmla="val 3721"/>
            </a:avLst>
          </a:prstGeom>
          <a:solidFill>
            <a:schemeClr val="bg2"/>
          </a:solidFill>
          <a:ln/>
        </p:spPr>
      </p:sp>
      <p:sp>
        <p:nvSpPr>
          <p:cNvPr id="10" name="Shape 6"/>
          <p:cNvSpPr/>
          <p:nvPr/>
        </p:nvSpPr>
        <p:spPr>
          <a:xfrm>
            <a:off x="6553048" y="1600200"/>
            <a:ext cx="777240" cy="777240"/>
          </a:xfrm>
          <a:prstGeom prst="ellipse">
            <a:avLst/>
          </a:prstGeom>
          <a:solidFill>
            <a:schemeClr val="accent1"/>
          </a:solidFill>
          <a:ln/>
        </p:spPr>
      </p:sp>
      <p:pic>
        <p:nvPicPr>
          <p:cNvPr id="11" name="Image 1" descr="UserCog icon">    </p:cNvPr>
          <p:cNvPicPr>
            <a:picLocks noChangeAspect="1"/>
          </p:cNvPicPr>
          <p:nvPr/>
        </p:nvPicPr>
        <p:blipFill>
          <a:blip r:embed="rId2"/>
          <a:stretch>
            <a:fillRect/>
          </a:stretch>
        </p:blipFill>
        <p:spPr>
          <a:xfrm>
            <a:off x="6739585" y="1786738"/>
            <a:ext cx="404165" cy="404165"/>
          </a:xfrm>
          <a:prstGeom prst="rect">
            <a:avLst/>
          </a:prstGeom>
        </p:spPr>
      </p:pic>
      <p:sp>
        <p:nvSpPr>
          <p:cNvPr id="12" name="Text 7"/>
          <p:cNvSpPr txBox="1"/>
          <p:nvPr/>
        </p:nvSpPr>
        <p:spPr>
          <a:xfrm>
            <a:off x="7558888" y="1600200"/>
            <a:ext cx="3901288" cy="457200"/>
          </a:xfrm>
          <a:prstGeom prst="rect">
            <a:avLst/>
          </a:prstGeom>
          <a:noFill/>
          <a:ln/>
        </p:spPr>
        <p:txBody>
          <a:bodyPr wrap="square" lIns="0" tIns="0" rIns="0" bIns="0" rtlCol="0" anchor="t"/>
          <a:lstStyle/>
          <a:p>
            <a:pPr indent="0" marL="0">
              <a:buNone/>
            </a:pPr>
            <a:r>
              <a:rPr lang="en-US" sz="1900" b="1" dirty="0">
                <a:solidFill>
                  <a:schemeClr val="tx2"/>
                </a:solidFill>
              </a:rPr>
              <a:t>IT Services Staff (technical role)</a:t>
            </a:r>
            <a:endParaRPr lang="en-US" sz="1900" dirty="0"/>
          </a:p>
        </p:txBody>
      </p:sp>
      <p:sp>
        <p:nvSpPr>
          <p:cNvPr id="13" name="Text 8"/>
          <p:cNvSpPr txBox="1"/>
          <p:nvPr/>
        </p:nvSpPr>
        <p:spPr>
          <a:xfrm>
            <a:off x="7558888" y="2103120"/>
            <a:ext cx="3901288" cy="1051560"/>
          </a:xfrm>
          <a:prstGeom prst="rect">
            <a:avLst/>
          </a:prstGeom>
          <a:noFill/>
          <a:ln/>
        </p:spPr>
        <p:txBody>
          <a:bodyPr wrap="square" lIns="0" tIns="0" rIns="0" bIns="0" rtlCol="0" anchor="t"/>
          <a:lstStyle/>
          <a:p>
            <a:pPr indent="0" marL="0">
              <a:buNone/>
            </a:pPr>
            <a:r>
              <a:rPr lang="en-US" sz="1500" dirty="0">
                <a:solidFill>
                  <a:schemeClr val="tx1"/>
                </a:solidFill>
              </a:rPr>
              <a:t>Follow the prescribed change management processes and procedures.</a:t>
            </a:r>
            <a:endParaRPr lang="en-US" sz="1500" dirty="0"/>
          </a:p>
        </p:txBody>
      </p:sp>
      <p:sp>
        <p:nvSpPr>
          <p:cNvPr id="14" name="IT Services Executive"/>
          <p:cNvSpPr/>
          <p:nvPr/>
        </p:nvSpPr>
        <p:spPr>
          <a:xfrm>
            <a:off x="548640" y="3566160"/>
            <a:ext cx="5364328" cy="1965960"/>
          </a:xfrm>
          <a:prstGeom prst="roundRect">
            <a:avLst>
              <a:gd name="adj" fmla="val 3721"/>
            </a:avLst>
          </a:prstGeom>
          <a:solidFill>
            <a:schemeClr val="bg2"/>
          </a:solidFill>
          <a:ln/>
        </p:spPr>
      </p:sp>
      <p:sp>
        <p:nvSpPr>
          <p:cNvPr id="15" name="Shape 10"/>
          <p:cNvSpPr/>
          <p:nvPr/>
        </p:nvSpPr>
        <p:spPr>
          <a:xfrm>
            <a:off x="822960" y="3840480"/>
            <a:ext cx="777240" cy="777240"/>
          </a:xfrm>
          <a:prstGeom prst="ellipse">
            <a:avLst/>
          </a:prstGeom>
          <a:solidFill>
            <a:schemeClr val="accent1"/>
          </a:solidFill>
          <a:ln/>
        </p:spPr>
      </p:sp>
      <p:pic>
        <p:nvPicPr>
          <p:cNvPr id="16" name="Image 2" descr="UserTie icon">    </p:cNvPr>
          <p:cNvPicPr>
            <a:picLocks noChangeAspect="1"/>
          </p:cNvPicPr>
          <p:nvPr/>
        </p:nvPicPr>
        <p:blipFill>
          <a:blip r:embed="rId3"/>
          <a:stretch>
            <a:fillRect/>
          </a:stretch>
        </p:blipFill>
        <p:spPr>
          <a:xfrm>
            <a:off x="1009498" y="4027018"/>
            <a:ext cx="404165" cy="404165"/>
          </a:xfrm>
          <a:prstGeom prst="rect">
            <a:avLst/>
          </a:prstGeom>
        </p:spPr>
      </p:pic>
      <p:sp>
        <p:nvSpPr>
          <p:cNvPr id="17" name="Text 11"/>
          <p:cNvSpPr txBox="1"/>
          <p:nvPr/>
        </p:nvSpPr>
        <p:spPr>
          <a:xfrm>
            <a:off x="1828800" y="3840480"/>
            <a:ext cx="3901288" cy="457200"/>
          </a:xfrm>
          <a:prstGeom prst="rect">
            <a:avLst/>
          </a:prstGeom>
          <a:noFill/>
          <a:ln/>
        </p:spPr>
        <p:txBody>
          <a:bodyPr wrap="square" lIns="0" tIns="0" rIns="0" bIns="0" rtlCol="0" anchor="t"/>
          <a:lstStyle/>
          <a:p>
            <a:pPr indent="0" marL="0">
              <a:buNone/>
            </a:pPr>
            <a:r>
              <a:rPr lang="en-US" sz="1900" b="1" dirty="0">
                <a:solidFill>
                  <a:schemeClr val="tx2"/>
                </a:solidFill>
              </a:rPr>
              <a:t>IT Services Executive</a:t>
            </a:r>
            <a:endParaRPr lang="en-US" sz="1900" dirty="0"/>
          </a:p>
        </p:txBody>
      </p:sp>
      <p:sp>
        <p:nvSpPr>
          <p:cNvPr id="18" name="Text 12"/>
          <p:cNvSpPr txBox="1"/>
          <p:nvPr/>
        </p:nvSpPr>
        <p:spPr>
          <a:xfrm>
            <a:off x="1828800" y="4343400"/>
            <a:ext cx="3901288" cy="1051560"/>
          </a:xfrm>
          <a:prstGeom prst="rect">
            <a:avLst/>
          </a:prstGeom>
          <a:noFill/>
          <a:ln/>
        </p:spPr>
        <p:txBody>
          <a:bodyPr wrap="square" lIns="0" tIns="0" rIns="0" bIns="0" rtlCol="0" anchor="t"/>
          <a:lstStyle/>
          <a:p>
            <a:pPr indent="0" marL="0">
              <a:buNone/>
            </a:pPr>
            <a:r>
              <a:rPr lang="en-US" sz="1500" dirty="0">
                <a:solidFill>
                  <a:schemeClr val="tx1"/>
                </a:solidFill>
              </a:rPr>
              <a:t>Overall responsibility for the change management policy and its processes. Ensures that all staff follow it. At least one member sits on the CAB.</a:t>
            </a:r>
            <a:endParaRPr lang="en-US" sz="1500" dirty="0"/>
          </a:p>
        </p:txBody>
      </p:sp>
      <p:sp>
        <p:nvSpPr>
          <p:cNvPr id="19" name="Service Owners"/>
          <p:cNvSpPr/>
          <p:nvPr/>
        </p:nvSpPr>
        <p:spPr>
          <a:xfrm>
            <a:off x="6278728" y="3566160"/>
            <a:ext cx="5364328" cy="1965960"/>
          </a:xfrm>
          <a:prstGeom prst="roundRect">
            <a:avLst>
              <a:gd name="adj" fmla="val 3721"/>
            </a:avLst>
          </a:prstGeom>
          <a:solidFill>
            <a:schemeClr val="bg2"/>
          </a:solidFill>
          <a:ln/>
        </p:spPr>
      </p:sp>
      <p:sp>
        <p:nvSpPr>
          <p:cNvPr id="20" name="Shape 14"/>
          <p:cNvSpPr/>
          <p:nvPr/>
        </p:nvSpPr>
        <p:spPr>
          <a:xfrm>
            <a:off x="6553048" y="3840480"/>
            <a:ext cx="777240" cy="777240"/>
          </a:xfrm>
          <a:prstGeom prst="ellipse">
            <a:avLst/>
          </a:prstGeom>
          <a:solidFill>
            <a:schemeClr val="accent1"/>
          </a:solidFill>
          <a:ln/>
        </p:spPr>
      </p:sp>
      <p:pic>
        <p:nvPicPr>
          <p:cNvPr id="21" name="Image 3" descr="Sitemap icon">    </p:cNvPr>
          <p:cNvPicPr>
            <a:picLocks noChangeAspect="1"/>
          </p:cNvPicPr>
          <p:nvPr/>
        </p:nvPicPr>
        <p:blipFill>
          <a:blip r:embed="rId4"/>
          <a:stretch>
            <a:fillRect/>
          </a:stretch>
        </p:blipFill>
        <p:spPr>
          <a:xfrm>
            <a:off x="6739585" y="4027018"/>
            <a:ext cx="404165" cy="404165"/>
          </a:xfrm>
          <a:prstGeom prst="rect">
            <a:avLst/>
          </a:prstGeom>
        </p:spPr>
      </p:pic>
      <p:sp>
        <p:nvSpPr>
          <p:cNvPr id="22" name="Text 15"/>
          <p:cNvSpPr txBox="1"/>
          <p:nvPr/>
        </p:nvSpPr>
        <p:spPr>
          <a:xfrm>
            <a:off x="7558888" y="3840480"/>
            <a:ext cx="3901288" cy="457200"/>
          </a:xfrm>
          <a:prstGeom prst="rect">
            <a:avLst/>
          </a:prstGeom>
          <a:noFill/>
          <a:ln/>
        </p:spPr>
        <p:txBody>
          <a:bodyPr wrap="square" lIns="0" tIns="0" rIns="0" bIns="0" rtlCol="0" anchor="t"/>
          <a:lstStyle/>
          <a:p>
            <a:pPr indent="0" marL="0">
              <a:buNone/>
            </a:pPr>
            <a:r>
              <a:rPr lang="en-US" sz="1900" b="1" dirty="0">
                <a:solidFill>
                  <a:schemeClr val="tx2"/>
                </a:solidFill>
              </a:rPr>
              <a:t>Service Owners</a:t>
            </a:r>
            <a:endParaRPr lang="en-US" sz="1900" dirty="0"/>
          </a:p>
        </p:txBody>
      </p:sp>
      <p:sp>
        <p:nvSpPr>
          <p:cNvPr id="23" name="Text 16"/>
          <p:cNvSpPr txBox="1"/>
          <p:nvPr/>
        </p:nvSpPr>
        <p:spPr>
          <a:xfrm>
            <a:off x="7558888" y="4343400"/>
            <a:ext cx="3901288" cy="1051560"/>
          </a:xfrm>
          <a:prstGeom prst="rect">
            <a:avLst/>
          </a:prstGeom>
          <a:noFill/>
          <a:ln/>
        </p:spPr>
        <p:txBody>
          <a:bodyPr wrap="square" lIns="0" tIns="0" rIns="0" bIns="0" rtlCol="0" anchor="t"/>
          <a:lstStyle/>
          <a:p>
            <a:pPr indent="0" marL="0">
              <a:buNone/>
            </a:pPr>
            <a:r>
              <a:rPr lang="en-US" sz="1500" dirty="0">
                <a:solidFill>
                  <a:schemeClr val="tx1"/>
                </a:solidFill>
              </a:rPr>
              <a:t>Approval is mandatory when a change affects their related services.</a:t>
            </a:r>
            <a:endParaRPr lang="en-US" sz="1500" dirty="0"/>
          </a:p>
        </p:txBody>
      </p:sp>
      <p:sp>
        <p:nvSpPr>
          <p:cNvPr id="24" name="Text 17"/>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500" i="1" dirty="0">
                <a:solidFill>
                  <a:schemeClr val="accent2"/>
                </a:solidFill>
              </a:rPr>
              <a:t>Everyone in IT Services has a potential role and responsibility in change management.</a:t>
            </a:r>
            <a:endParaRPr lang="en-US" sz="15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The Change Advisory Board (CAB)</a:t>
            </a:r>
            <a:endParaRPr lang="en-US" sz="3400" dirty="0"/>
          </a:p>
        </p:txBody>
      </p:sp>
      <p:sp>
        <p:nvSpPr>
          <p:cNvPr id="4" name="CAB purpose card"/>
          <p:cNvSpPr/>
          <p:nvPr/>
        </p:nvSpPr>
        <p:spPr>
          <a:xfrm>
            <a:off x="548640" y="1325880"/>
            <a:ext cx="6035040" cy="4800600"/>
          </a:xfrm>
          <a:prstGeom prst="roundRect">
            <a:avLst>
              <a:gd name="adj" fmla="val 1524"/>
            </a:avLst>
          </a:prstGeom>
          <a:solidFill>
            <a:schemeClr val="bg2"/>
          </a:solidFill>
          <a:ln/>
        </p:spPr>
      </p:sp>
      <p:sp>
        <p:nvSpPr>
          <p:cNvPr id="5" name="Text 2"/>
          <p:cNvSpPr txBox="1"/>
          <p:nvPr/>
        </p:nvSpPr>
        <p:spPr>
          <a:xfrm>
            <a:off x="868680" y="1554480"/>
            <a:ext cx="5486400" cy="411480"/>
          </a:xfrm>
          <a:prstGeom prst="rect">
            <a:avLst/>
          </a:prstGeom>
          <a:noFill/>
          <a:ln/>
        </p:spPr>
        <p:txBody>
          <a:bodyPr wrap="square" lIns="0" tIns="0" rIns="0" bIns="0" rtlCol="0" anchor="t"/>
          <a:lstStyle/>
          <a:p>
            <a:pPr indent="0" marL="0">
              <a:buNone/>
            </a:pPr>
            <a:r>
              <a:rPr lang="en-US" sz="2000" b="1" dirty="0">
                <a:solidFill>
                  <a:schemeClr val="tx2"/>
                </a:solidFill>
              </a:rPr>
              <a:t>Purpose</a:t>
            </a:r>
            <a:endParaRPr lang="en-US" sz="2000" dirty="0"/>
          </a:p>
        </p:txBody>
      </p:sp>
      <p:sp>
        <p:nvSpPr>
          <p:cNvPr id="6" name="Text 3"/>
          <p:cNvSpPr txBox="1"/>
          <p:nvPr/>
        </p:nvSpPr>
        <p:spPr>
          <a:xfrm>
            <a:off x="868680" y="2103120"/>
            <a:ext cx="5394960" cy="38404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Review change requests and determine whether they should be made</a:t>
            </a:r>
            <a:endParaRPr lang="en-US" sz="1600" dirty="0"/>
          </a:p>
          <a:p>
            <a:pPr marL="342900" indent="-342900">
              <a:spcAft>
                <a:spcPts val="1000"/>
              </a:spcAft>
              <a:buSzPct val="100000"/>
              <a:buChar char="•"/>
            </a:pPr>
            <a:r>
              <a:rPr lang="en-US" sz="1600" dirty="0">
                <a:solidFill>
                  <a:schemeClr val="tx1"/>
                </a:solidFill>
              </a:rPr>
              <a:t>May require a change to be altered before it is accepted for implementation</a:t>
            </a:r>
            <a:endParaRPr lang="en-US" sz="1600" dirty="0"/>
          </a:p>
          <a:p>
            <a:pPr marL="342900" indent="-342900">
              <a:spcAft>
                <a:spcPts val="1000"/>
              </a:spcAft>
              <a:buSzPct val="100000"/>
              <a:buChar char="•"/>
            </a:pPr>
            <a:r>
              <a:rPr lang="en-US" sz="1600" dirty="0">
                <a:solidFill>
                  <a:schemeClr val="tx1"/>
                </a:solidFill>
              </a:rPr>
              <a:t>Service owner approval is mandatory when a change affects related services</a:t>
            </a:r>
            <a:endParaRPr lang="en-US" sz="1600" dirty="0"/>
          </a:p>
          <a:p>
            <a:pPr marL="342900" indent="-342900">
              <a:spcAft>
                <a:spcPts val="1000"/>
              </a:spcAft>
              <a:buSzPct val="100000"/>
              <a:buChar char="•"/>
            </a:pPr>
            <a:r>
              <a:rPr lang="en-US" sz="1600" dirty="0">
                <a:solidFill>
                  <a:schemeClr val="tx1"/>
                </a:solidFill>
              </a:rPr>
              <a:t>Required service-owner approvals are defined by the Technical CAB, based on CAB discussion</a:t>
            </a:r>
            <a:endParaRPr lang="en-US" sz="1600" dirty="0"/>
          </a:p>
          <a:p>
            <a:pPr marL="342900" indent="-342900">
              <a:spcAft>
                <a:spcPts val="1000"/>
              </a:spcAft>
              <a:buSzPct val="100000"/>
              <a:buChar char="•"/>
            </a:pPr>
            <a:r>
              <a:rPr lang="en-US" sz="1600" dirty="0">
                <a:solidFill>
                  <a:schemeClr val="tx1"/>
                </a:solidFill>
              </a:rPr>
              <a:t>Changes are reviewed with the CAB owner before the IT CAB meeting</a:t>
            </a:r>
            <a:endParaRPr lang="en-US" sz="1600" dirty="0"/>
          </a:p>
        </p:txBody>
      </p:sp>
      <p:sp>
        <p:nvSpPr>
          <p:cNvPr id="7" name="CAB stat 1"/>
          <p:cNvSpPr/>
          <p:nvPr/>
        </p:nvSpPr>
        <p:spPr>
          <a:xfrm>
            <a:off x="6858000" y="1325880"/>
            <a:ext cx="4785055" cy="1463040"/>
          </a:xfrm>
          <a:prstGeom prst="roundRect">
            <a:avLst>
              <a:gd name="adj" fmla="val 5000"/>
            </a:avLst>
          </a:prstGeom>
          <a:solidFill>
            <a:schemeClr val="tx2"/>
          </a:solidFill>
          <a:ln/>
        </p:spPr>
      </p:sp>
      <p:sp>
        <p:nvSpPr>
          <p:cNvPr id="8" name="Text 5"/>
          <p:cNvSpPr txBox="1"/>
          <p:nvPr/>
        </p:nvSpPr>
        <p:spPr>
          <a:xfrm>
            <a:off x="7132320" y="1463040"/>
            <a:ext cx="4236415" cy="685800"/>
          </a:xfrm>
          <a:prstGeom prst="rect">
            <a:avLst/>
          </a:prstGeom>
          <a:noFill/>
          <a:ln/>
        </p:spPr>
        <p:txBody>
          <a:bodyPr wrap="square" lIns="0" tIns="0" rIns="0" bIns="0" rtlCol="0" anchor="ctr"/>
          <a:lstStyle/>
          <a:p>
            <a:pPr indent="0" marL="0">
              <a:buNone/>
            </a:pPr>
            <a:r>
              <a:rPr lang="en-US" sz="4000" b="1" dirty="0">
                <a:solidFill>
                  <a:schemeClr val="accent3"/>
                </a:solidFill>
              </a:rPr>
              <a:t>7 + 1</a:t>
            </a:r>
            <a:endParaRPr lang="en-US" sz="4000" dirty="0"/>
          </a:p>
        </p:txBody>
      </p:sp>
      <p:sp>
        <p:nvSpPr>
          <p:cNvPr id="9" name="Text 6"/>
          <p:cNvSpPr txBox="1"/>
          <p:nvPr/>
        </p:nvSpPr>
        <p:spPr>
          <a:xfrm>
            <a:off x="7132320" y="2148840"/>
            <a:ext cx="4236415" cy="548640"/>
          </a:xfrm>
          <a:prstGeom prst="rect">
            <a:avLst/>
          </a:prstGeom>
          <a:noFill/>
          <a:ln/>
        </p:spPr>
        <p:txBody>
          <a:bodyPr wrap="square" lIns="0" tIns="0" rIns="0" bIns="0" rtlCol="0" anchor="t"/>
          <a:lstStyle/>
          <a:p>
            <a:pPr indent="0" marL="0">
              <a:buNone/>
            </a:pPr>
            <a:r>
              <a:rPr lang="en-US" sz="1400" dirty="0">
                <a:solidFill>
                  <a:schemeClr val="bg1"/>
                </a:solidFill>
              </a:rPr>
              <a:t>Members: the seven sections of the service catalogue + at least one IT Services Executive</a:t>
            </a:r>
            <a:endParaRPr lang="en-US" sz="1400" dirty="0"/>
          </a:p>
        </p:txBody>
      </p:sp>
      <p:sp>
        <p:nvSpPr>
          <p:cNvPr id="10" name="CAB stat 2"/>
          <p:cNvSpPr/>
          <p:nvPr/>
        </p:nvSpPr>
        <p:spPr>
          <a:xfrm>
            <a:off x="6858000" y="2971800"/>
            <a:ext cx="4785055" cy="1463040"/>
          </a:xfrm>
          <a:prstGeom prst="roundRect">
            <a:avLst>
              <a:gd name="adj" fmla="val 5000"/>
            </a:avLst>
          </a:prstGeom>
          <a:solidFill>
            <a:schemeClr val="bg2"/>
          </a:solidFill>
          <a:ln/>
        </p:spPr>
      </p:sp>
      <p:sp>
        <p:nvSpPr>
          <p:cNvPr id="11" name="Text 8"/>
          <p:cNvSpPr txBox="1"/>
          <p:nvPr/>
        </p:nvSpPr>
        <p:spPr>
          <a:xfrm>
            <a:off x="7132320" y="3108960"/>
            <a:ext cx="4236415" cy="685800"/>
          </a:xfrm>
          <a:prstGeom prst="rect">
            <a:avLst/>
          </a:prstGeom>
          <a:noFill/>
          <a:ln/>
        </p:spPr>
        <p:txBody>
          <a:bodyPr wrap="square" lIns="0" tIns="0" rIns="0" bIns="0" rtlCol="0" anchor="ctr"/>
          <a:lstStyle/>
          <a:p>
            <a:pPr indent="0" marL="0">
              <a:buNone/>
            </a:pPr>
            <a:r>
              <a:rPr lang="en-US" sz="4000" b="1" dirty="0">
                <a:solidFill>
                  <a:schemeClr val="accent1"/>
                </a:solidFill>
              </a:rPr>
              <a:t>Monthly</a:t>
            </a:r>
            <a:endParaRPr lang="en-US" sz="4000" dirty="0"/>
          </a:p>
        </p:txBody>
      </p:sp>
      <p:sp>
        <p:nvSpPr>
          <p:cNvPr id="12" name="Text 9"/>
          <p:cNvSpPr txBox="1"/>
          <p:nvPr/>
        </p:nvSpPr>
        <p:spPr>
          <a:xfrm>
            <a:off x="7132320" y="3794760"/>
            <a:ext cx="4236415" cy="548640"/>
          </a:xfrm>
          <a:prstGeom prst="rect">
            <a:avLst/>
          </a:prstGeom>
          <a:noFill/>
          <a:ln/>
        </p:spPr>
        <p:txBody>
          <a:bodyPr wrap="square" lIns="0" tIns="0" rIns="0" bIns="0" rtlCol="0" anchor="t"/>
          <a:lstStyle/>
          <a:p>
            <a:pPr indent="0" marL="0">
              <a:buNone/>
            </a:pPr>
            <a:r>
              <a:rPr lang="en-US" sz="1400" dirty="0">
                <a:solidFill>
                  <a:schemeClr val="tx1"/>
                </a:solidFill>
              </a:rPr>
              <a:t>Regular IT CAB meeting for all required IT CR deployments</a:t>
            </a:r>
            <a:endParaRPr lang="en-US" sz="1400" dirty="0"/>
          </a:p>
        </p:txBody>
      </p:sp>
      <p:sp>
        <p:nvSpPr>
          <p:cNvPr id="13" name="CAB stat 3"/>
          <p:cNvSpPr/>
          <p:nvPr/>
        </p:nvSpPr>
        <p:spPr>
          <a:xfrm>
            <a:off x="6858000" y="4617720"/>
            <a:ext cx="4785055" cy="1463040"/>
          </a:xfrm>
          <a:prstGeom prst="roundRect">
            <a:avLst>
              <a:gd name="adj" fmla="val 5000"/>
            </a:avLst>
          </a:prstGeom>
          <a:solidFill>
            <a:schemeClr val="bg2"/>
          </a:solidFill>
          <a:ln/>
        </p:spPr>
      </p:sp>
      <p:sp>
        <p:nvSpPr>
          <p:cNvPr id="14" name="Text 11"/>
          <p:cNvSpPr txBox="1"/>
          <p:nvPr/>
        </p:nvSpPr>
        <p:spPr>
          <a:xfrm>
            <a:off x="7132320" y="4754880"/>
            <a:ext cx="4236415" cy="685800"/>
          </a:xfrm>
          <a:prstGeom prst="rect">
            <a:avLst/>
          </a:prstGeom>
          <a:noFill/>
          <a:ln/>
        </p:spPr>
        <p:txBody>
          <a:bodyPr wrap="square" lIns="0" tIns="0" rIns="0" bIns="0" rtlCol="0" anchor="ctr"/>
          <a:lstStyle/>
          <a:p>
            <a:pPr indent="0" marL="0">
              <a:buNone/>
            </a:pPr>
            <a:r>
              <a:rPr lang="en-US" sz="3000" b="1" dirty="0">
                <a:solidFill>
                  <a:schemeClr val="accent1"/>
                </a:solidFill>
              </a:rPr>
              <a:t>Emergency CAB</a:t>
            </a:r>
            <a:endParaRPr lang="en-US" sz="3000" dirty="0"/>
          </a:p>
        </p:txBody>
      </p:sp>
      <p:sp>
        <p:nvSpPr>
          <p:cNvPr id="15" name="Text 12"/>
          <p:cNvSpPr txBox="1"/>
          <p:nvPr/>
        </p:nvSpPr>
        <p:spPr>
          <a:xfrm>
            <a:off x="7132320" y="5440680"/>
            <a:ext cx="4236415" cy="548640"/>
          </a:xfrm>
          <a:prstGeom prst="rect">
            <a:avLst/>
          </a:prstGeom>
          <a:noFill/>
          <a:ln/>
        </p:spPr>
        <p:txBody>
          <a:bodyPr wrap="square" lIns="0" tIns="0" rIns="0" bIns="0" rtlCol="0" anchor="t"/>
          <a:lstStyle/>
          <a:p>
            <a:pPr indent="0" marL="0">
              <a:buNone/>
            </a:pPr>
            <a:r>
              <a:rPr lang="en-US" sz="1400" dirty="0">
                <a:solidFill>
                  <a:schemeClr val="tx1"/>
                </a:solidFill>
              </a:rPr>
              <a:t>For catastrophic changes, e.g. the decision to move to the DR site</a:t>
            </a:r>
            <a:endParaRPr lang="en-US" sz="14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The change request process: 8 steps</a:t>
            </a:r>
            <a:endParaRPr lang="en-US" sz="3400" dirty="0"/>
          </a:p>
        </p:txBody>
      </p:sp>
      <p:sp>
        <p:nvSpPr>
          <p:cNvPr id="4" name="Step 1"/>
          <p:cNvSpPr/>
          <p:nvPr/>
        </p:nvSpPr>
        <p:spPr>
          <a:xfrm>
            <a:off x="548640" y="1600200"/>
            <a:ext cx="1242784" cy="4206240"/>
          </a:xfrm>
          <a:prstGeom prst="roundRect">
            <a:avLst>
              <a:gd name="adj" fmla="val 5886"/>
            </a:avLst>
          </a:prstGeom>
          <a:solidFill>
            <a:schemeClr val="bg2"/>
          </a:solidFill>
          <a:ln/>
        </p:spPr>
      </p:sp>
      <p:sp>
        <p:nvSpPr>
          <p:cNvPr id="5" name="Text 2"/>
          <p:cNvSpPr txBox="1"/>
          <p:nvPr/>
        </p:nvSpPr>
        <p:spPr>
          <a:xfrm>
            <a:off x="548640" y="1783080"/>
            <a:ext cx="1242784" cy="548640"/>
          </a:xfrm>
          <a:prstGeom prst="rect">
            <a:avLst/>
          </a:prstGeom>
          <a:noFill/>
          <a:ln/>
        </p:spPr>
        <p:txBody>
          <a:bodyPr wrap="square" lIns="0" tIns="0" rIns="0" bIns="0" rtlCol="0" anchor="t"/>
          <a:lstStyle/>
          <a:p>
            <a:pPr algn="ctr" indent="0" marL="0">
              <a:buNone/>
            </a:pPr>
            <a:r>
              <a:rPr lang="en-US" sz="3200" b="1" dirty="0">
                <a:solidFill>
                  <a:schemeClr val="accent1"/>
                </a:solidFill>
              </a:rPr>
              <a:t>1</a:t>
            </a:r>
            <a:endParaRPr lang="en-US" sz="3200" dirty="0"/>
          </a:p>
        </p:txBody>
      </p:sp>
      <p:sp>
        <p:nvSpPr>
          <p:cNvPr id="6" name="Shape 3"/>
          <p:cNvSpPr/>
          <p:nvPr/>
        </p:nvSpPr>
        <p:spPr>
          <a:xfrm>
            <a:off x="804272" y="2468880"/>
            <a:ext cx="731520" cy="731520"/>
          </a:xfrm>
          <a:prstGeom prst="ellipse">
            <a:avLst/>
          </a:prstGeom>
          <a:solidFill>
            <a:schemeClr val="accent1"/>
          </a:solidFill>
          <a:ln/>
        </p:spPr>
      </p:sp>
      <p:pic>
        <p:nvPicPr>
          <p:cNvPr id="7" name="Image 0" descr="FileAlt icon">    </p:cNvPr>
          <p:cNvPicPr>
            <a:picLocks noChangeAspect="1"/>
          </p:cNvPicPr>
          <p:nvPr/>
        </p:nvPicPr>
        <p:blipFill>
          <a:blip r:embed="rId1"/>
          <a:stretch>
            <a:fillRect/>
          </a:stretch>
        </p:blipFill>
        <p:spPr>
          <a:xfrm>
            <a:off x="979837" y="2644445"/>
            <a:ext cx="380390" cy="380390"/>
          </a:xfrm>
          <a:prstGeom prst="rect">
            <a:avLst/>
          </a:prstGeom>
        </p:spPr>
      </p:pic>
      <p:sp>
        <p:nvSpPr>
          <p:cNvPr id="8" name="Text 4"/>
          <p:cNvSpPr txBox="1"/>
          <p:nvPr/>
        </p:nvSpPr>
        <p:spPr>
          <a:xfrm>
            <a:off x="640080" y="3383280"/>
            <a:ext cx="1059904" cy="914400"/>
          </a:xfrm>
          <a:prstGeom prst="rect">
            <a:avLst/>
          </a:prstGeom>
          <a:noFill/>
          <a:ln/>
        </p:spPr>
        <p:txBody>
          <a:bodyPr wrap="square" lIns="0" tIns="0" rIns="0" bIns="0" rtlCol="0" anchor="t"/>
          <a:lstStyle/>
          <a:p>
            <a:pPr algn="ctr" indent="0" marL="0">
              <a:buNone/>
            </a:pPr>
            <a:r>
              <a:rPr lang="en-US" sz="1500" b="1" dirty="0">
                <a:solidFill>
                  <a:schemeClr val="tx2"/>
                </a:solidFill>
              </a:rPr>
              <a:t>Submission</a:t>
            </a:r>
            <a:endParaRPr lang="en-US" sz="1500" dirty="0"/>
          </a:p>
        </p:txBody>
      </p:sp>
      <p:sp>
        <p:nvSpPr>
          <p:cNvPr id="9" name="Text 5"/>
          <p:cNvSpPr txBox="1"/>
          <p:nvPr/>
        </p:nvSpPr>
        <p:spPr>
          <a:xfrm>
            <a:off x="640080" y="4526280"/>
            <a:ext cx="1059904" cy="274320"/>
          </a:xfrm>
          <a:prstGeom prst="rect">
            <a:avLst/>
          </a:prstGeom>
          <a:noFill/>
          <a:ln/>
        </p:spPr>
        <p:txBody>
          <a:bodyPr wrap="square" lIns="0" tIns="0" rIns="0" bIns="0" rtlCol="0" anchor="t"/>
          <a:lstStyle/>
          <a:p>
            <a:pPr algn="ctr" indent="0" marL="0">
              <a:buNone/>
            </a:pPr>
            <a:r>
              <a:rPr lang="en-US" sz="1100" b="1" dirty="0">
                <a:solidFill>
                  <a:schemeClr val="accent1"/>
                </a:solidFill>
              </a:rPr>
              <a:t>Output</a:t>
            </a:r>
            <a:endParaRPr lang="en-US" sz="1100" dirty="0"/>
          </a:p>
        </p:txBody>
      </p:sp>
      <p:sp>
        <p:nvSpPr>
          <p:cNvPr id="10" name="Text 6"/>
          <p:cNvSpPr txBox="1"/>
          <p:nvPr/>
        </p:nvSpPr>
        <p:spPr>
          <a:xfrm>
            <a:off x="640080" y="4800600"/>
            <a:ext cx="1059904" cy="822960"/>
          </a:xfrm>
          <a:prstGeom prst="rect">
            <a:avLst/>
          </a:prstGeom>
          <a:noFill/>
          <a:ln/>
        </p:spPr>
        <p:txBody>
          <a:bodyPr wrap="square" lIns="0" tIns="0" rIns="0" bIns="0" rtlCol="0" anchor="t"/>
          <a:lstStyle/>
          <a:p>
            <a:pPr algn="ctr" indent="0" marL="0">
              <a:buNone/>
            </a:pPr>
            <a:r>
              <a:rPr lang="en-US" sz="1300" dirty="0">
                <a:solidFill>
                  <a:schemeClr val="tx1"/>
                </a:solidFill>
              </a:rPr>
              <a:t>CR form / ticket</a:t>
            </a:r>
            <a:endParaRPr lang="en-US" sz="1300" dirty="0"/>
          </a:p>
        </p:txBody>
      </p:sp>
      <p:sp>
        <p:nvSpPr>
          <p:cNvPr id="11" name="Step 2"/>
          <p:cNvSpPr/>
          <p:nvPr/>
        </p:nvSpPr>
        <p:spPr>
          <a:xfrm>
            <a:off x="1956016" y="1600200"/>
            <a:ext cx="1242784" cy="4206240"/>
          </a:xfrm>
          <a:prstGeom prst="roundRect">
            <a:avLst>
              <a:gd name="adj" fmla="val 5886"/>
            </a:avLst>
          </a:prstGeom>
          <a:solidFill>
            <a:schemeClr val="bg2"/>
          </a:solidFill>
          <a:ln/>
        </p:spPr>
      </p:sp>
      <p:sp>
        <p:nvSpPr>
          <p:cNvPr id="12" name="Text 8"/>
          <p:cNvSpPr txBox="1"/>
          <p:nvPr/>
        </p:nvSpPr>
        <p:spPr>
          <a:xfrm>
            <a:off x="1956016" y="1783080"/>
            <a:ext cx="1242784" cy="548640"/>
          </a:xfrm>
          <a:prstGeom prst="rect">
            <a:avLst/>
          </a:prstGeom>
          <a:noFill/>
          <a:ln/>
        </p:spPr>
        <p:txBody>
          <a:bodyPr wrap="square" lIns="0" tIns="0" rIns="0" bIns="0" rtlCol="0" anchor="t"/>
          <a:lstStyle/>
          <a:p>
            <a:pPr algn="ctr" indent="0" marL="0">
              <a:buNone/>
            </a:pPr>
            <a:r>
              <a:rPr lang="en-US" sz="3200" b="1" dirty="0">
                <a:solidFill>
                  <a:schemeClr val="accent1"/>
                </a:solidFill>
              </a:rPr>
              <a:t>2</a:t>
            </a:r>
            <a:endParaRPr lang="en-US" sz="3200" dirty="0"/>
          </a:p>
        </p:txBody>
      </p:sp>
      <p:sp>
        <p:nvSpPr>
          <p:cNvPr id="13" name="Shape 9"/>
          <p:cNvSpPr/>
          <p:nvPr/>
        </p:nvSpPr>
        <p:spPr>
          <a:xfrm>
            <a:off x="2211648" y="2468880"/>
            <a:ext cx="731520" cy="731520"/>
          </a:xfrm>
          <a:prstGeom prst="ellipse">
            <a:avLst/>
          </a:prstGeom>
          <a:solidFill>
            <a:schemeClr val="accent1"/>
          </a:solidFill>
          <a:ln/>
        </p:spPr>
      </p:sp>
      <p:pic>
        <p:nvPicPr>
          <p:cNvPr id="14" name="Image 1" descr="Filter icon">    </p:cNvPr>
          <p:cNvPicPr>
            <a:picLocks noChangeAspect="1"/>
          </p:cNvPicPr>
          <p:nvPr/>
        </p:nvPicPr>
        <p:blipFill>
          <a:blip r:embed="rId2"/>
          <a:stretch>
            <a:fillRect/>
          </a:stretch>
        </p:blipFill>
        <p:spPr>
          <a:xfrm>
            <a:off x="2387213" y="2644445"/>
            <a:ext cx="380390" cy="380390"/>
          </a:xfrm>
          <a:prstGeom prst="rect">
            <a:avLst/>
          </a:prstGeom>
        </p:spPr>
      </p:pic>
      <p:sp>
        <p:nvSpPr>
          <p:cNvPr id="15" name="Text 10"/>
          <p:cNvSpPr txBox="1"/>
          <p:nvPr/>
        </p:nvSpPr>
        <p:spPr>
          <a:xfrm>
            <a:off x="2047456" y="3383280"/>
            <a:ext cx="1059904" cy="914400"/>
          </a:xfrm>
          <a:prstGeom prst="rect">
            <a:avLst/>
          </a:prstGeom>
          <a:noFill/>
          <a:ln/>
        </p:spPr>
        <p:txBody>
          <a:bodyPr wrap="square" lIns="0" tIns="0" rIns="0" bIns="0" rtlCol="0" anchor="t"/>
          <a:lstStyle/>
          <a:p>
            <a:pPr algn="ctr" indent="0" marL="0">
              <a:buNone/>
            </a:pPr>
            <a:r>
              <a:rPr lang="en-US" sz="1500" b="1" dirty="0">
                <a:solidFill>
                  <a:schemeClr val="tx2"/>
                </a:solidFill>
              </a:rPr>
              <a:t>Review &amp; categorize</a:t>
            </a:r>
            <a:endParaRPr lang="en-US" sz="1500" dirty="0"/>
          </a:p>
        </p:txBody>
      </p:sp>
      <p:sp>
        <p:nvSpPr>
          <p:cNvPr id="16" name="Text 11"/>
          <p:cNvSpPr txBox="1"/>
          <p:nvPr/>
        </p:nvSpPr>
        <p:spPr>
          <a:xfrm>
            <a:off x="2047456" y="4526280"/>
            <a:ext cx="1059904" cy="274320"/>
          </a:xfrm>
          <a:prstGeom prst="rect">
            <a:avLst/>
          </a:prstGeom>
          <a:noFill/>
          <a:ln/>
        </p:spPr>
        <p:txBody>
          <a:bodyPr wrap="square" lIns="0" tIns="0" rIns="0" bIns="0" rtlCol="0" anchor="t"/>
          <a:lstStyle/>
          <a:p>
            <a:pPr algn="ctr" indent="0" marL="0">
              <a:buNone/>
            </a:pPr>
            <a:r>
              <a:rPr lang="en-US" sz="1100" b="1" dirty="0">
                <a:solidFill>
                  <a:schemeClr val="accent1"/>
                </a:solidFill>
              </a:rPr>
              <a:t>Output</a:t>
            </a:r>
            <a:endParaRPr lang="en-US" sz="1100" dirty="0"/>
          </a:p>
        </p:txBody>
      </p:sp>
      <p:sp>
        <p:nvSpPr>
          <p:cNvPr id="17" name="Text 12"/>
          <p:cNvSpPr txBox="1"/>
          <p:nvPr/>
        </p:nvSpPr>
        <p:spPr>
          <a:xfrm>
            <a:off x="2047456" y="4800600"/>
            <a:ext cx="1059904" cy="822960"/>
          </a:xfrm>
          <a:prstGeom prst="rect">
            <a:avLst/>
          </a:prstGeom>
          <a:noFill/>
          <a:ln/>
        </p:spPr>
        <p:txBody>
          <a:bodyPr wrap="square" lIns="0" tIns="0" rIns="0" bIns="0" rtlCol="0" anchor="t"/>
          <a:lstStyle/>
          <a:p>
            <a:pPr algn="ctr" indent="0" marL="0">
              <a:buNone/>
            </a:pPr>
            <a:r>
              <a:rPr lang="en-US" sz="1300" dirty="0">
                <a:solidFill>
                  <a:schemeClr val="tx1"/>
                </a:solidFill>
              </a:rPr>
              <a:t>Category &amp; owners</a:t>
            </a:r>
            <a:endParaRPr lang="en-US" sz="1300" dirty="0"/>
          </a:p>
        </p:txBody>
      </p:sp>
      <p:sp>
        <p:nvSpPr>
          <p:cNvPr id="18" name="Step 3"/>
          <p:cNvSpPr/>
          <p:nvPr/>
        </p:nvSpPr>
        <p:spPr>
          <a:xfrm>
            <a:off x="3363392" y="1600200"/>
            <a:ext cx="1242784" cy="4206240"/>
          </a:xfrm>
          <a:prstGeom prst="roundRect">
            <a:avLst>
              <a:gd name="adj" fmla="val 5886"/>
            </a:avLst>
          </a:prstGeom>
          <a:solidFill>
            <a:schemeClr val="tx2"/>
          </a:solidFill>
          <a:ln/>
        </p:spPr>
      </p:sp>
      <p:sp>
        <p:nvSpPr>
          <p:cNvPr id="19" name="Text 14"/>
          <p:cNvSpPr txBox="1"/>
          <p:nvPr/>
        </p:nvSpPr>
        <p:spPr>
          <a:xfrm>
            <a:off x="3363392" y="1783080"/>
            <a:ext cx="1242784" cy="548640"/>
          </a:xfrm>
          <a:prstGeom prst="rect">
            <a:avLst/>
          </a:prstGeom>
          <a:noFill/>
          <a:ln/>
        </p:spPr>
        <p:txBody>
          <a:bodyPr wrap="square" lIns="0" tIns="0" rIns="0" bIns="0" rtlCol="0" anchor="t"/>
          <a:lstStyle/>
          <a:p>
            <a:pPr algn="ctr" indent="0" marL="0">
              <a:buNone/>
            </a:pPr>
            <a:r>
              <a:rPr lang="en-US" sz="3200" b="1" dirty="0">
                <a:solidFill>
                  <a:schemeClr val="accent3"/>
                </a:solidFill>
              </a:rPr>
              <a:t>3</a:t>
            </a:r>
            <a:endParaRPr lang="en-US" sz="3200" dirty="0"/>
          </a:p>
        </p:txBody>
      </p:sp>
      <p:sp>
        <p:nvSpPr>
          <p:cNvPr id="20" name="Shape 15"/>
          <p:cNvSpPr/>
          <p:nvPr/>
        </p:nvSpPr>
        <p:spPr>
          <a:xfrm>
            <a:off x="3619024" y="2468880"/>
            <a:ext cx="731520" cy="731520"/>
          </a:xfrm>
          <a:prstGeom prst="ellipse">
            <a:avLst/>
          </a:prstGeom>
          <a:solidFill>
            <a:schemeClr val="accent3"/>
          </a:solidFill>
          <a:ln/>
        </p:spPr>
      </p:sp>
      <p:pic>
        <p:nvPicPr>
          <p:cNvPr id="21" name="Image 2" descr="Search icon">    </p:cNvPr>
          <p:cNvPicPr>
            <a:picLocks noChangeAspect="1"/>
          </p:cNvPicPr>
          <p:nvPr/>
        </p:nvPicPr>
        <p:blipFill>
          <a:blip r:embed="rId3"/>
          <a:stretch>
            <a:fillRect/>
          </a:stretch>
        </p:blipFill>
        <p:spPr>
          <a:xfrm>
            <a:off x="3794589" y="2644445"/>
            <a:ext cx="380390" cy="380390"/>
          </a:xfrm>
          <a:prstGeom prst="rect">
            <a:avLst/>
          </a:prstGeom>
        </p:spPr>
      </p:pic>
      <p:sp>
        <p:nvSpPr>
          <p:cNvPr id="22" name="Text 16"/>
          <p:cNvSpPr txBox="1"/>
          <p:nvPr/>
        </p:nvSpPr>
        <p:spPr>
          <a:xfrm>
            <a:off x="3454832" y="3383280"/>
            <a:ext cx="1059904" cy="914400"/>
          </a:xfrm>
          <a:prstGeom prst="rect">
            <a:avLst/>
          </a:prstGeom>
          <a:noFill/>
          <a:ln/>
        </p:spPr>
        <p:txBody>
          <a:bodyPr wrap="square" lIns="0" tIns="0" rIns="0" bIns="0" rtlCol="0" anchor="t"/>
          <a:lstStyle/>
          <a:p>
            <a:pPr algn="ctr" indent="0" marL="0">
              <a:buNone/>
            </a:pPr>
            <a:r>
              <a:rPr lang="en-US" sz="1500" b="1" dirty="0">
                <a:solidFill>
                  <a:schemeClr val="bg1"/>
                </a:solidFill>
              </a:rPr>
              <a:t>Impact analysis</a:t>
            </a:r>
            <a:endParaRPr lang="en-US" sz="1500" dirty="0"/>
          </a:p>
        </p:txBody>
      </p:sp>
      <p:sp>
        <p:nvSpPr>
          <p:cNvPr id="23" name="Text 17"/>
          <p:cNvSpPr txBox="1"/>
          <p:nvPr/>
        </p:nvSpPr>
        <p:spPr>
          <a:xfrm>
            <a:off x="3454832" y="4526280"/>
            <a:ext cx="1059904" cy="274320"/>
          </a:xfrm>
          <a:prstGeom prst="rect">
            <a:avLst/>
          </a:prstGeom>
          <a:noFill/>
          <a:ln/>
        </p:spPr>
        <p:txBody>
          <a:bodyPr wrap="square" lIns="0" tIns="0" rIns="0" bIns="0" rtlCol="0" anchor="t"/>
          <a:lstStyle/>
          <a:p>
            <a:pPr algn="ctr" indent="0" marL="0">
              <a:buNone/>
            </a:pPr>
            <a:r>
              <a:rPr lang="en-US" sz="1100" b="1" dirty="0">
                <a:solidFill>
                  <a:schemeClr val="accent3"/>
                </a:solidFill>
              </a:rPr>
              <a:t>Output</a:t>
            </a:r>
            <a:endParaRPr lang="en-US" sz="1100" dirty="0"/>
          </a:p>
        </p:txBody>
      </p:sp>
      <p:sp>
        <p:nvSpPr>
          <p:cNvPr id="24" name="Text 18"/>
          <p:cNvSpPr txBox="1"/>
          <p:nvPr/>
        </p:nvSpPr>
        <p:spPr>
          <a:xfrm>
            <a:off x="3454832" y="4800600"/>
            <a:ext cx="1059904" cy="822960"/>
          </a:xfrm>
          <a:prstGeom prst="rect">
            <a:avLst/>
          </a:prstGeom>
          <a:noFill/>
          <a:ln/>
        </p:spPr>
        <p:txBody>
          <a:bodyPr wrap="square" lIns="0" tIns="0" rIns="0" bIns="0" rtlCol="0" anchor="t"/>
          <a:lstStyle/>
          <a:p>
            <a:pPr algn="ctr" indent="0" marL="0">
              <a:buNone/>
            </a:pPr>
            <a:r>
              <a:rPr lang="en-US" sz="1300" dirty="0">
                <a:solidFill>
                  <a:schemeClr val="bg1"/>
                </a:solidFill>
              </a:rPr>
              <a:t>Impact report</a:t>
            </a:r>
            <a:endParaRPr lang="en-US" sz="1300" dirty="0"/>
          </a:p>
        </p:txBody>
      </p:sp>
      <p:sp>
        <p:nvSpPr>
          <p:cNvPr id="25" name="Step 4"/>
          <p:cNvSpPr/>
          <p:nvPr/>
        </p:nvSpPr>
        <p:spPr>
          <a:xfrm>
            <a:off x="4770768" y="1600200"/>
            <a:ext cx="1242784" cy="4206240"/>
          </a:xfrm>
          <a:prstGeom prst="roundRect">
            <a:avLst>
              <a:gd name="adj" fmla="val 5886"/>
            </a:avLst>
          </a:prstGeom>
          <a:solidFill>
            <a:schemeClr val="bg2"/>
          </a:solidFill>
          <a:ln/>
        </p:spPr>
      </p:sp>
      <p:sp>
        <p:nvSpPr>
          <p:cNvPr id="26" name="Text 20"/>
          <p:cNvSpPr txBox="1"/>
          <p:nvPr/>
        </p:nvSpPr>
        <p:spPr>
          <a:xfrm>
            <a:off x="4770768" y="1783080"/>
            <a:ext cx="1242784" cy="548640"/>
          </a:xfrm>
          <a:prstGeom prst="rect">
            <a:avLst/>
          </a:prstGeom>
          <a:noFill/>
          <a:ln/>
        </p:spPr>
        <p:txBody>
          <a:bodyPr wrap="square" lIns="0" tIns="0" rIns="0" bIns="0" rtlCol="0" anchor="t"/>
          <a:lstStyle/>
          <a:p>
            <a:pPr algn="ctr" indent="0" marL="0">
              <a:buNone/>
            </a:pPr>
            <a:r>
              <a:rPr lang="en-US" sz="3200" b="1" dirty="0">
                <a:solidFill>
                  <a:schemeClr val="accent1"/>
                </a:solidFill>
              </a:rPr>
              <a:t>4</a:t>
            </a:r>
            <a:endParaRPr lang="en-US" sz="3200" dirty="0"/>
          </a:p>
        </p:txBody>
      </p:sp>
      <p:sp>
        <p:nvSpPr>
          <p:cNvPr id="27" name="Shape 21"/>
          <p:cNvSpPr/>
          <p:nvPr/>
        </p:nvSpPr>
        <p:spPr>
          <a:xfrm>
            <a:off x="5026400" y="2468880"/>
            <a:ext cx="731520" cy="731520"/>
          </a:xfrm>
          <a:prstGeom prst="ellipse">
            <a:avLst/>
          </a:prstGeom>
          <a:solidFill>
            <a:schemeClr val="accent1"/>
          </a:solidFill>
          <a:ln/>
        </p:spPr>
      </p:sp>
      <p:pic>
        <p:nvPicPr>
          <p:cNvPr id="28" name="Image 3" descr="Gavel icon">    </p:cNvPr>
          <p:cNvPicPr>
            <a:picLocks noChangeAspect="1"/>
          </p:cNvPicPr>
          <p:nvPr/>
        </p:nvPicPr>
        <p:blipFill>
          <a:blip r:embed="rId4"/>
          <a:stretch>
            <a:fillRect/>
          </a:stretch>
        </p:blipFill>
        <p:spPr>
          <a:xfrm>
            <a:off x="5201964" y="2644445"/>
            <a:ext cx="380390" cy="380390"/>
          </a:xfrm>
          <a:prstGeom prst="rect">
            <a:avLst/>
          </a:prstGeom>
        </p:spPr>
      </p:pic>
      <p:sp>
        <p:nvSpPr>
          <p:cNvPr id="29" name="Text 22"/>
          <p:cNvSpPr txBox="1"/>
          <p:nvPr/>
        </p:nvSpPr>
        <p:spPr>
          <a:xfrm>
            <a:off x="4862208" y="3383280"/>
            <a:ext cx="1059904" cy="914400"/>
          </a:xfrm>
          <a:prstGeom prst="rect">
            <a:avLst/>
          </a:prstGeom>
          <a:noFill/>
          <a:ln/>
        </p:spPr>
        <p:txBody>
          <a:bodyPr wrap="square" lIns="0" tIns="0" rIns="0" bIns="0" rtlCol="0" anchor="t"/>
          <a:lstStyle/>
          <a:p>
            <a:pPr algn="ctr" indent="0" marL="0">
              <a:buNone/>
            </a:pPr>
            <a:r>
              <a:rPr lang="en-US" sz="1500" b="1" dirty="0">
                <a:solidFill>
                  <a:schemeClr val="tx2"/>
                </a:solidFill>
              </a:rPr>
              <a:t>Approval &amp; decision</a:t>
            </a:r>
            <a:endParaRPr lang="en-US" sz="1500" dirty="0"/>
          </a:p>
        </p:txBody>
      </p:sp>
      <p:sp>
        <p:nvSpPr>
          <p:cNvPr id="30" name="Text 23"/>
          <p:cNvSpPr txBox="1"/>
          <p:nvPr/>
        </p:nvSpPr>
        <p:spPr>
          <a:xfrm>
            <a:off x="4862208" y="4526280"/>
            <a:ext cx="1059904" cy="274320"/>
          </a:xfrm>
          <a:prstGeom prst="rect">
            <a:avLst/>
          </a:prstGeom>
          <a:noFill/>
          <a:ln/>
        </p:spPr>
        <p:txBody>
          <a:bodyPr wrap="square" lIns="0" tIns="0" rIns="0" bIns="0" rtlCol="0" anchor="t"/>
          <a:lstStyle/>
          <a:p>
            <a:pPr algn="ctr" indent="0" marL="0">
              <a:buNone/>
            </a:pPr>
            <a:r>
              <a:rPr lang="en-US" sz="1100" b="1" dirty="0">
                <a:solidFill>
                  <a:schemeClr val="accent1"/>
                </a:solidFill>
              </a:rPr>
              <a:t>Output</a:t>
            </a:r>
            <a:endParaRPr lang="en-US" sz="1100" dirty="0"/>
          </a:p>
        </p:txBody>
      </p:sp>
      <p:sp>
        <p:nvSpPr>
          <p:cNvPr id="31" name="Text 24"/>
          <p:cNvSpPr txBox="1"/>
          <p:nvPr/>
        </p:nvSpPr>
        <p:spPr>
          <a:xfrm>
            <a:off x="4862208" y="4800600"/>
            <a:ext cx="1059904" cy="822960"/>
          </a:xfrm>
          <a:prstGeom prst="rect">
            <a:avLst/>
          </a:prstGeom>
          <a:noFill/>
          <a:ln/>
        </p:spPr>
        <p:txBody>
          <a:bodyPr wrap="square" lIns="0" tIns="0" rIns="0" bIns="0" rtlCol="0" anchor="t"/>
          <a:lstStyle/>
          <a:p>
            <a:pPr algn="ctr" indent="0" marL="0">
              <a:buNone/>
            </a:pPr>
            <a:r>
              <a:rPr lang="en-US" sz="1300" dirty="0">
                <a:solidFill>
                  <a:schemeClr val="tx1"/>
                </a:solidFill>
              </a:rPr>
              <a:t>Recorded decision</a:t>
            </a:r>
            <a:endParaRPr lang="en-US" sz="1300" dirty="0"/>
          </a:p>
        </p:txBody>
      </p:sp>
      <p:sp>
        <p:nvSpPr>
          <p:cNvPr id="32" name="Step 5"/>
          <p:cNvSpPr/>
          <p:nvPr/>
        </p:nvSpPr>
        <p:spPr>
          <a:xfrm>
            <a:off x="6178144" y="1600200"/>
            <a:ext cx="1242784" cy="4206240"/>
          </a:xfrm>
          <a:prstGeom prst="roundRect">
            <a:avLst>
              <a:gd name="adj" fmla="val 5886"/>
            </a:avLst>
          </a:prstGeom>
          <a:solidFill>
            <a:schemeClr val="bg2"/>
          </a:solidFill>
          <a:ln/>
        </p:spPr>
      </p:sp>
      <p:sp>
        <p:nvSpPr>
          <p:cNvPr id="33" name="Text 26"/>
          <p:cNvSpPr txBox="1"/>
          <p:nvPr/>
        </p:nvSpPr>
        <p:spPr>
          <a:xfrm>
            <a:off x="6178144" y="1783080"/>
            <a:ext cx="1242784" cy="548640"/>
          </a:xfrm>
          <a:prstGeom prst="rect">
            <a:avLst/>
          </a:prstGeom>
          <a:noFill/>
          <a:ln/>
        </p:spPr>
        <p:txBody>
          <a:bodyPr wrap="square" lIns="0" tIns="0" rIns="0" bIns="0" rtlCol="0" anchor="t"/>
          <a:lstStyle/>
          <a:p>
            <a:pPr algn="ctr" indent="0" marL="0">
              <a:buNone/>
            </a:pPr>
            <a:r>
              <a:rPr lang="en-US" sz="3200" b="1" dirty="0">
                <a:solidFill>
                  <a:schemeClr val="accent1"/>
                </a:solidFill>
              </a:rPr>
              <a:t>5</a:t>
            </a:r>
            <a:endParaRPr lang="en-US" sz="3200" dirty="0"/>
          </a:p>
        </p:txBody>
      </p:sp>
      <p:sp>
        <p:nvSpPr>
          <p:cNvPr id="34" name="Shape 27"/>
          <p:cNvSpPr/>
          <p:nvPr/>
        </p:nvSpPr>
        <p:spPr>
          <a:xfrm>
            <a:off x="6433776" y="2468880"/>
            <a:ext cx="731520" cy="731520"/>
          </a:xfrm>
          <a:prstGeom prst="ellipse">
            <a:avLst/>
          </a:prstGeom>
          <a:solidFill>
            <a:schemeClr val="accent1"/>
          </a:solidFill>
          <a:ln/>
        </p:spPr>
      </p:sp>
      <p:pic>
        <p:nvPicPr>
          <p:cNvPr id="35" name="Image 4" descr="ProjectDiagram icon">    </p:cNvPr>
          <p:cNvPicPr>
            <a:picLocks noChangeAspect="1"/>
          </p:cNvPicPr>
          <p:nvPr/>
        </p:nvPicPr>
        <p:blipFill>
          <a:blip r:embed="rId5"/>
          <a:stretch>
            <a:fillRect/>
          </a:stretch>
        </p:blipFill>
        <p:spPr>
          <a:xfrm>
            <a:off x="6609340" y="2644445"/>
            <a:ext cx="380390" cy="380390"/>
          </a:xfrm>
          <a:prstGeom prst="rect">
            <a:avLst/>
          </a:prstGeom>
        </p:spPr>
      </p:pic>
      <p:sp>
        <p:nvSpPr>
          <p:cNvPr id="36" name="Text 28"/>
          <p:cNvSpPr txBox="1"/>
          <p:nvPr/>
        </p:nvSpPr>
        <p:spPr>
          <a:xfrm>
            <a:off x="6269584" y="3383280"/>
            <a:ext cx="1059904" cy="914400"/>
          </a:xfrm>
          <a:prstGeom prst="rect">
            <a:avLst/>
          </a:prstGeom>
          <a:noFill/>
          <a:ln/>
        </p:spPr>
        <p:txBody>
          <a:bodyPr wrap="square" lIns="0" tIns="0" rIns="0" bIns="0" rtlCol="0" anchor="t"/>
          <a:lstStyle/>
          <a:p>
            <a:pPr algn="ctr" indent="0" marL="0">
              <a:buNone/>
            </a:pPr>
            <a:r>
              <a:rPr lang="en-US" sz="1500" b="1" dirty="0">
                <a:solidFill>
                  <a:schemeClr val="tx2"/>
                </a:solidFill>
              </a:rPr>
              <a:t>Planning</a:t>
            </a:r>
            <a:endParaRPr lang="en-US" sz="1500" dirty="0"/>
          </a:p>
        </p:txBody>
      </p:sp>
      <p:sp>
        <p:nvSpPr>
          <p:cNvPr id="37" name="Text 29"/>
          <p:cNvSpPr txBox="1"/>
          <p:nvPr/>
        </p:nvSpPr>
        <p:spPr>
          <a:xfrm>
            <a:off x="6269584" y="4526280"/>
            <a:ext cx="1059904" cy="274320"/>
          </a:xfrm>
          <a:prstGeom prst="rect">
            <a:avLst/>
          </a:prstGeom>
          <a:noFill/>
          <a:ln/>
        </p:spPr>
        <p:txBody>
          <a:bodyPr wrap="square" lIns="0" tIns="0" rIns="0" bIns="0" rtlCol="0" anchor="t"/>
          <a:lstStyle/>
          <a:p>
            <a:pPr algn="ctr" indent="0" marL="0">
              <a:buNone/>
            </a:pPr>
            <a:r>
              <a:rPr lang="en-US" sz="1100" b="1" dirty="0">
                <a:solidFill>
                  <a:schemeClr val="accent1"/>
                </a:solidFill>
              </a:rPr>
              <a:t>Output</a:t>
            </a:r>
            <a:endParaRPr lang="en-US" sz="1100" dirty="0"/>
          </a:p>
        </p:txBody>
      </p:sp>
      <p:sp>
        <p:nvSpPr>
          <p:cNvPr id="38" name="Text 30"/>
          <p:cNvSpPr txBox="1"/>
          <p:nvPr/>
        </p:nvSpPr>
        <p:spPr>
          <a:xfrm>
            <a:off x="6269584" y="4800600"/>
            <a:ext cx="1059904" cy="822960"/>
          </a:xfrm>
          <a:prstGeom prst="rect">
            <a:avLst/>
          </a:prstGeom>
          <a:noFill/>
          <a:ln/>
        </p:spPr>
        <p:txBody>
          <a:bodyPr wrap="square" lIns="0" tIns="0" rIns="0" bIns="0" rtlCol="0" anchor="t"/>
          <a:lstStyle/>
          <a:p>
            <a:pPr algn="ctr" indent="0" marL="0">
              <a:buNone/>
            </a:pPr>
            <a:r>
              <a:rPr lang="en-US" sz="1300" dirty="0">
                <a:solidFill>
                  <a:schemeClr val="tx1"/>
                </a:solidFill>
              </a:rPr>
              <a:t>Updated plan &amp; backlog</a:t>
            </a:r>
            <a:endParaRPr lang="en-US" sz="1300" dirty="0"/>
          </a:p>
        </p:txBody>
      </p:sp>
      <p:sp>
        <p:nvSpPr>
          <p:cNvPr id="39" name="Step 6"/>
          <p:cNvSpPr/>
          <p:nvPr/>
        </p:nvSpPr>
        <p:spPr>
          <a:xfrm>
            <a:off x="7585520" y="1600200"/>
            <a:ext cx="1242784" cy="4206240"/>
          </a:xfrm>
          <a:prstGeom prst="roundRect">
            <a:avLst>
              <a:gd name="adj" fmla="val 5886"/>
            </a:avLst>
          </a:prstGeom>
          <a:solidFill>
            <a:schemeClr val="tx2"/>
          </a:solidFill>
          <a:ln/>
        </p:spPr>
      </p:sp>
      <p:sp>
        <p:nvSpPr>
          <p:cNvPr id="40" name="Text 32"/>
          <p:cNvSpPr txBox="1"/>
          <p:nvPr/>
        </p:nvSpPr>
        <p:spPr>
          <a:xfrm>
            <a:off x="7585520" y="1783080"/>
            <a:ext cx="1242784" cy="548640"/>
          </a:xfrm>
          <a:prstGeom prst="rect">
            <a:avLst/>
          </a:prstGeom>
          <a:noFill/>
          <a:ln/>
        </p:spPr>
        <p:txBody>
          <a:bodyPr wrap="square" lIns="0" tIns="0" rIns="0" bIns="0" rtlCol="0" anchor="t"/>
          <a:lstStyle/>
          <a:p>
            <a:pPr algn="ctr" indent="0" marL="0">
              <a:buNone/>
            </a:pPr>
            <a:r>
              <a:rPr lang="en-US" sz="3200" b="1" dirty="0">
                <a:solidFill>
                  <a:schemeClr val="accent3"/>
                </a:solidFill>
              </a:rPr>
              <a:t>6</a:t>
            </a:r>
            <a:endParaRPr lang="en-US" sz="3200" dirty="0"/>
          </a:p>
        </p:txBody>
      </p:sp>
      <p:sp>
        <p:nvSpPr>
          <p:cNvPr id="41" name="Shape 33"/>
          <p:cNvSpPr/>
          <p:nvPr/>
        </p:nvSpPr>
        <p:spPr>
          <a:xfrm>
            <a:off x="7841151" y="2468880"/>
            <a:ext cx="731520" cy="731520"/>
          </a:xfrm>
          <a:prstGeom prst="ellipse">
            <a:avLst/>
          </a:prstGeom>
          <a:solidFill>
            <a:schemeClr val="accent3"/>
          </a:solidFill>
          <a:ln/>
        </p:spPr>
      </p:sp>
      <p:pic>
        <p:nvPicPr>
          <p:cNvPr id="42" name="Image 5" descr="Vial icon">    </p:cNvPr>
          <p:cNvPicPr>
            <a:picLocks noChangeAspect="1"/>
          </p:cNvPicPr>
          <p:nvPr/>
        </p:nvPicPr>
        <p:blipFill>
          <a:blip r:embed="rId6"/>
          <a:stretch>
            <a:fillRect/>
          </a:stretch>
        </p:blipFill>
        <p:spPr>
          <a:xfrm>
            <a:off x="8016716" y="2644445"/>
            <a:ext cx="380390" cy="380390"/>
          </a:xfrm>
          <a:prstGeom prst="rect">
            <a:avLst/>
          </a:prstGeom>
        </p:spPr>
      </p:pic>
      <p:sp>
        <p:nvSpPr>
          <p:cNvPr id="43" name="Text 34"/>
          <p:cNvSpPr txBox="1"/>
          <p:nvPr/>
        </p:nvSpPr>
        <p:spPr>
          <a:xfrm>
            <a:off x="7676960" y="3383280"/>
            <a:ext cx="1059904" cy="914400"/>
          </a:xfrm>
          <a:prstGeom prst="rect">
            <a:avLst/>
          </a:prstGeom>
          <a:noFill/>
          <a:ln/>
        </p:spPr>
        <p:txBody>
          <a:bodyPr wrap="square" lIns="0" tIns="0" rIns="0" bIns="0" rtlCol="0" anchor="t"/>
          <a:lstStyle/>
          <a:p>
            <a:pPr algn="ctr" indent="0" marL="0">
              <a:buNone/>
            </a:pPr>
            <a:r>
              <a:rPr lang="en-US" sz="1500" b="1" dirty="0">
                <a:solidFill>
                  <a:schemeClr val="bg1"/>
                </a:solidFill>
              </a:rPr>
              <a:t>Build &amp; test</a:t>
            </a:r>
            <a:endParaRPr lang="en-US" sz="1500" dirty="0"/>
          </a:p>
        </p:txBody>
      </p:sp>
      <p:sp>
        <p:nvSpPr>
          <p:cNvPr id="44" name="Text 35"/>
          <p:cNvSpPr txBox="1"/>
          <p:nvPr/>
        </p:nvSpPr>
        <p:spPr>
          <a:xfrm>
            <a:off x="7676960" y="4526280"/>
            <a:ext cx="1059904" cy="274320"/>
          </a:xfrm>
          <a:prstGeom prst="rect">
            <a:avLst/>
          </a:prstGeom>
          <a:noFill/>
          <a:ln/>
        </p:spPr>
        <p:txBody>
          <a:bodyPr wrap="square" lIns="0" tIns="0" rIns="0" bIns="0" rtlCol="0" anchor="t"/>
          <a:lstStyle/>
          <a:p>
            <a:pPr algn="ctr" indent="0" marL="0">
              <a:buNone/>
            </a:pPr>
            <a:r>
              <a:rPr lang="en-US" sz="1100" b="1" dirty="0">
                <a:solidFill>
                  <a:schemeClr val="accent3"/>
                </a:solidFill>
              </a:rPr>
              <a:t>Output</a:t>
            </a:r>
            <a:endParaRPr lang="en-US" sz="1100" dirty="0"/>
          </a:p>
        </p:txBody>
      </p:sp>
      <p:sp>
        <p:nvSpPr>
          <p:cNvPr id="45" name="Text 36"/>
          <p:cNvSpPr txBox="1"/>
          <p:nvPr/>
        </p:nvSpPr>
        <p:spPr>
          <a:xfrm>
            <a:off x="7676960" y="4800600"/>
            <a:ext cx="1059904" cy="822960"/>
          </a:xfrm>
          <a:prstGeom prst="rect">
            <a:avLst/>
          </a:prstGeom>
          <a:noFill/>
          <a:ln/>
        </p:spPr>
        <p:txBody>
          <a:bodyPr wrap="square" lIns="0" tIns="0" rIns="0" bIns="0" rtlCol="0" anchor="t"/>
          <a:lstStyle/>
          <a:p>
            <a:pPr algn="ctr" indent="0" marL="0">
              <a:buNone/>
            </a:pPr>
            <a:r>
              <a:rPr lang="en-US" sz="1300" dirty="0">
                <a:solidFill>
                  <a:schemeClr val="bg1"/>
                </a:solidFill>
              </a:rPr>
              <a:t>Tested change</a:t>
            </a:r>
            <a:endParaRPr lang="en-US" sz="1300" dirty="0"/>
          </a:p>
        </p:txBody>
      </p:sp>
      <p:sp>
        <p:nvSpPr>
          <p:cNvPr id="46" name="Step 7"/>
          <p:cNvSpPr/>
          <p:nvPr/>
        </p:nvSpPr>
        <p:spPr>
          <a:xfrm>
            <a:off x="8992895" y="1600200"/>
            <a:ext cx="1242784" cy="4206240"/>
          </a:xfrm>
          <a:prstGeom prst="roundRect">
            <a:avLst>
              <a:gd name="adj" fmla="val 5886"/>
            </a:avLst>
          </a:prstGeom>
          <a:solidFill>
            <a:schemeClr val="bg2"/>
          </a:solidFill>
          <a:ln/>
        </p:spPr>
      </p:sp>
      <p:sp>
        <p:nvSpPr>
          <p:cNvPr id="47" name="Text 38"/>
          <p:cNvSpPr txBox="1"/>
          <p:nvPr/>
        </p:nvSpPr>
        <p:spPr>
          <a:xfrm>
            <a:off x="8992895" y="1783080"/>
            <a:ext cx="1242784" cy="548640"/>
          </a:xfrm>
          <a:prstGeom prst="rect">
            <a:avLst/>
          </a:prstGeom>
          <a:noFill/>
          <a:ln/>
        </p:spPr>
        <p:txBody>
          <a:bodyPr wrap="square" lIns="0" tIns="0" rIns="0" bIns="0" rtlCol="0" anchor="t"/>
          <a:lstStyle/>
          <a:p>
            <a:pPr algn="ctr" indent="0" marL="0">
              <a:buNone/>
            </a:pPr>
            <a:r>
              <a:rPr lang="en-US" sz="3200" b="1" dirty="0">
                <a:solidFill>
                  <a:schemeClr val="accent1"/>
                </a:solidFill>
              </a:rPr>
              <a:t>7</a:t>
            </a:r>
            <a:endParaRPr lang="en-US" sz="3200" dirty="0"/>
          </a:p>
        </p:txBody>
      </p:sp>
      <p:sp>
        <p:nvSpPr>
          <p:cNvPr id="48" name="Shape 39"/>
          <p:cNvSpPr/>
          <p:nvPr/>
        </p:nvSpPr>
        <p:spPr>
          <a:xfrm>
            <a:off x="9248527" y="2468880"/>
            <a:ext cx="731520" cy="731520"/>
          </a:xfrm>
          <a:prstGeom prst="ellipse">
            <a:avLst/>
          </a:prstGeom>
          <a:solidFill>
            <a:schemeClr val="accent1"/>
          </a:solidFill>
          <a:ln/>
        </p:spPr>
      </p:sp>
      <p:pic>
        <p:nvPicPr>
          <p:cNvPr id="49" name="Image 6" descr="Rocket icon">    </p:cNvPr>
          <p:cNvPicPr>
            <a:picLocks noChangeAspect="1"/>
          </p:cNvPicPr>
          <p:nvPr/>
        </p:nvPicPr>
        <p:blipFill>
          <a:blip r:embed="rId7"/>
          <a:stretch>
            <a:fillRect/>
          </a:stretch>
        </p:blipFill>
        <p:spPr>
          <a:xfrm>
            <a:off x="9424092" y="2644445"/>
            <a:ext cx="380390" cy="380390"/>
          </a:xfrm>
          <a:prstGeom prst="rect">
            <a:avLst/>
          </a:prstGeom>
        </p:spPr>
      </p:pic>
      <p:sp>
        <p:nvSpPr>
          <p:cNvPr id="50" name="Text 40"/>
          <p:cNvSpPr txBox="1"/>
          <p:nvPr/>
        </p:nvSpPr>
        <p:spPr>
          <a:xfrm>
            <a:off x="9084335" y="3383280"/>
            <a:ext cx="1059904" cy="914400"/>
          </a:xfrm>
          <a:prstGeom prst="rect">
            <a:avLst/>
          </a:prstGeom>
          <a:noFill/>
          <a:ln/>
        </p:spPr>
        <p:txBody>
          <a:bodyPr wrap="square" lIns="0" tIns="0" rIns="0" bIns="0" rtlCol="0" anchor="t"/>
          <a:lstStyle/>
          <a:p>
            <a:pPr algn="ctr" indent="0" marL="0">
              <a:buNone/>
            </a:pPr>
            <a:r>
              <a:rPr lang="en-US" sz="1500" b="1" dirty="0">
                <a:solidFill>
                  <a:schemeClr val="tx2"/>
                </a:solidFill>
              </a:rPr>
              <a:t>Deploy &amp; release</a:t>
            </a:r>
            <a:endParaRPr lang="en-US" sz="1500" dirty="0"/>
          </a:p>
        </p:txBody>
      </p:sp>
      <p:sp>
        <p:nvSpPr>
          <p:cNvPr id="51" name="Text 41"/>
          <p:cNvSpPr txBox="1"/>
          <p:nvPr/>
        </p:nvSpPr>
        <p:spPr>
          <a:xfrm>
            <a:off x="9084335" y="4526280"/>
            <a:ext cx="1059904" cy="274320"/>
          </a:xfrm>
          <a:prstGeom prst="rect">
            <a:avLst/>
          </a:prstGeom>
          <a:noFill/>
          <a:ln/>
        </p:spPr>
        <p:txBody>
          <a:bodyPr wrap="square" lIns="0" tIns="0" rIns="0" bIns="0" rtlCol="0" anchor="t"/>
          <a:lstStyle/>
          <a:p>
            <a:pPr algn="ctr" indent="0" marL="0">
              <a:buNone/>
            </a:pPr>
            <a:r>
              <a:rPr lang="en-US" sz="1100" b="1" dirty="0">
                <a:solidFill>
                  <a:schemeClr val="accent1"/>
                </a:solidFill>
              </a:rPr>
              <a:t>Output</a:t>
            </a:r>
            <a:endParaRPr lang="en-US" sz="1100" dirty="0"/>
          </a:p>
        </p:txBody>
      </p:sp>
      <p:sp>
        <p:nvSpPr>
          <p:cNvPr id="52" name="Text 42"/>
          <p:cNvSpPr txBox="1"/>
          <p:nvPr/>
        </p:nvSpPr>
        <p:spPr>
          <a:xfrm>
            <a:off x="9084335" y="4800600"/>
            <a:ext cx="1059904" cy="822960"/>
          </a:xfrm>
          <a:prstGeom prst="rect">
            <a:avLst/>
          </a:prstGeom>
          <a:noFill/>
          <a:ln/>
        </p:spPr>
        <p:txBody>
          <a:bodyPr wrap="square" lIns="0" tIns="0" rIns="0" bIns="0" rtlCol="0" anchor="t"/>
          <a:lstStyle/>
          <a:p>
            <a:pPr algn="ctr" indent="0" marL="0">
              <a:buNone/>
            </a:pPr>
            <a:r>
              <a:rPr lang="en-US" sz="1300" dirty="0">
                <a:solidFill>
                  <a:schemeClr val="tx1"/>
                </a:solidFill>
              </a:rPr>
              <a:t>Validated release</a:t>
            </a:r>
            <a:endParaRPr lang="en-US" sz="1300" dirty="0"/>
          </a:p>
        </p:txBody>
      </p:sp>
      <p:sp>
        <p:nvSpPr>
          <p:cNvPr id="53" name="Step 8"/>
          <p:cNvSpPr/>
          <p:nvPr/>
        </p:nvSpPr>
        <p:spPr>
          <a:xfrm>
            <a:off x="10400271" y="1600200"/>
            <a:ext cx="1242784" cy="4206240"/>
          </a:xfrm>
          <a:prstGeom prst="roundRect">
            <a:avLst>
              <a:gd name="adj" fmla="val 5886"/>
            </a:avLst>
          </a:prstGeom>
          <a:solidFill>
            <a:schemeClr val="bg2"/>
          </a:solidFill>
          <a:ln/>
        </p:spPr>
      </p:sp>
      <p:sp>
        <p:nvSpPr>
          <p:cNvPr id="54" name="Text 44"/>
          <p:cNvSpPr txBox="1"/>
          <p:nvPr/>
        </p:nvSpPr>
        <p:spPr>
          <a:xfrm>
            <a:off x="10400271" y="1783080"/>
            <a:ext cx="1242784" cy="548640"/>
          </a:xfrm>
          <a:prstGeom prst="rect">
            <a:avLst/>
          </a:prstGeom>
          <a:noFill/>
          <a:ln/>
        </p:spPr>
        <p:txBody>
          <a:bodyPr wrap="square" lIns="0" tIns="0" rIns="0" bIns="0" rtlCol="0" anchor="t"/>
          <a:lstStyle/>
          <a:p>
            <a:pPr algn="ctr" indent="0" marL="0">
              <a:buNone/>
            </a:pPr>
            <a:r>
              <a:rPr lang="en-US" sz="3200" b="1" dirty="0">
                <a:solidFill>
                  <a:schemeClr val="accent1"/>
                </a:solidFill>
              </a:rPr>
              <a:t>8</a:t>
            </a:r>
            <a:endParaRPr lang="en-US" sz="3200" dirty="0"/>
          </a:p>
        </p:txBody>
      </p:sp>
      <p:sp>
        <p:nvSpPr>
          <p:cNvPr id="55" name="Shape 45"/>
          <p:cNvSpPr/>
          <p:nvPr/>
        </p:nvSpPr>
        <p:spPr>
          <a:xfrm>
            <a:off x="10655903" y="2468880"/>
            <a:ext cx="731520" cy="731520"/>
          </a:xfrm>
          <a:prstGeom prst="ellipse">
            <a:avLst/>
          </a:prstGeom>
          <a:solidFill>
            <a:schemeClr val="accent1"/>
          </a:solidFill>
          <a:ln/>
        </p:spPr>
      </p:sp>
      <p:pic>
        <p:nvPicPr>
          <p:cNvPr id="56" name="Image 7" descr="Archive icon">    </p:cNvPr>
          <p:cNvPicPr>
            <a:picLocks noChangeAspect="1"/>
          </p:cNvPicPr>
          <p:nvPr/>
        </p:nvPicPr>
        <p:blipFill>
          <a:blip r:embed="rId8"/>
          <a:stretch>
            <a:fillRect/>
          </a:stretch>
        </p:blipFill>
        <p:spPr>
          <a:xfrm>
            <a:off x="10831468" y="2644445"/>
            <a:ext cx="380390" cy="380390"/>
          </a:xfrm>
          <a:prstGeom prst="rect">
            <a:avLst/>
          </a:prstGeom>
        </p:spPr>
      </p:pic>
      <p:sp>
        <p:nvSpPr>
          <p:cNvPr id="57" name="Text 46"/>
          <p:cNvSpPr txBox="1"/>
          <p:nvPr/>
        </p:nvSpPr>
        <p:spPr>
          <a:xfrm>
            <a:off x="10491711" y="3383280"/>
            <a:ext cx="1059904" cy="914400"/>
          </a:xfrm>
          <a:prstGeom prst="rect">
            <a:avLst/>
          </a:prstGeom>
          <a:noFill/>
          <a:ln/>
        </p:spPr>
        <p:txBody>
          <a:bodyPr wrap="square" lIns="0" tIns="0" rIns="0" bIns="0" rtlCol="0" anchor="t"/>
          <a:lstStyle/>
          <a:p>
            <a:pPr algn="ctr" indent="0" marL="0">
              <a:buNone/>
            </a:pPr>
            <a:r>
              <a:rPr lang="en-US" sz="1500" b="1" dirty="0">
                <a:solidFill>
                  <a:schemeClr val="tx2"/>
                </a:solidFill>
              </a:rPr>
              <a:t>Docs &amp; closure</a:t>
            </a:r>
            <a:endParaRPr lang="en-US" sz="1500" dirty="0"/>
          </a:p>
        </p:txBody>
      </p:sp>
      <p:sp>
        <p:nvSpPr>
          <p:cNvPr id="58" name="Text 47"/>
          <p:cNvSpPr txBox="1"/>
          <p:nvPr/>
        </p:nvSpPr>
        <p:spPr>
          <a:xfrm>
            <a:off x="10491711" y="4526280"/>
            <a:ext cx="1059904" cy="274320"/>
          </a:xfrm>
          <a:prstGeom prst="rect">
            <a:avLst/>
          </a:prstGeom>
          <a:noFill/>
          <a:ln/>
        </p:spPr>
        <p:txBody>
          <a:bodyPr wrap="square" lIns="0" tIns="0" rIns="0" bIns="0" rtlCol="0" anchor="t"/>
          <a:lstStyle/>
          <a:p>
            <a:pPr algn="ctr" indent="0" marL="0">
              <a:buNone/>
            </a:pPr>
            <a:r>
              <a:rPr lang="en-US" sz="1100" b="1" dirty="0">
                <a:solidFill>
                  <a:schemeClr val="accent1"/>
                </a:solidFill>
              </a:rPr>
              <a:t>Output</a:t>
            </a:r>
            <a:endParaRPr lang="en-US" sz="1100" dirty="0"/>
          </a:p>
        </p:txBody>
      </p:sp>
      <p:sp>
        <p:nvSpPr>
          <p:cNvPr id="59" name="Text 48"/>
          <p:cNvSpPr txBox="1"/>
          <p:nvPr/>
        </p:nvSpPr>
        <p:spPr>
          <a:xfrm>
            <a:off x="10491711" y="4800600"/>
            <a:ext cx="1059904" cy="822960"/>
          </a:xfrm>
          <a:prstGeom prst="rect">
            <a:avLst/>
          </a:prstGeom>
          <a:noFill/>
          <a:ln/>
        </p:spPr>
        <p:txBody>
          <a:bodyPr wrap="square" lIns="0" tIns="0" rIns="0" bIns="0" rtlCol="0" anchor="t"/>
          <a:lstStyle/>
          <a:p>
            <a:pPr algn="ctr" indent="0" marL="0">
              <a:buNone/>
            </a:pPr>
            <a:r>
              <a:rPr lang="en-US" sz="1300" dirty="0">
                <a:solidFill>
                  <a:schemeClr val="tx1"/>
                </a:solidFill>
              </a:rPr>
              <a:t>Archived CR &amp; lessons</a:t>
            </a:r>
            <a:endParaRPr lang="en-US" sz="1300" dirty="0"/>
          </a:p>
        </p:txBody>
      </p:sp>
      <p:sp>
        <p:nvSpPr>
          <p:cNvPr id="60" name="Text 49"/>
          <p:cNvSpPr txBox="1"/>
          <p:nvPr/>
        </p:nvSpPr>
        <p:spPr>
          <a:xfrm>
            <a:off x="548640" y="5943600"/>
            <a:ext cx="7315200" cy="320040"/>
          </a:xfrm>
          <a:prstGeom prst="rect">
            <a:avLst/>
          </a:prstGeom>
          <a:noFill/>
          <a:ln/>
        </p:spPr>
        <p:txBody>
          <a:bodyPr wrap="square" lIns="0" tIns="0" rIns="0" bIns="0" rtlCol="0" anchor="t"/>
          <a:lstStyle/>
          <a:p>
            <a:pPr indent="0" marL="0">
              <a:buNone/>
            </a:pPr>
            <a:r>
              <a:rPr lang="en-US" sz="1300" i="1" dirty="0">
                <a:solidFill>
                  <a:schemeClr val="tx2"/>
                </a:solidFill>
              </a:rPr>
              <a:t>Highlighted: the steps where QA is directly involved</a:t>
            </a:r>
            <a:endParaRPr lang="en-US" sz="13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Steps 1–2 · Submit, review and categorize</a:t>
            </a:r>
            <a:endParaRPr lang="en-US" sz="3400" dirty="0"/>
          </a:p>
        </p:txBody>
      </p:sp>
      <p:sp>
        <p:nvSpPr>
          <p:cNvPr id="4" name="Step 1"/>
          <p:cNvSpPr/>
          <p:nvPr/>
        </p:nvSpPr>
        <p:spPr>
          <a:xfrm>
            <a:off x="548640" y="1325880"/>
            <a:ext cx="5364328" cy="4800600"/>
          </a:xfrm>
          <a:prstGeom prst="roundRect">
            <a:avLst>
              <a:gd name="adj" fmla="val 1524"/>
            </a:avLst>
          </a:prstGeom>
          <a:solidFill>
            <a:schemeClr val="bg2"/>
          </a:solidFill>
          <a:ln/>
        </p:spPr>
      </p:sp>
      <p:sp>
        <p:nvSpPr>
          <p:cNvPr id="5" name="Shape 2"/>
          <p:cNvSpPr/>
          <p:nvPr/>
        </p:nvSpPr>
        <p:spPr>
          <a:xfrm>
            <a:off x="822960" y="1600200"/>
            <a:ext cx="731520" cy="731520"/>
          </a:xfrm>
          <a:prstGeom prst="ellipse">
            <a:avLst/>
          </a:prstGeom>
          <a:solidFill>
            <a:schemeClr val="tx2"/>
          </a:solidFill>
          <a:ln/>
        </p:spPr>
      </p:sp>
      <p:sp>
        <p:nvSpPr>
          <p:cNvPr id="6" name="Text 3"/>
          <p:cNvSpPr txBox="1"/>
          <p:nvPr/>
        </p:nvSpPr>
        <p:spPr>
          <a:xfrm>
            <a:off x="822960"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1</a:t>
            </a:r>
            <a:endParaRPr lang="en-US" sz="2800" dirty="0"/>
          </a:p>
        </p:txBody>
      </p:sp>
      <p:sp>
        <p:nvSpPr>
          <p:cNvPr id="7" name="Text 4"/>
          <p:cNvSpPr txBox="1"/>
          <p:nvPr/>
        </p:nvSpPr>
        <p:spPr>
          <a:xfrm>
            <a:off x="1737360"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Submission of change request</a:t>
            </a:r>
            <a:endParaRPr lang="en-US" sz="2100" dirty="0"/>
          </a:p>
        </p:txBody>
      </p:sp>
      <p:sp>
        <p:nvSpPr>
          <p:cNvPr id="8" name="Text 5"/>
          <p:cNvSpPr txBox="1"/>
          <p:nvPr/>
        </p:nvSpPr>
        <p:spPr>
          <a:xfrm>
            <a:off x="1737360"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Stakeholders (clients, PMs, developers, QA…)</a:t>
            </a:r>
            <a:endParaRPr lang="en-US" sz="1400" dirty="0"/>
          </a:p>
        </p:txBody>
      </p:sp>
      <p:sp>
        <p:nvSpPr>
          <p:cNvPr id="9" name="Text 6"/>
          <p:cNvSpPr txBox="1"/>
          <p:nvPr/>
        </p:nvSpPr>
        <p:spPr>
          <a:xfrm>
            <a:off x="868680" y="2606040"/>
            <a:ext cx="4724248" cy="33375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How: formal Change Request Form or issue tracking tool</a:t>
            </a:r>
            <a:endParaRPr lang="en-US" sz="1700" dirty="0"/>
          </a:p>
          <a:p>
            <a:pPr marL="342900" indent="-342900">
              <a:spcAft>
                <a:spcPts val="1200"/>
              </a:spcAft>
              <a:buSzPct val="100000"/>
              <a:buChar char="•"/>
            </a:pPr>
            <a:r>
              <a:rPr lang="en-US" sz="1700" dirty="0">
                <a:solidFill>
                  <a:schemeClr val="tx1"/>
                </a:solidFill>
              </a:rPr>
              <a:t>Change description</a:t>
            </a:r>
            <a:endParaRPr lang="en-US" sz="1700" dirty="0"/>
          </a:p>
          <a:p>
            <a:pPr marL="342900" indent="-342900">
              <a:spcAft>
                <a:spcPts val="1200"/>
              </a:spcAft>
              <a:buSzPct val="100000"/>
              <a:buChar char="•"/>
            </a:pPr>
            <a:r>
              <a:rPr lang="en-US" sz="1700" dirty="0">
                <a:solidFill>
                  <a:schemeClr val="tx1"/>
                </a:solidFill>
              </a:rPr>
              <a:t>Reason: business or technical justification</a:t>
            </a:r>
            <a:endParaRPr lang="en-US" sz="1700" dirty="0"/>
          </a:p>
          <a:p>
            <a:pPr marL="342900" indent="-342900">
              <a:spcAft>
                <a:spcPts val="1200"/>
              </a:spcAft>
              <a:buSzPct val="100000"/>
              <a:buChar char="•"/>
            </a:pPr>
            <a:r>
              <a:rPr lang="en-US" sz="1700" dirty="0">
                <a:solidFill>
                  <a:schemeClr val="tx1"/>
                </a:solidFill>
              </a:rPr>
              <a:t>Impact on scope, timeline and budget</a:t>
            </a:r>
            <a:endParaRPr lang="en-US" sz="1700" dirty="0"/>
          </a:p>
          <a:p>
            <a:pPr marL="342900" indent="-342900">
              <a:spcAft>
                <a:spcPts val="1200"/>
              </a:spcAft>
              <a:buSzPct val="100000"/>
              <a:buChar char="•"/>
            </a:pPr>
            <a:r>
              <a:rPr lang="en-US" sz="1700" dirty="0">
                <a:solidFill>
                  <a:schemeClr val="tx1"/>
                </a:solidFill>
              </a:rPr>
              <a:t>Priority and urgency level</a:t>
            </a:r>
            <a:endParaRPr lang="en-US" sz="1700" dirty="0"/>
          </a:p>
        </p:txBody>
      </p:sp>
      <p:sp>
        <p:nvSpPr>
          <p:cNvPr id="10" name="Step 2"/>
          <p:cNvSpPr/>
          <p:nvPr/>
        </p:nvSpPr>
        <p:spPr>
          <a:xfrm>
            <a:off x="6278728" y="1325880"/>
            <a:ext cx="5364328" cy="4800600"/>
          </a:xfrm>
          <a:prstGeom prst="roundRect">
            <a:avLst>
              <a:gd name="adj" fmla="val 1524"/>
            </a:avLst>
          </a:prstGeom>
          <a:solidFill>
            <a:schemeClr val="bg2"/>
          </a:solidFill>
          <a:ln/>
        </p:spPr>
      </p:sp>
      <p:sp>
        <p:nvSpPr>
          <p:cNvPr id="11" name="Shape 8"/>
          <p:cNvSpPr/>
          <p:nvPr/>
        </p:nvSpPr>
        <p:spPr>
          <a:xfrm>
            <a:off x="6553048" y="1600200"/>
            <a:ext cx="731520" cy="731520"/>
          </a:xfrm>
          <a:prstGeom prst="ellipse">
            <a:avLst/>
          </a:prstGeom>
          <a:solidFill>
            <a:schemeClr val="tx2"/>
          </a:solidFill>
          <a:ln/>
        </p:spPr>
      </p:sp>
      <p:sp>
        <p:nvSpPr>
          <p:cNvPr id="12" name="Text 9"/>
          <p:cNvSpPr txBox="1"/>
          <p:nvPr/>
        </p:nvSpPr>
        <p:spPr>
          <a:xfrm>
            <a:off x="6553048"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2</a:t>
            </a:r>
            <a:endParaRPr lang="en-US" sz="2800" dirty="0"/>
          </a:p>
        </p:txBody>
      </p:sp>
      <p:sp>
        <p:nvSpPr>
          <p:cNvPr id="13" name="Text 10"/>
          <p:cNvSpPr txBox="1"/>
          <p:nvPr/>
        </p:nvSpPr>
        <p:spPr>
          <a:xfrm>
            <a:off x="7467448"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Initial review &amp; categorization</a:t>
            </a:r>
            <a:endParaRPr lang="en-US" sz="2100" dirty="0"/>
          </a:p>
        </p:txBody>
      </p:sp>
      <p:sp>
        <p:nvSpPr>
          <p:cNvPr id="14" name="Text 11"/>
          <p:cNvSpPr txBox="1"/>
          <p:nvPr/>
        </p:nvSpPr>
        <p:spPr>
          <a:xfrm>
            <a:off x="7467448"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Project Manager and Business Analyst</a:t>
            </a:r>
            <a:endParaRPr lang="en-US" sz="1400" dirty="0"/>
          </a:p>
        </p:txBody>
      </p:sp>
      <p:sp>
        <p:nvSpPr>
          <p:cNvPr id="15" name="Minor category"/>
          <p:cNvSpPr/>
          <p:nvPr/>
        </p:nvSpPr>
        <p:spPr>
          <a:xfrm>
            <a:off x="6598768" y="2606040"/>
            <a:ext cx="1483309" cy="1051560"/>
          </a:xfrm>
          <a:prstGeom prst="roundRect">
            <a:avLst>
              <a:gd name="adj" fmla="val 6957"/>
            </a:avLst>
          </a:prstGeom>
          <a:solidFill>
            <a:schemeClr val="accent1"/>
          </a:solidFill>
          <a:ln/>
        </p:spPr>
      </p:sp>
      <p:sp>
        <p:nvSpPr>
          <p:cNvPr id="16" name="Text 13"/>
          <p:cNvSpPr txBox="1"/>
          <p:nvPr/>
        </p:nvSpPr>
        <p:spPr>
          <a:xfrm>
            <a:off x="6598768" y="2743200"/>
            <a:ext cx="1483309" cy="411480"/>
          </a:xfrm>
          <a:prstGeom prst="rect">
            <a:avLst/>
          </a:prstGeom>
          <a:noFill/>
          <a:ln/>
        </p:spPr>
        <p:txBody>
          <a:bodyPr wrap="square" lIns="0" tIns="0" rIns="0" bIns="0" rtlCol="0" anchor="t"/>
          <a:lstStyle/>
          <a:p>
            <a:pPr algn="ctr" indent="0" marL="0">
              <a:buNone/>
            </a:pPr>
            <a:r>
              <a:rPr lang="en-US" sz="1800" b="1" dirty="0">
                <a:solidFill>
                  <a:schemeClr val="bg1"/>
                </a:solidFill>
              </a:rPr>
              <a:t>Minor</a:t>
            </a:r>
            <a:endParaRPr lang="en-US" sz="1800" dirty="0"/>
          </a:p>
        </p:txBody>
      </p:sp>
      <p:sp>
        <p:nvSpPr>
          <p:cNvPr id="17" name="Text 14"/>
          <p:cNvSpPr txBox="1"/>
          <p:nvPr/>
        </p:nvSpPr>
        <p:spPr>
          <a:xfrm>
            <a:off x="6690208" y="3154680"/>
            <a:ext cx="1300429" cy="411480"/>
          </a:xfrm>
          <a:prstGeom prst="rect">
            <a:avLst/>
          </a:prstGeom>
          <a:noFill/>
          <a:ln/>
        </p:spPr>
        <p:txBody>
          <a:bodyPr wrap="square" lIns="0" tIns="0" rIns="0" bIns="0" rtlCol="0" anchor="t"/>
          <a:lstStyle/>
          <a:p>
            <a:pPr algn="ctr" indent="0" marL="0">
              <a:buNone/>
            </a:pPr>
            <a:r>
              <a:rPr lang="en-US" sz="1300" dirty="0">
                <a:solidFill>
                  <a:schemeClr val="bg1"/>
                </a:solidFill>
              </a:rPr>
              <a:t>e.g. UI modification</a:t>
            </a:r>
            <a:endParaRPr lang="en-US" sz="1300" dirty="0"/>
          </a:p>
        </p:txBody>
      </p:sp>
      <p:sp>
        <p:nvSpPr>
          <p:cNvPr id="18" name="Major category"/>
          <p:cNvSpPr/>
          <p:nvPr/>
        </p:nvSpPr>
        <p:spPr>
          <a:xfrm>
            <a:off x="8219237" y="2606040"/>
            <a:ext cx="1483309" cy="1051560"/>
          </a:xfrm>
          <a:prstGeom prst="roundRect">
            <a:avLst>
              <a:gd name="adj" fmla="val 6957"/>
            </a:avLst>
          </a:prstGeom>
          <a:solidFill>
            <a:schemeClr val="accent5"/>
          </a:solidFill>
          <a:ln/>
        </p:spPr>
      </p:sp>
      <p:sp>
        <p:nvSpPr>
          <p:cNvPr id="19" name="Text 16"/>
          <p:cNvSpPr txBox="1"/>
          <p:nvPr/>
        </p:nvSpPr>
        <p:spPr>
          <a:xfrm>
            <a:off x="8219237" y="2743200"/>
            <a:ext cx="1483309" cy="411480"/>
          </a:xfrm>
          <a:prstGeom prst="rect">
            <a:avLst/>
          </a:prstGeom>
          <a:noFill/>
          <a:ln/>
        </p:spPr>
        <p:txBody>
          <a:bodyPr wrap="square" lIns="0" tIns="0" rIns="0" bIns="0" rtlCol="0" anchor="t"/>
          <a:lstStyle/>
          <a:p>
            <a:pPr algn="ctr" indent="0" marL="0">
              <a:buNone/>
            </a:pPr>
            <a:r>
              <a:rPr lang="en-US" sz="1800" b="1" dirty="0">
                <a:solidFill>
                  <a:schemeClr val="bg1"/>
                </a:solidFill>
              </a:rPr>
              <a:t>Major</a:t>
            </a:r>
            <a:endParaRPr lang="en-US" sz="1800" dirty="0"/>
          </a:p>
        </p:txBody>
      </p:sp>
      <p:sp>
        <p:nvSpPr>
          <p:cNvPr id="20" name="Text 17"/>
          <p:cNvSpPr txBox="1"/>
          <p:nvPr/>
        </p:nvSpPr>
        <p:spPr>
          <a:xfrm>
            <a:off x="8310677" y="3154680"/>
            <a:ext cx="1300429" cy="411480"/>
          </a:xfrm>
          <a:prstGeom prst="rect">
            <a:avLst/>
          </a:prstGeom>
          <a:noFill/>
          <a:ln/>
        </p:spPr>
        <p:txBody>
          <a:bodyPr wrap="square" lIns="0" tIns="0" rIns="0" bIns="0" rtlCol="0" anchor="t"/>
          <a:lstStyle/>
          <a:p>
            <a:pPr algn="ctr" indent="0" marL="0">
              <a:buNone/>
            </a:pPr>
            <a:r>
              <a:rPr lang="en-US" sz="1300" dirty="0">
                <a:solidFill>
                  <a:schemeClr val="bg1"/>
                </a:solidFill>
              </a:rPr>
              <a:t>e.g. new feature</a:t>
            </a:r>
            <a:endParaRPr lang="en-US" sz="1300" dirty="0"/>
          </a:p>
        </p:txBody>
      </p:sp>
      <p:sp>
        <p:nvSpPr>
          <p:cNvPr id="21" name="Critical category"/>
          <p:cNvSpPr/>
          <p:nvPr/>
        </p:nvSpPr>
        <p:spPr>
          <a:xfrm>
            <a:off x="9839706" y="2606040"/>
            <a:ext cx="1483309" cy="1051560"/>
          </a:xfrm>
          <a:prstGeom prst="roundRect">
            <a:avLst>
              <a:gd name="adj" fmla="val 6957"/>
            </a:avLst>
          </a:prstGeom>
          <a:solidFill>
            <a:schemeClr val="accent6"/>
          </a:solidFill>
          <a:ln/>
        </p:spPr>
      </p:sp>
      <p:sp>
        <p:nvSpPr>
          <p:cNvPr id="22" name="Text 19"/>
          <p:cNvSpPr txBox="1"/>
          <p:nvPr/>
        </p:nvSpPr>
        <p:spPr>
          <a:xfrm>
            <a:off x="9839706" y="2743200"/>
            <a:ext cx="1483309" cy="411480"/>
          </a:xfrm>
          <a:prstGeom prst="rect">
            <a:avLst/>
          </a:prstGeom>
          <a:noFill/>
          <a:ln/>
        </p:spPr>
        <p:txBody>
          <a:bodyPr wrap="square" lIns="0" tIns="0" rIns="0" bIns="0" rtlCol="0" anchor="t"/>
          <a:lstStyle/>
          <a:p>
            <a:pPr algn="ctr" indent="0" marL="0">
              <a:buNone/>
            </a:pPr>
            <a:r>
              <a:rPr lang="en-US" sz="1800" b="1" dirty="0">
                <a:solidFill>
                  <a:schemeClr val="bg1"/>
                </a:solidFill>
              </a:rPr>
              <a:t>Critical</a:t>
            </a:r>
            <a:endParaRPr lang="en-US" sz="1800" dirty="0"/>
          </a:p>
        </p:txBody>
      </p:sp>
      <p:sp>
        <p:nvSpPr>
          <p:cNvPr id="23" name="Text 20"/>
          <p:cNvSpPr txBox="1"/>
          <p:nvPr/>
        </p:nvSpPr>
        <p:spPr>
          <a:xfrm>
            <a:off x="9931146" y="3154680"/>
            <a:ext cx="1300429" cy="411480"/>
          </a:xfrm>
          <a:prstGeom prst="rect">
            <a:avLst/>
          </a:prstGeom>
          <a:noFill/>
          <a:ln/>
        </p:spPr>
        <p:txBody>
          <a:bodyPr wrap="square" lIns="0" tIns="0" rIns="0" bIns="0" rtlCol="0" anchor="t"/>
          <a:lstStyle/>
          <a:p>
            <a:pPr algn="ctr" indent="0" marL="0">
              <a:buNone/>
            </a:pPr>
            <a:r>
              <a:rPr lang="en-US" sz="1300" dirty="0">
                <a:solidFill>
                  <a:schemeClr val="bg1"/>
                </a:solidFill>
              </a:rPr>
              <a:t>e.g. security update</a:t>
            </a:r>
            <a:endParaRPr lang="en-US" sz="1300" dirty="0"/>
          </a:p>
        </p:txBody>
      </p:sp>
      <p:sp>
        <p:nvSpPr>
          <p:cNvPr id="24" name="Text 21"/>
          <p:cNvSpPr txBox="1"/>
          <p:nvPr/>
        </p:nvSpPr>
        <p:spPr>
          <a:xfrm>
            <a:off x="6598768" y="3931920"/>
            <a:ext cx="4724248" cy="20116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Validate the necessity of the change</a:t>
            </a:r>
            <a:endParaRPr lang="en-US" sz="1700" dirty="0"/>
          </a:p>
          <a:p>
            <a:pPr marL="342900" indent="-342900">
              <a:spcAft>
                <a:spcPts val="1200"/>
              </a:spcAft>
              <a:buSzPct val="100000"/>
              <a:buChar char="•"/>
            </a:pPr>
            <a:r>
              <a:rPr lang="en-US" sz="1700" dirty="0">
                <a:solidFill>
                  <a:schemeClr val="tx1"/>
                </a:solidFill>
              </a:rPr>
              <a:t>Assign responsible team members</a:t>
            </a:r>
            <a:endParaRPr lang="en-US" sz="17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Steps 3–4 · Analyse impact and decide</a:t>
            </a:r>
            <a:endParaRPr lang="en-US" sz="3400" dirty="0"/>
          </a:p>
        </p:txBody>
      </p:sp>
      <p:sp>
        <p:nvSpPr>
          <p:cNvPr id="4" name="Step 3"/>
          <p:cNvSpPr/>
          <p:nvPr/>
        </p:nvSpPr>
        <p:spPr>
          <a:xfrm>
            <a:off x="548640" y="1325880"/>
            <a:ext cx="5364328" cy="4800600"/>
          </a:xfrm>
          <a:prstGeom prst="roundRect">
            <a:avLst>
              <a:gd name="adj" fmla="val 1524"/>
            </a:avLst>
          </a:prstGeom>
          <a:solidFill>
            <a:schemeClr val="bg2"/>
          </a:solidFill>
          <a:ln/>
        </p:spPr>
      </p:sp>
      <p:sp>
        <p:nvSpPr>
          <p:cNvPr id="5" name="Shape 2"/>
          <p:cNvSpPr/>
          <p:nvPr/>
        </p:nvSpPr>
        <p:spPr>
          <a:xfrm>
            <a:off x="822960" y="1600200"/>
            <a:ext cx="731520" cy="731520"/>
          </a:xfrm>
          <a:prstGeom prst="ellipse">
            <a:avLst/>
          </a:prstGeom>
          <a:solidFill>
            <a:schemeClr val="tx2"/>
          </a:solidFill>
          <a:ln/>
        </p:spPr>
      </p:sp>
      <p:sp>
        <p:nvSpPr>
          <p:cNvPr id="6" name="Text 3"/>
          <p:cNvSpPr txBox="1"/>
          <p:nvPr/>
        </p:nvSpPr>
        <p:spPr>
          <a:xfrm>
            <a:off x="822960"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3</a:t>
            </a:r>
            <a:endParaRPr lang="en-US" sz="2800" dirty="0"/>
          </a:p>
        </p:txBody>
      </p:sp>
      <p:sp>
        <p:nvSpPr>
          <p:cNvPr id="7" name="Text 4"/>
          <p:cNvSpPr txBox="1"/>
          <p:nvPr/>
        </p:nvSpPr>
        <p:spPr>
          <a:xfrm>
            <a:off x="1737360"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Impact analysis</a:t>
            </a:r>
            <a:endParaRPr lang="en-US" sz="2100" dirty="0"/>
          </a:p>
        </p:txBody>
      </p:sp>
      <p:sp>
        <p:nvSpPr>
          <p:cNvPr id="8" name="Text 5"/>
          <p:cNvSpPr txBox="1"/>
          <p:nvPr/>
        </p:nvSpPr>
        <p:spPr>
          <a:xfrm>
            <a:off x="1737360"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Development &amp; QA teams</a:t>
            </a:r>
            <a:endParaRPr lang="en-US" sz="1400" dirty="0"/>
          </a:p>
        </p:txBody>
      </p:sp>
      <p:sp>
        <p:nvSpPr>
          <p:cNvPr id="9" name="Text 6"/>
          <p:cNvSpPr txBox="1"/>
          <p:nvPr/>
        </p:nvSpPr>
        <p:spPr>
          <a:xfrm>
            <a:off x="868680" y="2606040"/>
            <a:ext cx="4724248" cy="33375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Impact on functionality, architecture and performance</a:t>
            </a:r>
            <a:endParaRPr lang="en-US" sz="1700" dirty="0"/>
          </a:p>
          <a:p>
            <a:pPr marL="342900" indent="-342900">
              <a:spcAft>
                <a:spcPts val="1200"/>
              </a:spcAft>
              <a:buSzPct val="100000"/>
              <a:buChar char="•"/>
            </a:pPr>
            <a:r>
              <a:rPr lang="en-US" sz="1700" dirty="0">
                <a:solidFill>
                  <a:schemeClr val="tx1"/>
                </a:solidFill>
              </a:rPr>
              <a:t>Feasibility of implementation</a:t>
            </a:r>
            <a:endParaRPr lang="en-US" sz="1700" dirty="0"/>
          </a:p>
          <a:p>
            <a:pPr marL="342900" indent="-342900">
              <a:spcAft>
                <a:spcPts val="1200"/>
              </a:spcAft>
              <a:buSzPct val="100000"/>
              <a:buChar char="•"/>
            </a:pPr>
            <a:r>
              <a:rPr lang="en-US" sz="1700" dirty="0">
                <a:solidFill>
                  <a:schemeClr val="tx1"/>
                </a:solidFill>
              </a:rPr>
              <a:t>Dependencies with other components</a:t>
            </a:r>
            <a:endParaRPr lang="en-US" sz="1700" dirty="0"/>
          </a:p>
          <a:p>
            <a:pPr marL="342900" indent="-342900">
              <a:spcAft>
                <a:spcPts val="1200"/>
              </a:spcAft>
              <a:buSzPct val="100000"/>
              <a:buChar char="•"/>
            </a:pPr>
            <a:r>
              <a:rPr lang="en-US" sz="1700" dirty="0">
                <a:solidFill>
                  <a:schemeClr val="tx1"/>
                </a:solidFill>
              </a:rPr>
              <a:t>Effect on project timeline and cost</a:t>
            </a:r>
            <a:endParaRPr lang="en-US" sz="1700" dirty="0"/>
          </a:p>
          <a:p>
            <a:pPr marL="342900" indent="-342900">
              <a:spcAft>
                <a:spcPts val="1200"/>
              </a:spcAft>
              <a:buSzPct val="100000"/>
              <a:buChar char="•"/>
            </a:pPr>
            <a:r>
              <a:rPr lang="en-US" sz="1700" b="1" dirty="0">
                <a:solidFill>
                  <a:schemeClr val="tx2"/>
                </a:solidFill>
              </a:rPr>
              <a:t>Output: a detailed impact report</a:t>
            </a:r>
            <a:endParaRPr lang="en-US" sz="1700" dirty="0"/>
          </a:p>
        </p:txBody>
      </p:sp>
      <p:sp>
        <p:nvSpPr>
          <p:cNvPr id="10" name="Step 4"/>
          <p:cNvSpPr/>
          <p:nvPr/>
        </p:nvSpPr>
        <p:spPr>
          <a:xfrm>
            <a:off x="6278728" y="1325880"/>
            <a:ext cx="5364328" cy="4800600"/>
          </a:xfrm>
          <a:prstGeom prst="roundRect">
            <a:avLst>
              <a:gd name="adj" fmla="val 1524"/>
            </a:avLst>
          </a:prstGeom>
          <a:solidFill>
            <a:schemeClr val="bg2"/>
          </a:solidFill>
          <a:ln/>
        </p:spPr>
      </p:sp>
      <p:sp>
        <p:nvSpPr>
          <p:cNvPr id="11" name="Shape 8"/>
          <p:cNvSpPr/>
          <p:nvPr/>
        </p:nvSpPr>
        <p:spPr>
          <a:xfrm>
            <a:off x="6553048" y="1600200"/>
            <a:ext cx="731520" cy="731520"/>
          </a:xfrm>
          <a:prstGeom prst="ellipse">
            <a:avLst/>
          </a:prstGeom>
          <a:solidFill>
            <a:schemeClr val="tx2"/>
          </a:solidFill>
          <a:ln/>
        </p:spPr>
      </p:sp>
      <p:sp>
        <p:nvSpPr>
          <p:cNvPr id="12" name="Text 9"/>
          <p:cNvSpPr txBox="1"/>
          <p:nvPr/>
        </p:nvSpPr>
        <p:spPr>
          <a:xfrm>
            <a:off x="6553048"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4</a:t>
            </a:r>
            <a:endParaRPr lang="en-US" sz="2800" dirty="0"/>
          </a:p>
        </p:txBody>
      </p:sp>
      <p:sp>
        <p:nvSpPr>
          <p:cNvPr id="13" name="Text 10"/>
          <p:cNvSpPr txBox="1"/>
          <p:nvPr/>
        </p:nvSpPr>
        <p:spPr>
          <a:xfrm>
            <a:off x="7467448"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Approval &amp; decision-making</a:t>
            </a:r>
            <a:endParaRPr lang="en-US" sz="2100" dirty="0"/>
          </a:p>
        </p:txBody>
      </p:sp>
      <p:sp>
        <p:nvSpPr>
          <p:cNvPr id="14" name="Text 11"/>
          <p:cNvSpPr txBox="1"/>
          <p:nvPr/>
        </p:nvSpPr>
        <p:spPr>
          <a:xfrm>
            <a:off x="7467448"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Change Advisory Board or Steering Committee</a:t>
            </a:r>
            <a:endParaRPr lang="en-US" sz="1400" dirty="0"/>
          </a:p>
        </p:txBody>
      </p:sp>
      <p:sp>
        <p:nvSpPr>
          <p:cNvPr id="15" name="Approved decision"/>
          <p:cNvSpPr/>
          <p:nvPr/>
        </p:nvSpPr>
        <p:spPr>
          <a:xfrm>
            <a:off x="6598768" y="2606040"/>
            <a:ext cx="4724248" cy="640080"/>
          </a:xfrm>
          <a:prstGeom prst="roundRect">
            <a:avLst>
              <a:gd name="adj" fmla="val 11429"/>
            </a:avLst>
          </a:prstGeom>
          <a:solidFill>
            <a:schemeClr val="bg1"/>
          </a:solidFill>
          <a:ln w="19050">
            <a:solidFill>
              <a:schemeClr val="accent1"/>
            </a:solidFill>
            <a:prstDash val="solid"/>
          </a:ln>
        </p:spPr>
      </p:sp>
      <p:pic>
        <p:nvPicPr>
          <p:cNvPr id="16" name="Image 0" descr="Approved icon">    </p:cNvPr>
          <p:cNvPicPr>
            <a:picLocks noChangeAspect="1"/>
          </p:cNvPicPr>
          <p:nvPr/>
        </p:nvPicPr>
        <p:blipFill>
          <a:blip r:embed="rId1"/>
          <a:stretch>
            <a:fillRect/>
          </a:stretch>
        </p:blipFill>
        <p:spPr>
          <a:xfrm>
            <a:off x="6781648" y="2761488"/>
            <a:ext cx="329184" cy="329184"/>
          </a:xfrm>
          <a:prstGeom prst="rect">
            <a:avLst/>
          </a:prstGeom>
        </p:spPr>
      </p:pic>
      <p:sp>
        <p:nvSpPr>
          <p:cNvPr id="17" name="Text 13"/>
          <p:cNvSpPr txBox="1"/>
          <p:nvPr/>
        </p:nvSpPr>
        <p:spPr>
          <a:xfrm>
            <a:off x="7284568" y="260604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Approved</a:t>
            </a:r>
            <a:endParaRPr lang="en-US" sz="1700" dirty="0"/>
          </a:p>
        </p:txBody>
      </p:sp>
      <p:sp>
        <p:nvSpPr>
          <p:cNvPr id="18" name="Text 14"/>
          <p:cNvSpPr txBox="1"/>
          <p:nvPr/>
        </p:nvSpPr>
        <p:spPr>
          <a:xfrm>
            <a:off x="8747608" y="2606040"/>
            <a:ext cx="2438248" cy="640080"/>
          </a:xfrm>
          <a:prstGeom prst="rect">
            <a:avLst/>
          </a:prstGeom>
          <a:noFill/>
          <a:ln/>
        </p:spPr>
        <p:txBody>
          <a:bodyPr wrap="square" lIns="0" tIns="0" rIns="0" bIns="0" rtlCol="0" anchor="ctr"/>
          <a:lstStyle/>
          <a:p>
            <a:pPr indent="0" marL="0">
              <a:buNone/>
            </a:pPr>
            <a:r>
              <a:rPr lang="en-US" sz="1500" dirty="0">
                <a:solidFill>
                  <a:schemeClr val="tx1"/>
                </a:solidFill>
              </a:rPr>
              <a:t>→ Proceed with implementation</a:t>
            </a:r>
            <a:endParaRPr lang="en-US" sz="1500" dirty="0"/>
          </a:p>
        </p:txBody>
      </p:sp>
      <p:sp>
        <p:nvSpPr>
          <p:cNvPr id="19" name="Rejected decision"/>
          <p:cNvSpPr/>
          <p:nvPr/>
        </p:nvSpPr>
        <p:spPr>
          <a:xfrm>
            <a:off x="6598768" y="3383280"/>
            <a:ext cx="4724248" cy="640080"/>
          </a:xfrm>
          <a:prstGeom prst="roundRect">
            <a:avLst>
              <a:gd name="adj" fmla="val 11429"/>
            </a:avLst>
          </a:prstGeom>
          <a:solidFill>
            <a:schemeClr val="bg1"/>
          </a:solidFill>
          <a:ln w="19050">
            <a:solidFill>
              <a:schemeClr val="accent6"/>
            </a:solidFill>
            <a:prstDash val="solid"/>
          </a:ln>
        </p:spPr>
      </p:sp>
      <p:pic>
        <p:nvPicPr>
          <p:cNvPr id="20" name="Image 1" descr="Rejected icon">    </p:cNvPr>
          <p:cNvPicPr>
            <a:picLocks noChangeAspect="1"/>
          </p:cNvPicPr>
          <p:nvPr/>
        </p:nvPicPr>
        <p:blipFill>
          <a:blip r:embed="rId2"/>
          <a:stretch>
            <a:fillRect/>
          </a:stretch>
        </p:blipFill>
        <p:spPr>
          <a:xfrm>
            <a:off x="6781648" y="3538728"/>
            <a:ext cx="329184" cy="329184"/>
          </a:xfrm>
          <a:prstGeom prst="rect">
            <a:avLst/>
          </a:prstGeom>
        </p:spPr>
      </p:pic>
      <p:sp>
        <p:nvSpPr>
          <p:cNvPr id="21" name="Text 16"/>
          <p:cNvSpPr txBox="1"/>
          <p:nvPr/>
        </p:nvSpPr>
        <p:spPr>
          <a:xfrm>
            <a:off x="7284568" y="338328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Rejected</a:t>
            </a:r>
            <a:endParaRPr lang="en-US" sz="1700" dirty="0"/>
          </a:p>
        </p:txBody>
      </p:sp>
      <p:sp>
        <p:nvSpPr>
          <p:cNvPr id="22" name="Text 17"/>
          <p:cNvSpPr txBox="1"/>
          <p:nvPr/>
        </p:nvSpPr>
        <p:spPr>
          <a:xfrm>
            <a:off x="8747608" y="3383280"/>
            <a:ext cx="2438248" cy="640080"/>
          </a:xfrm>
          <a:prstGeom prst="rect">
            <a:avLst/>
          </a:prstGeom>
          <a:noFill/>
          <a:ln/>
        </p:spPr>
        <p:txBody>
          <a:bodyPr wrap="square" lIns="0" tIns="0" rIns="0" bIns="0" rtlCol="0" anchor="ctr"/>
          <a:lstStyle/>
          <a:p>
            <a:pPr indent="0" marL="0">
              <a:buNone/>
            </a:pPr>
            <a:r>
              <a:rPr lang="en-US" sz="1500" dirty="0">
                <a:solidFill>
                  <a:schemeClr val="tx1"/>
                </a:solidFill>
              </a:rPr>
              <a:t>→ Provide justification</a:t>
            </a:r>
            <a:endParaRPr lang="en-US" sz="1500" dirty="0"/>
          </a:p>
        </p:txBody>
      </p:sp>
      <p:sp>
        <p:nvSpPr>
          <p:cNvPr id="23" name="Deferred decision"/>
          <p:cNvSpPr/>
          <p:nvPr/>
        </p:nvSpPr>
        <p:spPr>
          <a:xfrm>
            <a:off x="6598768" y="4160520"/>
            <a:ext cx="4724248" cy="640080"/>
          </a:xfrm>
          <a:prstGeom prst="roundRect">
            <a:avLst>
              <a:gd name="adj" fmla="val 11429"/>
            </a:avLst>
          </a:prstGeom>
          <a:solidFill>
            <a:schemeClr val="bg1"/>
          </a:solidFill>
          <a:ln w="19050">
            <a:solidFill>
              <a:schemeClr val="accent5"/>
            </a:solidFill>
            <a:prstDash val="solid"/>
          </a:ln>
        </p:spPr>
      </p:sp>
      <p:pic>
        <p:nvPicPr>
          <p:cNvPr id="24" name="Image 2" descr="Deferred icon">    </p:cNvPr>
          <p:cNvPicPr>
            <a:picLocks noChangeAspect="1"/>
          </p:cNvPicPr>
          <p:nvPr/>
        </p:nvPicPr>
        <p:blipFill>
          <a:blip r:embed="rId3"/>
          <a:stretch>
            <a:fillRect/>
          </a:stretch>
        </p:blipFill>
        <p:spPr>
          <a:xfrm>
            <a:off x="6781648" y="4315968"/>
            <a:ext cx="329184" cy="329184"/>
          </a:xfrm>
          <a:prstGeom prst="rect">
            <a:avLst/>
          </a:prstGeom>
        </p:spPr>
      </p:pic>
      <p:sp>
        <p:nvSpPr>
          <p:cNvPr id="25" name="Text 19"/>
          <p:cNvSpPr txBox="1"/>
          <p:nvPr/>
        </p:nvSpPr>
        <p:spPr>
          <a:xfrm>
            <a:off x="7284568" y="4160520"/>
            <a:ext cx="1463040" cy="640080"/>
          </a:xfrm>
          <a:prstGeom prst="rect">
            <a:avLst/>
          </a:prstGeom>
          <a:noFill/>
          <a:ln/>
        </p:spPr>
        <p:txBody>
          <a:bodyPr wrap="square" lIns="0" tIns="0" rIns="0" bIns="0" rtlCol="0" anchor="ctr"/>
          <a:lstStyle/>
          <a:p>
            <a:pPr indent="0" marL="0">
              <a:buNone/>
            </a:pPr>
            <a:r>
              <a:rPr lang="en-US" sz="1700" b="1" dirty="0">
                <a:solidFill>
                  <a:schemeClr val="tx2"/>
                </a:solidFill>
              </a:rPr>
              <a:t>Deferred</a:t>
            </a:r>
            <a:endParaRPr lang="en-US" sz="1700" dirty="0"/>
          </a:p>
        </p:txBody>
      </p:sp>
      <p:sp>
        <p:nvSpPr>
          <p:cNvPr id="26" name="Text 20"/>
          <p:cNvSpPr txBox="1"/>
          <p:nvPr/>
        </p:nvSpPr>
        <p:spPr>
          <a:xfrm>
            <a:off x="8747608" y="4160520"/>
            <a:ext cx="2438248" cy="640080"/>
          </a:xfrm>
          <a:prstGeom prst="rect">
            <a:avLst/>
          </a:prstGeom>
          <a:noFill/>
          <a:ln/>
        </p:spPr>
        <p:txBody>
          <a:bodyPr wrap="square" lIns="0" tIns="0" rIns="0" bIns="0" rtlCol="0" anchor="ctr"/>
          <a:lstStyle/>
          <a:p>
            <a:pPr indent="0" marL="0">
              <a:buNone/>
            </a:pPr>
            <a:r>
              <a:rPr lang="en-US" sz="1500" dirty="0">
                <a:solidFill>
                  <a:schemeClr val="tx1"/>
                </a:solidFill>
              </a:rPr>
              <a:t>→ Reassess at a later stage</a:t>
            </a:r>
            <a:endParaRPr lang="en-US" sz="1500" dirty="0"/>
          </a:p>
        </p:txBody>
      </p:sp>
      <p:sp>
        <p:nvSpPr>
          <p:cNvPr id="27" name="Text 21"/>
          <p:cNvSpPr txBox="1"/>
          <p:nvPr/>
        </p:nvSpPr>
        <p:spPr>
          <a:xfrm>
            <a:off x="6598768" y="5074920"/>
            <a:ext cx="4724248" cy="8686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Documentation: formal approval and update of project scope</a:t>
            </a:r>
            <a:endParaRPr lang="en-US" sz="17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Steps 5–6 · Plan, build and test</a:t>
            </a:r>
            <a:endParaRPr lang="en-US" sz="3400" dirty="0"/>
          </a:p>
        </p:txBody>
      </p:sp>
      <p:sp>
        <p:nvSpPr>
          <p:cNvPr id="4" name="Step 5"/>
          <p:cNvSpPr/>
          <p:nvPr/>
        </p:nvSpPr>
        <p:spPr>
          <a:xfrm>
            <a:off x="548640" y="1325880"/>
            <a:ext cx="5364328" cy="4800600"/>
          </a:xfrm>
          <a:prstGeom prst="roundRect">
            <a:avLst>
              <a:gd name="adj" fmla="val 1524"/>
            </a:avLst>
          </a:prstGeom>
          <a:solidFill>
            <a:schemeClr val="bg2"/>
          </a:solidFill>
          <a:ln/>
        </p:spPr>
      </p:sp>
      <p:sp>
        <p:nvSpPr>
          <p:cNvPr id="5" name="Shape 2"/>
          <p:cNvSpPr/>
          <p:nvPr/>
        </p:nvSpPr>
        <p:spPr>
          <a:xfrm>
            <a:off x="822960" y="1600200"/>
            <a:ext cx="731520" cy="731520"/>
          </a:xfrm>
          <a:prstGeom prst="ellipse">
            <a:avLst/>
          </a:prstGeom>
          <a:solidFill>
            <a:schemeClr val="tx2"/>
          </a:solidFill>
          <a:ln/>
        </p:spPr>
      </p:sp>
      <p:sp>
        <p:nvSpPr>
          <p:cNvPr id="6" name="Text 3"/>
          <p:cNvSpPr txBox="1"/>
          <p:nvPr/>
        </p:nvSpPr>
        <p:spPr>
          <a:xfrm>
            <a:off x="822960"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5</a:t>
            </a:r>
            <a:endParaRPr lang="en-US" sz="2800" dirty="0"/>
          </a:p>
        </p:txBody>
      </p:sp>
      <p:sp>
        <p:nvSpPr>
          <p:cNvPr id="7" name="Text 4"/>
          <p:cNvSpPr txBox="1"/>
          <p:nvPr/>
        </p:nvSpPr>
        <p:spPr>
          <a:xfrm>
            <a:off x="1737360"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Implementation planning</a:t>
            </a:r>
            <a:endParaRPr lang="en-US" sz="2100" dirty="0"/>
          </a:p>
        </p:txBody>
      </p:sp>
      <p:sp>
        <p:nvSpPr>
          <p:cNvPr id="8" name="Text 5"/>
          <p:cNvSpPr txBox="1"/>
          <p:nvPr/>
        </p:nvSpPr>
        <p:spPr>
          <a:xfrm>
            <a:off x="1737360"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Development Team &amp; Project Manager</a:t>
            </a:r>
            <a:endParaRPr lang="en-US" sz="1400" dirty="0"/>
          </a:p>
        </p:txBody>
      </p:sp>
      <p:sp>
        <p:nvSpPr>
          <p:cNvPr id="9" name="Text 6"/>
          <p:cNvSpPr txBox="1"/>
          <p:nvPr/>
        </p:nvSpPr>
        <p:spPr>
          <a:xfrm>
            <a:off x="868680" y="2606040"/>
            <a:ext cx="4724248" cy="33375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Create or update project plans and the sprint backlog</a:t>
            </a:r>
            <a:endParaRPr lang="en-US" sz="1700" dirty="0"/>
          </a:p>
          <a:p>
            <a:pPr marL="342900" indent="-342900">
              <a:spcAft>
                <a:spcPts val="1200"/>
              </a:spcAft>
              <a:buSzPct val="100000"/>
              <a:buChar char="•"/>
            </a:pPr>
            <a:r>
              <a:rPr lang="en-US" sz="1700" dirty="0">
                <a:solidFill>
                  <a:schemeClr val="tx1"/>
                </a:solidFill>
              </a:rPr>
              <a:t>Allocate resources</a:t>
            </a:r>
            <a:endParaRPr lang="en-US" sz="1700" dirty="0"/>
          </a:p>
          <a:p>
            <a:pPr marL="342900" indent="-342900">
              <a:spcAft>
                <a:spcPts val="1200"/>
              </a:spcAft>
              <a:buSzPct val="100000"/>
              <a:buChar char="•"/>
            </a:pPr>
            <a:r>
              <a:rPr lang="en-US" sz="1700" dirty="0">
                <a:solidFill>
                  <a:schemeClr val="tx1"/>
                </a:solidFill>
              </a:rPr>
              <a:t>Define the testing and deployment strategy</a:t>
            </a:r>
            <a:endParaRPr lang="en-US" sz="1700" dirty="0"/>
          </a:p>
          <a:p>
            <a:pPr marL="342900" indent="-342900">
              <a:spcAft>
                <a:spcPts val="1200"/>
              </a:spcAft>
              <a:buSzPct val="100000"/>
              <a:buChar char="•"/>
            </a:pPr>
            <a:r>
              <a:rPr lang="en-US" sz="1700" dirty="0">
                <a:solidFill>
                  <a:schemeClr val="tx1"/>
                </a:solidFill>
              </a:rPr>
              <a:t>Communicate timelines to stakeholders</a:t>
            </a:r>
            <a:endParaRPr lang="en-US" sz="1700" dirty="0"/>
          </a:p>
        </p:txBody>
      </p:sp>
      <p:sp>
        <p:nvSpPr>
          <p:cNvPr id="10" name="Step 6"/>
          <p:cNvSpPr/>
          <p:nvPr/>
        </p:nvSpPr>
        <p:spPr>
          <a:xfrm>
            <a:off x="6278728" y="1325880"/>
            <a:ext cx="5364328" cy="4800600"/>
          </a:xfrm>
          <a:prstGeom prst="roundRect">
            <a:avLst>
              <a:gd name="adj" fmla="val 1524"/>
            </a:avLst>
          </a:prstGeom>
          <a:solidFill>
            <a:schemeClr val="bg2"/>
          </a:solidFill>
          <a:ln/>
        </p:spPr>
      </p:sp>
      <p:sp>
        <p:nvSpPr>
          <p:cNvPr id="11" name="Shape 8"/>
          <p:cNvSpPr/>
          <p:nvPr/>
        </p:nvSpPr>
        <p:spPr>
          <a:xfrm>
            <a:off x="6553048" y="1600200"/>
            <a:ext cx="731520" cy="731520"/>
          </a:xfrm>
          <a:prstGeom prst="ellipse">
            <a:avLst/>
          </a:prstGeom>
          <a:solidFill>
            <a:schemeClr val="tx2"/>
          </a:solidFill>
          <a:ln/>
        </p:spPr>
      </p:sp>
      <p:sp>
        <p:nvSpPr>
          <p:cNvPr id="12" name="Text 9"/>
          <p:cNvSpPr txBox="1"/>
          <p:nvPr/>
        </p:nvSpPr>
        <p:spPr>
          <a:xfrm>
            <a:off x="6553048"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6</a:t>
            </a:r>
            <a:endParaRPr lang="en-US" sz="2800" dirty="0"/>
          </a:p>
        </p:txBody>
      </p:sp>
      <p:sp>
        <p:nvSpPr>
          <p:cNvPr id="13" name="Text 10"/>
          <p:cNvSpPr txBox="1"/>
          <p:nvPr/>
        </p:nvSpPr>
        <p:spPr>
          <a:xfrm>
            <a:off x="7467448"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Development &amp; testing</a:t>
            </a:r>
            <a:endParaRPr lang="en-US" sz="2100" dirty="0"/>
          </a:p>
        </p:txBody>
      </p:sp>
      <p:sp>
        <p:nvSpPr>
          <p:cNvPr id="14" name="Text 11"/>
          <p:cNvSpPr txBox="1"/>
          <p:nvPr/>
        </p:nvSpPr>
        <p:spPr>
          <a:xfrm>
            <a:off x="7467448"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Development &amp; QA</a:t>
            </a:r>
            <a:endParaRPr lang="en-US" sz="1400" dirty="0"/>
          </a:p>
        </p:txBody>
      </p:sp>
      <p:sp>
        <p:nvSpPr>
          <p:cNvPr id="15" name="Text 12"/>
          <p:cNvSpPr txBox="1"/>
          <p:nvPr/>
        </p:nvSpPr>
        <p:spPr>
          <a:xfrm>
            <a:off x="6598768" y="2606040"/>
            <a:ext cx="4724248" cy="33375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Implement changes following development best practices</a:t>
            </a:r>
            <a:endParaRPr lang="en-US" sz="1700" dirty="0"/>
          </a:p>
          <a:p>
            <a:pPr marL="342900" indent="-342900">
              <a:spcAft>
                <a:spcPts val="1200"/>
              </a:spcAft>
              <a:buSzPct val="100000"/>
              <a:buChar char="•"/>
            </a:pPr>
            <a:r>
              <a:rPr lang="en-US" sz="1700" dirty="0">
                <a:solidFill>
                  <a:schemeClr val="tx1"/>
                </a:solidFill>
              </a:rPr>
              <a:t>Unit testing</a:t>
            </a:r>
            <a:endParaRPr lang="en-US" sz="1700" dirty="0"/>
          </a:p>
          <a:p>
            <a:pPr marL="342900" indent="-342900">
              <a:spcAft>
                <a:spcPts val="1200"/>
              </a:spcAft>
              <a:buSzPct val="100000"/>
              <a:buChar char="•"/>
            </a:pPr>
            <a:r>
              <a:rPr lang="en-US" sz="1700" dirty="0">
                <a:solidFill>
                  <a:schemeClr val="tx1"/>
                </a:solidFill>
              </a:rPr>
              <a:t>Integration testing</a:t>
            </a:r>
            <a:endParaRPr lang="en-US" sz="1700" dirty="0"/>
          </a:p>
          <a:p>
            <a:pPr marL="342900" indent="-342900">
              <a:spcAft>
                <a:spcPts val="1200"/>
              </a:spcAft>
              <a:buSzPct val="100000"/>
              <a:buChar char="•"/>
            </a:pPr>
            <a:r>
              <a:rPr lang="en-US" sz="1700" dirty="0">
                <a:solidFill>
                  <a:schemeClr val="tx1"/>
                </a:solidFill>
              </a:rPr>
              <a:t>Regression testing</a:t>
            </a:r>
            <a:endParaRPr lang="en-US" sz="1700" dirty="0"/>
          </a:p>
          <a:p>
            <a:pPr marL="342900" indent="-342900">
              <a:spcAft>
                <a:spcPts val="1200"/>
              </a:spcAft>
              <a:buSzPct val="100000"/>
              <a:buChar char="•"/>
            </a:pPr>
            <a:r>
              <a:rPr lang="en-US" sz="1700" dirty="0">
                <a:solidFill>
                  <a:schemeClr val="tx1"/>
                </a:solidFill>
              </a:rPr>
              <a:t>User Acceptance Testing (UAT) if required</a:t>
            </a:r>
            <a:endParaRPr lang="en-US" sz="17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Steps 7–8 · Release and close</a:t>
            </a:r>
            <a:endParaRPr lang="en-US" sz="3400" dirty="0"/>
          </a:p>
        </p:txBody>
      </p:sp>
      <p:sp>
        <p:nvSpPr>
          <p:cNvPr id="4" name="Step 7"/>
          <p:cNvSpPr/>
          <p:nvPr/>
        </p:nvSpPr>
        <p:spPr>
          <a:xfrm>
            <a:off x="548640" y="1325880"/>
            <a:ext cx="5364328" cy="4800600"/>
          </a:xfrm>
          <a:prstGeom prst="roundRect">
            <a:avLst>
              <a:gd name="adj" fmla="val 1524"/>
            </a:avLst>
          </a:prstGeom>
          <a:solidFill>
            <a:schemeClr val="bg2"/>
          </a:solidFill>
          <a:ln/>
        </p:spPr>
      </p:sp>
      <p:sp>
        <p:nvSpPr>
          <p:cNvPr id="5" name="Shape 2"/>
          <p:cNvSpPr/>
          <p:nvPr/>
        </p:nvSpPr>
        <p:spPr>
          <a:xfrm>
            <a:off x="822960" y="1600200"/>
            <a:ext cx="731520" cy="731520"/>
          </a:xfrm>
          <a:prstGeom prst="ellipse">
            <a:avLst/>
          </a:prstGeom>
          <a:solidFill>
            <a:schemeClr val="tx2"/>
          </a:solidFill>
          <a:ln/>
        </p:spPr>
      </p:sp>
      <p:sp>
        <p:nvSpPr>
          <p:cNvPr id="6" name="Text 3"/>
          <p:cNvSpPr txBox="1"/>
          <p:nvPr/>
        </p:nvSpPr>
        <p:spPr>
          <a:xfrm>
            <a:off x="822960"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7</a:t>
            </a:r>
            <a:endParaRPr lang="en-US" sz="2800" dirty="0"/>
          </a:p>
        </p:txBody>
      </p:sp>
      <p:sp>
        <p:nvSpPr>
          <p:cNvPr id="7" name="Text 4"/>
          <p:cNvSpPr txBox="1"/>
          <p:nvPr/>
        </p:nvSpPr>
        <p:spPr>
          <a:xfrm>
            <a:off x="1737360"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Deployment &amp; release</a:t>
            </a:r>
            <a:endParaRPr lang="en-US" sz="2100" dirty="0"/>
          </a:p>
        </p:txBody>
      </p:sp>
      <p:sp>
        <p:nvSpPr>
          <p:cNvPr id="8" name="Text 5"/>
          <p:cNvSpPr txBox="1"/>
          <p:nvPr/>
        </p:nvSpPr>
        <p:spPr>
          <a:xfrm>
            <a:off x="1737360"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Deployment team</a:t>
            </a:r>
            <a:endParaRPr lang="en-US" sz="1400" dirty="0"/>
          </a:p>
        </p:txBody>
      </p:sp>
      <p:sp>
        <p:nvSpPr>
          <p:cNvPr id="9" name="Text 6"/>
          <p:cNvSpPr txBox="1"/>
          <p:nvPr/>
        </p:nvSpPr>
        <p:spPr>
          <a:xfrm>
            <a:off x="868680" y="2606040"/>
            <a:ext cx="4724248" cy="33375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Deploy changes to production / staging</a:t>
            </a:r>
            <a:endParaRPr lang="en-US" sz="1700" dirty="0"/>
          </a:p>
          <a:p>
            <a:pPr marL="342900" indent="-342900">
              <a:spcAft>
                <a:spcPts val="1200"/>
              </a:spcAft>
              <a:buSzPct val="100000"/>
              <a:buChar char="•"/>
            </a:pPr>
            <a:r>
              <a:rPr lang="en-US" sz="1700" dirty="0">
                <a:solidFill>
                  <a:schemeClr val="tx1"/>
                </a:solidFill>
              </a:rPr>
              <a:t>Perform post-deployment validation</a:t>
            </a:r>
            <a:endParaRPr lang="en-US" sz="1700" dirty="0"/>
          </a:p>
          <a:p>
            <a:pPr marL="342900" indent="-342900">
              <a:spcAft>
                <a:spcPts val="1200"/>
              </a:spcAft>
              <a:buSzPct val="100000"/>
              <a:buChar char="•"/>
            </a:pPr>
            <a:r>
              <a:rPr lang="en-US" sz="1700" dirty="0">
                <a:solidFill>
                  <a:schemeClr val="tx1"/>
                </a:solidFill>
              </a:rPr>
              <a:t>Communicate updates to stakeholders</a:t>
            </a:r>
            <a:endParaRPr lang="en-US" sz="1700" dirty="0"/>
          </a:p>
        </p:txBody>
      </p:sp>
      <p:sp>
        <p:nvSpPr>
          <p:cNvPr id="10" name="Step 8"/>
          <p:cNvSpPr/>
          <p:nvPr/>
        </p:nvSpPr>
        <p:spPr>
          <a:xfrm>
            <a:off x="6278728" y="1325880"/>
            <a:ext cx="5364328" cy="4800600"/>
          </a:xfrm>
          <a:prstGeom prst="roundRect">
            <a:avLst>
              <a:gd name="adj" fmla="val 1524"/>
            </a:avLst>
          </a:prstGeom>
          <a:solidFill>
            <a:schemeClr val="bg2"/>
          </a:solidFill>
          <a:ln/>
        </p:spPr>
      </p:sp>
      <p:sp>
        <p:nvSpPr>
          <p:cNvPr id="11" name="Shape 8"/>
          <p:cNvSpPr/>
          <p:nvPr/>
        </p:nvSpPr>
        <p:spPr>
          <a:xfrm>
            <a:off x="6553048" y="1600200"/>
            <a:ext cx="731520" cy="731520"/>
          </a:xfrm>
          <a:prstGeom prst="ellipse">
            <a:avLst/>
          </a:prstGeom>
          <a:solidFill>
            <a:schemeClr val="tx2"/>
          </a:solidFill>
          <a:ln/>
        </p:spPr>
      </p:sp>
      <p:sp>
        <p:nvSpPr>
          <p:cNvPr id="12" name="Text 9"/>
          <p:cNvSpPr txBox="1"/>
          <p:nvPr/>
        </p:nvSpPr>
        <p:spPr>
          <a:xfrm>
            <a:off x="6553048" y="160020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rPr>
              <a:t>8</a:t>
            </a:r>
            <a:endParaRPr lang="en-US" sz="2800" dirty="0"/>
          </a:p>
        </p:txBody>
      </p:sp>
      <p:sp>
        <p:nvSpPr>
          <p:cNvPr id="13" name="Text 10"/>
          <p:cNvSpPr txBox="1"/>
          <p:nvPr/>
        </p:nvSpPr>
        <p:spPr>
          <a:xfrm>
            <a:off x="7467448" y="1600200"/>
            <a:ext cx="3992728" cy="457200"/>
          </a:xfrm>
          <a:prstGeom prst="rect">
            <a:avLst/>
          </a:prstGeom>
          <a:noFill/>
          <a:ln/>
        </p:spPr>
        <p:txBody>
          <a:bodyPr wrap="square" lIns="0" tIns="0" rIns="0" bIns="0" rtlCol="0" anchor="t"/>
          <a:lstStyle/>
          <a:p>
            <a:pPr indent="0" marL="0">
              <a:buNone/>
            </a:pPr>
            <a:r>
              <a:rPr lang="en-US" sz="2100" b="1" dirty="0">
                <a:solidFill>
                  <a:schemeClr val="tx2"/>
                </a:solidFill>
              </a:rPr>
              <a:t>Documentation &amp; closure</a:t>
            </a:r>
            <a:endParaRPr lang="en-US" sz="2100" dirty="0"/>
          </a:p>
        </p:txBody>
      </p:sp>
      <p:sp>
        <p:nvSpPr>
          <p:cNvPr id="14" name="Text 11"/>
          <p:cNvSpPr txBox="1"/>
          <p:nvPr/>
        </p:nvSpPr>
        <p:spPr>
          <a:xfrm>
            <a:off x="7467448" y="2039112"/>
            <a:ext cx="3992728" cy="320040"/>
          </a:xfrm>
          <a:prstGeom prst="rect">
            <a:avLst/>
          </a:prstGeom>
          <a:noFill/>
          <a:ln/>
        </p:spPr>
        <p:txBody>
          <a:bodyPr wrap="square" lIns="0" tIns="0" rIns="0" bIns="0" rtlCol="0" anchor="t"/>
          <a:lstStyle/>
          <a:p>
            <a:pPr indent="0" marL="0">
              <a:buNone/>
            </a:pPr>
            <a:r>
              <a:rPr lang="en-US" sz="1400" b="1" dirty="0">
                <a:solidFill>
                  <a:schemeClr val="accent1"/>
                </a:solidFill>
              </a:rPr>
              <a:t>Who: Project team</a:t>
            </a:r>
            <a:endParaRPr lang="en-US" sz="1400" dirty="0"/>
          </a:p>
        </p:txBody>
      </p:sp>
      <p:sp>
        <p:nvSpPr>
          <p:cNvPr id="15" name="Text 12"/>
          <p:cNvSpPr txBox="1"/>
          <p:nvPr/>
        </p:nvSpPr>
        <p:spPr>
          <a:xfrm>
            <a:off x="6598768" y="2606040"/>
            <a:ext cx="4724248" cy="33375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Update system documentation</a:t>
            </a:r>
            <a:endParaRPr lang="en-US" sz="1700" dirty="0"/>
          </a:p>
          <a:p>
            <a:pPr marL="342900" indent="-342900">
              <a:spcAft>
                <a:spcPts val="1200"/>
              </a:spcAft>
              <a:buSzPct val="100000"/>
              <a:buChar char="•"/>
            </a:pPr>
            <a:r>
              <a:rPr lang="en-US" sz="1700" dirty="0">
                <a:solidFill>
                  <a:schemeClr val="tx1"/>
                </a:solidFill>
              </a:rPr>
              <a:t>Capture lessons learned for future improvements</a:t>
            </a:r>
            <a:endParaRPr lang="en-US" sz="1700" dirty="0"/>
          </a:p>
          <a:p>
            <a:pPr marL="342900" indent="-342900">
              <a:spcAft>
                <a:spcPts val="1200"/>
              </a:spcAft>
              <a:buSzPct val="100000"/>
              <a:buChar char="•"/>
            </a:pPr>
            <a:r>
              <a:rPr lang="en-US" sz="1700" dirty="0">
                <a:solidFill>
                  <a:schemeClr val="tx1"/>
                </a:solidFill>
              </a:rPr>
              <a:t>Archive the CR for audit and compliance</a:t>
            </a:r>
            <a:endParaRPr lang="en-US" sz="17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Emergency and unscheduled changes</a:t>
            </a:r>
            <a:endParaRPr lang="en-US" sz="3400" dirty="0"/>
          </a:p>
        </p:txBody>
      </p:sp>
      <p:sp>
        <p:nvSpPr>
          <p:cNvPr id="4" name="Critical event"/>
          <p:cNvSpPr/>
          <p:nvPr/>
        </p:nvSpPr>
        <p:spPr>
          <a:xfrm>
            <a:off x="548640" y="1417320"/>
            <a:ext cx="2464994" cy="2743200"/>
          </a:xfrm>
          <a:prstGeom prst="roundRect">
            <a:avLst>
              <a:gd name="adj" fmla="val 2968"/>
            </a:avLst>
          </a:prstGeom>
          <a:solidFill>
            <a:schemeClr val="bg2"/>
          </a:solidFill>
          <a:ln/>
        </p:spPr>
      </p:sp>
      <p:sp>
        <p:nvSpPr>
          <p:cNvPr id="5" name="Shape 2"/>
          <p:cNvSpPr/>
          <p:nvPr/>
        </p:nvSpPr>
        <p:spPr>
          <a:xfrm>
            <a:off x="822960" y="1691640"/>
            <a:ext cx="731520" cy="731520"/>
          </a:xfrm>
          <a:prstGeom prst="ellipse">
            <a:avLst/>
          </a:prstGeom>
          <a:solidFill>
            <a:schemeClr val="accent5"/>
          </a:solidFill>
          <a:ln/>
        </p:spPr>
      </p:sp>
      <p:pic>
        <p:nvPicPr>
          <p:cNvPr id="6" name="Image 0" descr="Bolt icon">    </p:cNvPr>
          <p:cNvPicPr>
            <a:picLocks noChangeAspect="1"/>
          </p:cNvPicPr>
          <p:nvPr/>
        </p:nvPicPr>
        <p:blipFill>
          <a:blip r:embed="rId1"/>
          <a:stretch>
            <a:fillRect/>
          </a:stretch>
        </p:blipFill>
        <p:spPr>
          <a:xfrm>
            <a:off x="998525" y="1867205"/>
            <a:ext cx="380390" cy="380390"/>
          </a:xfrm>
          <a:prstGeom prst="rect">
            <a:avLst/>
          </a:prstGeom>
        </p:spPr>
      </p:pic>
      <p:sp>
        <p:nvSpPr>
          <p:cNvPr id="7" name="Text 3"/>
          <p:cNvSpPr txBox="1"/>
          <p:nvPr/>
        </p:nvSpPr>
        <p:spPr>
          <a:xfrm>
            <a:off x="822960" y="2514600"/>
            <a:ext cx="1916354" cy="640080"/>
          </a:xfrm>
          <a:prstGeom prst="rect">
            <a:avLst/>
          </a:prstGeom>
          <a:noFill/>
          <a:ln/>
        </p:spPr>
        <p:txBody>
          <a:bodyPr wrap="square" lIns="0" tIns="0" rIns="0" bIns="0" rtlCol="0" anchor="t"/>
          <a:lstStyle/>
          <a:p>
            <a:pPr indent="0" marL="0">
              <a:buNone/>
            </a:pPr>
            <a:r>
              <a:rPr lang="en-US" sz="1800" b="1" dirty="0">
                <a:solidFill>
                  <a:schemeClr val="tx2"/>
                </a:solidFill>
              </a:rPr>
              <a:t>Critical event</a:t>
            </a:r>
            <a:endParaRPr lang="en-US" sz="1800" dirty="0"/>
          </a:p>
        </p:txBody>
      </p:sp>
      <p:sp>
        <p:nvSpPr>
          <p:cNvPr id="8" name="Text 4"/>
          <p:cNvSpPr txBox="1"/>
          <p:nvPr/>
        </p:nvSpPr>
        <p:spPr>
          <a:xfrm>
            <a:off x="822960" y="3200400"/>
            <a:ext cx="1916354" cy="868680"/>
          </a:xfrm>
          <a:prstGeom prst="rect">
            <a:avLst/>
          </a:prstGeom>
          <a:noFill/>
          <a:ln/>
        </p:spPr>
        <p:txBody>
          <a:bodyPr wrap="square" lIns="0" tIns="0" rIns="0" bIns="0" rtlCol="0" anchor="t"/>
          <a:lstStyle/>
          <a:p>
            <a:pPr indent="0" marL="0">
              <a:buNone/>
            </a:pPr>
            <a:r>
              <a:rPr lang="en-US" sz="1400" dirty="0">
                <a:solidFill>
                  <a:schemeClr val="tx1"/>
                </a:solidFill>
              </a:rPr>
              <a:t>Outage, server crash or client complaint that must be rushed through</a:t>
            </a:r>
            <a:endParaRPr lang="en-US" sz="1400" dirty="0"/>
          </a:p>
        </p:txBody>
      </p:sp>
      <p:sp>
        <p:nvSpPr>
          <p:cNvPr id="9" name="Arrow 1"/>
          <p:cNvSpPr/>
          <p:nvPr/>
        </p:nvSpPr>
        <p:spPr>
          <a:xfrm>
            <a:off x="3077642" y="2624328"/>
            <a:ext cx="283464" cy="329184"/>
          </a:xfrm>
          <a:prstGeom prst="rightArrow">
            <a:avLst/>
          </a:prstGeom>
          <a:solidFill>
            <a:schemeClr val="accent3"/>
          </a:solidFill>
          <a:ln/>
        </p:spPr>
      </p:sp>
      <p:sp>
        <p:nvSpPr>
          <p:cNvPr id="10" name="Consider consequences"/>
          <p:cNvSpPr/>
          <p:nvPr/>
        </p:nvSpPr>
        <p:spPr>
          <a:xfrm>
            <a:off x="3425114" y="1417320"/>
            <a:ext cx="2464994" cy="2743200"/>
          </a:xfrm>
          <a:prstGeom prst="roundRect">
            <a:avLst>
              <a:gd name="adj" fmla="val 2968"/>
            </a:avLst>
          </a:prstGeom>
          <a:solidFill>
            <a:schemeClr val="bg2"/>
          </a:solidFill>
          <a:ln/>
        </p:spPr>
      </p:sp>
      <p:sp>
        <p:nvSpPr>
          <p:cNvPr id="11" name="Shape 7"/>
          <p:cNvSpPr/>
          <p:nvPr/>
        </p:nvSpPr>
        <p:spPr>
          <a:xfrm>
            <a:off x="3699434" y="1691640"/>
            <a:ext cx="731520" cy="731520"/>
          </a:xfrm>
          <a:prstGeom prst="ellipse">
            <a:avLst/>
          </a:prstGeom>
          <a:solidFill>
            <a:schemeClr val="accent1"/>
          </a:solidFill>
          <a:ln/>
        </p:spPr>
      </p:sp>
      <p:pic>
        <p:nvPicPr>
          <p:cNvPr id="12" name="Image 1" descr="Search icon">    </p:cNvPr>
          <p:cNvPicPr>
            <a:picLocks noChangeAspect="1"/>
          </p:cNvPicPr>
          <p:nvPr/>
        </p:nvPicPr>
        <p:blipFill>
          <a:blip r:embed="rId2"/>
          <a:stretch>
            <a:fillRect/>
          </a:stretch>
        </p:blipFill>
        <p:spPr>
          <a:xfrm>
            <a:off x="3874999" y="1867205"/>
            <a:ext cx="380390" cy="380390"/>
          </a:xfrm>
          <a:prstGeom prst="rect">
            <a:avLst/>
          </a:prstGeom>
        </p:spPr>
      </p:pic>
      <p:sp>
        <p:nvSpPr>
          <p:cNvPr id="13" name="Text 8"/>
          <p:cNvSpPr txBox="1"/>
          <p:nvPr/>
        </p:nvSpPr>
        <p:spPr>
          <a:xfrm>
            <a:off x="3699434" y="2514600"/>
            <a:ext cx="1916354" cy="640080"/>
          </a:xfrm>
          <a:prstGeom prst="rect">
            <a:avLst/>
          </a:prstGeom>
          <a:noFill/>
          <a:ln/>
        </p:spPr>
        <p:txBody>
          <a:bodyPr wrap="square" lIns="0" tIns="0" rIns="0" bIns="0" rtlCol="0" anchor="t"/>
          <a:lstStyle/>
          <a:p>
            <a:pPr indent="0" marL="0">
              <a:buNone/>
            </a:pPr>
            <a:r>
              <a:rPr lang="en-US" sz="1800" b="1" dirty="0">
                <a:solidFill>
                  <a:schemeClr val="tx2"/>
                </a:solidFill>
              </a:rPr>
              <a:t>Consider consequences</a:t>
            </a:r>
            <a:endParaRPr lang="en-US" sz="1800" dirty="0"/>
          </a:p>
        </p:txBody>
      </p:sp>
      <p:sp>
        <p:nvSpPr>
          <p:cNvPr id="14" name="Text 9"/>
          <p:cNvSpPr txBox="1"/>
          <p:nvPr/>
        </p:nvSpPr>
        <p:spPr>
          <a:xfrm>
            <a:off x="3699434" y="3200400"/>
            <a:ext cx="1916354" cy="868680"/>
          </a:xfrm>
          <a:prstGeom prst="rect">
            <a:avLst/>
          </a:prstGeom>
          <a:noFill/>
          <a:ln/>
        </p:spPr>
        <p:txBody>
          <a:bodyPr wrap="square" lIns="0" tIns="0" rIns="0" bIns="0" rtlCol="0" anchor="t"/>
          <a:lstStyle/>
          <a:p>
            <a:pPr indent="0" marL="0">
              <a:buNone/>
            </a:pPr>
            <a:r>
              <a:rPr lang="en-US" sz="1400" dirty="0">
                <a:solidFill>
                  <a:schemeClr val="tx1"/>
                </a:solidFill>
              </a:rPr>
              <a:t>Each situation is different: assess the possible consequences first</a:t>
            </a:r>
            <a:endParaRPr lang="en-US" sz="1400" dirty="0"/>
          </a:p>
        </p:txBody>
      </p:sp>
      <p:sp>
        <p:nvSpPr>
          <p:cNvPr id="15" name="Arrow 2"/>
          <p:cNvSpPr/>
          <p:nvPr/>
        </p:nvSpPr>
        <p:spPr>
          <a:xfrm>
            <a:off x="5954116" y="2624328"/>
            <a:ext cx="283464" cy="329184"/>
          </a:xfrm>
          <a:prstGeom prst="rightArrow">
            <a:avLst/>
          </a:prstGeom>
          <a:solidFill>
            <a:schemeClr val="accent3"/>
          </a:solidFill>
          <a:ln/>
        </p:spPr>
      </p:sp>
      <p:sp>
        <p:nvSpPr>
          <p:cNvPr id="16" name="Get sufficient approval"/>
          <p:cNvSpPr/>
          <p:nvPr/>
        </p:nvSpPr>
        <p:spPr>
          <a:xfrm>
            <a:off x="6301588" y="1417320"/>
            <a:ext cx="2464994" cy="2743200"/>
          </a:xfrm>
          <a:prstGeom prst="roundRect">
            <a:avLst>
              <a:gd name="adj" fmla="val 2968"/>
            </a:avLst>
          </a:prstGeom>
          <a:solidFill>
            <a:schemeClr val="bg2"/>
          </a:solidFill>
          <a:ln/>
        </p:spPr>
      </p:sp>
      <p:sp>
        <p:nvSpPr>
          <p:cNvPr id="17" name="Shape 12"/>
          <p:cNvSpPr/>
          <p:nvPr/>
        </p:nvSpPr>
        <p:spPr>
          <a:xfrm>
            <a:off x="6575908" y="1691640"/>
            <a:ext cx="731520" cy="731520"/>
          </a:xfrm>
          <a:prstGeom prst="ellipse">
            <a:avLst/>
          </a:prstGeom>
          <a:solidFill>
            <a:schemeClr val="accent1"/>
          </a:solidFill>
          <a:ln/>
        </p:spPr>
      </p:sp>
      <p:pic>
        <p:nvPicPr>
          <p:cNvPr id="18" name="Image 2" descr="UserTie icon">    </p:cNvPr>
          <p:cNvPicPr>
            <a:picLocks noChangeAspect="1"/>
          </p:cNvPicPr>
          <p:nvPr/>
        </p:nvPicPr>
        <p:blipFill>
          <a:blip r:embed="rId3"/>
          <a:stretch>
            <a:fillRect/>
          </a:stretch>
        </p:blipFill>
        <p:spPr>
          <a:xfrm>
            <a:off x="6751472" y="1867205"/>
            <a:ext cx="380390" cy="380390"/>
          </a:xfrm>
          <a:prstGeom prst="rect">
            <a:avLst/>
          </a:prstGeom>
        </p:spPr>
      </p:pic>
      <p:sp>
        <p:nvSpPr>
          <p:cNvPr id="19" name="Text 13"/>
          <p:cNvSpPr txBox="1"/>
          <p:nvPr/>
        </p:nvSpPr>
        <p:spPr>
          <a:xfrm>
            <a:off x="6575908" y="2514600"/>
            <a:ext cx="1916354" cy="640080"/>
          </a:xfrm>
          <a:prstGeom prst="rect">
            <a:avLst/>
          </a:prstGeom>
          <a:noFill/>
          <a:ln/>
        </p:spPr>
        <p:txBody>
          <a:bodyPr wrap="square" lIns="0" tIns="0" rIns="0" bIns="0" rtlCol="0" anchor="t"/>
          <a:lstStyle/>
          <a:p>
            <a:pPr indent="0" marL="0">
              <a:buNone/>
            </a:pPr>
            <a:r>
              <a:rPr lang="en-US" sz="1800" b="1" dirty="0">
                <a:solidFill>
                  <a:schemeClr val="tx2"/>
                </a:solidFill>
              </a:rPr>
              <a:t>Get sufficient approval</a:t>
            </a:r>
            <a:endParaRPr lang="en-US" sz="1800" dirty="0"/>
          </a:p>
        </p:txBody>
      </p:sp>
      <p:sp>
        <p:nvSpPr>
          <p:cNvPr id="20" name="Text 14"/>
          <p:cNvSpPr txBox="1"/>
          <p:nvPr/>
        </p:nvSpPr>
        <p:spPr>
          <a:xfrm>
            <a:off x="6575908" y="3200400"/>
            <a:ext cx="1916354" cy="868680"/>
          </a:xfrm>
          <a:prstGeom prst="rect">
            <a:avLst/>
          </a:prstGeom>
          <a:noFill/>
          <a:ln/>
        </p:spPr>
        <p:txBody>
          <a:bodyPr wrap="square" lIns="0" tIns="0" rIns="0" bIns="0" rtlCol="0" anchor="t"/>
          <a:lstStyle/>
          <a:p>
            <a:pPr indent="0" marL="0">
              <a:buNone/>
            </a:pPr>
            <a:r>
              <a:rPr lang="en-US" sz="1400" dirty="0">
                <a:solidFill>
                  <a:schemeClr val="tx1"/>
                </a:solidFill>
              </a:rPr>
              <a:t>Discuss with the relevant service manager or section head</a:t>
            </a:r>
            <a:endParaRPr lang="en-US" sz="1400" dirty="0"/>
          </a:p>
        </p:txBody>
      </p:sp>
      <p:sp>
        <p:nvSpPr>
          <p:cNvPr id="21" name="Arrow 3"/>
          <p:cNvSpPr/>
          <p:nvPr/>
        </p:nvSpPr>
        <p:spPr>
          <a:xfrm>
            <a:off x="8830589" y="2624328"/>
            <a:ext cx="283464" cy="329184"/>
          </a:xfrm>
          <a:prstGeom prst="rightArrow">
            <a:avLst/>
          </a:prstGeom>
          <a:solidFill>
            <a:schemeClr val="accent3"/>
          </a:solidFill>
          <a:ln/>
        </p:spPr>
      </p:sp>
      <p:sp>
        <p:nvSpPr>
          <p:cNvPr id="22" name="Log the approval"/>
          <p:cNvSpPr/>
          <p:nvPr/>
        </p:nvSpPr>
        <p:spPr>
          <a:xfrm>
            <a:off x="9178061" y="1417320"/>
            <a:ext cx="2464994" cy="2743200"/>
          </a:xfrm>
          <a:prstGeom prst="roundRect">
            <a:avLst>
              <a:gd name="adj" fmla="val 2968"/>
            </a:avLst>
          </a:prstGeom>
          <a:solidFill>
            <a:schemeClr val="bg2"/>
          </a:solidFill>
          <a:ln/>
        </p:spPr>
      </p:sp>
      <p:sp>
        <p:nvSpPr>
          <p:cNvPr id="23" name="Shape 17"/>
          <p:cNvSpPr/>
          <p:nvPr/>
        </p:nvSpPr>
        <p:spPr>
          <a:xfrm>
            <a:off x="9452381" y="1691640"/>
            <a:ext cx="731520" cy="731520"/>
          </a:xfrm>
          <a:prstGeom prst="ellipse">
            <a:avLst/>
          </a:prstGeom>
          <a:solidFill>
            <a:schemeClr val="accent1"/>
          </a:solidFill>
          <a:ln/>
        </p:spPr>
      </p:sp>
      <p:pic>
        <p:nvPicPr>
          <p:cNvPr id="24" name="Image 3" descr="History icon">    </p:cNvPr>
          <p:cNvPicPr>
            <a:picLocks noChangeAspect="1"/>
          </p:cNvPicPr>
          <p:nvPr/>
        </p:nvPicPr>
        <p:blipFill>
          <a:blip r:embed="rId4"/>
          <a:stretch>
            <a:fillRect/>
          </a:stretch>
        </p:blipFill>
        <p:spPr>
          <a:xfrm>
            <a:off x="9627946" y="1867205"/>
            <a:ext cx="380390" cy="380390"/>
          </a:xfrm>
          <a:prstGeom prst="rect">
            <a:avLst/>
          </a:prstGeom>
        </p:spPr>
      </p:pic>
      <p:sp>
        <p:nvSpPr>
          <p:cNvPr id="25" name="Text 18"/>
          <p:cNvSpPr txBox="1"/>
          <p:nvPr/>
        </p:nvSpPr>
        <p:spPr>
          <a:xfrm>
            <a:off x="9452381" y="2514600"/>
            <a:ext cx="1916354" cy="640080"/>
          </a:xfrm>
          <a:prstGeom prst="rect">
            <a:avLst/>
          </a:prstGeom>
          <a:noFill/>
          <a:ln/>
        </p:spPr>
        <p:txBody>
          <a:bodyPr wrap="square" lIns="0" tIns="0" rIns="0" bIns="0" rtlCol="0" anchor="t"/>
          <a:lstStyle/>
          <a:p>
            <a:pPr indent="0" marL="0">
              <a:buNone/>
            </a:pPr>
            <a:r>
              <a:rPr lang="en-US" sz="1800" b="1" dirty="0">
                <a:solidFill>
                  <a:schemeClr val="tx2"/>
                </a:solidFill>
              </a:rPr>
              <a:t>Log the approval</a:t>
            </a:r>
            <a:endParaRPr lang="en-US" sz="1800" dirty="0"/>
          </a:p>
        </p:txBody>
      </p:sp>
      <p:sp>
        <p:nvSpPr>
          <p:cNvPr id="26" name="Text 19"/>
          <p:cNvSpPr txBox="1"/>
          <p:nvPr/>
        </p:nvSpPr>
        <p:spPr>
          <a:xfrm>
            <a:off x="9452381" y="3200400"/>
            <a:ext cx="1916354" cy="868680"/>
          </a:xfrm>
          <a:prstGeom prst="rect">
            <a:avLst/>
          </a:prstGeom>
          <a:noFill/>
          <a:ln/>
        </p:spPr>
        <p:txBody>
          <a:bodyPr wrap="square" lIns="0" tIns="0" rIns="0" bIns="0" rtlCol="0" anchor="t"/>
          <a:lstStyle/>
          <a:p>
            <a:pPr indent="0" marL="0">
              <a:buNone/>
            </a:pPr>
            <a:r>
              <a:rPr lang="en-US" sz="1400" dirty="0">
                <a:solidFill>
                  <a:schemeClr val="tx1"/>
                </a:solidFill>
              </a:rPr>
              <a:t>Record who it was discussed with and how it was approved</a:t>
            </a:r>
            <a:endParaRPr lang="en-US" sz="1400" dirty="0"/>
          </a:p>
        </p:txBody>
      </p:sp>
      <p:sp>
        <p:nvSpPr>
          <p:cNvPr id="27" name="Catastrophic callout"/>
          <p:cNvSpPr/>
          <p:nvPr/>
        </p:nvSpPr>
        <p:spPr>
          <a:xfrm>
            <a:off x="548640" y="4434840"/>
            <a:ext cx="11094415" cy="1645920"/>
          </a:xfrm>
          <a:prstGeom prst="roundRect">
            <a:avLst>
              <a:gd name="adj" fmla="val 4444"/>
            </a:avLst>
          </a:prstGeom>
          <a:solidFill>
            <a:schemeClr val="tx2"/>
          </a:solidFill>
          <a:ln/>
        </p:spPr>
      </p:sp>
      <p:sp>
        <p:nvSpPr>
          <p:cNvPr id="28" name="Shape 21"/>
          <p:cNvSpPr/>
          <p:nvPr/>
        </p:nvSpPr>
        <p:spPr>
          <a:xfrm>
            <a:off x="868680" y="4846320"/>
            <a:ext cx="822960" cy="822960"/>
          </a:xfrm>
          <a:prstGeom prst="ellipse">
            <a:avLst/>
          </a:prstGeom>
          <a:solidFill>
            <a:schemeClr val="accent6"/>
          </a:solidFill>
          <a:ln/>
        </p:spPr>
      </p:sp>
      <p:pic>
        <p:nvPicPr>
          <p:cNvPr id="29" name="Image 4" descr="Fire icon">    </p:cNvPr>
          <p:cNvPicPr>
            <a:picLocks noChangeAspect="1"/>
          </p:cNvPicPr>
          <p:nvPr/>
        </p:nvPicPr>
        <p:blipFill>
          <a:blip r:embed="rId5"/>
          <a:stretch>
            <a:fillRect/>
          </a:stretch>
        </p:blipFill>
        <p:spPr>
          <a:xfrm>
            <a:off x="1066190" y="5043830"/>
            <a:ext cx="427939" cy="427939"/>
          </a:xfrm>
          <a:prstGeom prst="rect">
            <a:avLst/>
          </a:prstGeom>
        </p:spPr>
      </p:pic>
      <p:sp>
        <p:nvSpPr>
          <p:cNvPr id="30" name="Text 22"/>
          <p:cNvSpPr txBox="1"/>
          <p:nvPr/>
        </p:nvSpPr>
        <p:spPr>
          <a:xfrm>
            <a:off x="1965960" y="4617720"/>
            <a:ext cx="9144000" cy="457200"/>
          </a:xfrm>
          <a:prstGeom prst="rect">
            <a:avLst/>
          </a:prstGeom>
          <a:noFill/>
          <a:ln/>
        </p:spPr>
        <p:txBody>
          <a:bodyPr wrap="square" lIns="0" tIns="0" rIns="0" bIns="0" rtlCol="0" anchor="t"/>
          <a:lstStyle/>
          <a:p>
            <a:pPr indent="0" marL="0">
              <a:buNone/>
            </a:pPr>
            <a:r>
              <a:rPr lang="en-US" sz="2100" b="1" dirty="0">
                <a:solidFill>
                  <a:schemeClr val="accent3"/>
                </a:solidFill>
              </a:rPr>
              <a:t>Catastrophic change → Emergency CAB</a:t>
            </a:r>
            <a:endParaRPr lang="en-US" sz="2100" dirty="0"/>
          </a:p>
        </p:txBody>
      </p:sp>
      <p:sp>
        <p:nvSpPr>
          <p:cNvPr id="31" name="Text 23"/>
          <p:cNvSpPr txBox="1"/>
          <p:nvPr/>
        </p:nvSpPr>
        <p:spPr>
          <a:xfrm>
            <a:off x="1965960" y="5120640"/>
            <a:ext cx="9357055" cy="868680"/>
          </a:xfrm>
          <a:prstGeom prst="rect">
            <a:avLst/>
          </a:prstGeom>
          <a:noFill/>
          <a:ln/>
        </p:spPr>
        <p:txBody>
          <a:bodyPr wrap="square" lIns="0" tIns="0" rIns="0" bIns="0" rtlCol="0" anchor="t"/>
          <a:lstStyle/>
          <a:p>
            <a:pPr indent="0" marL="0">
              <a:buNone/>
            </a:pPr>
            <a:r>
              <a:rPr lang="en-US" sz="1500" dirty="0">
                <a:solidFill>
                  <a:schemeClr val="bg1"/>
                </a:solidFill>
              </a:rPr>
              <a:t>A sudden, very harmful or disastrous event needs an immediate Emergency CAB decision, for example the decision to switch to the DR site. Urgency changes the speed of approval, never the need for it.</a:t>
            </a:r>
            <a:endParaRPr lang="en-US" sz="15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Raising an IT change request</a:t>
            </a:r>
            <a:endParaRPr lang="en-US" sz="3400" dirty="0"/>
          </a:p>
        </p:txBody>
      </p:sp>
      <p:sp>
        <p:nvSpPr>
          <p:cNvPr id="4" name="Fill in the IT CR template"/>
          <p:cNvSpPr/>
          <p:nvPr/>
        </p:nvSpPr>
        <p:spPr>
          <a:xfrm>
            <a:off x="548640" y="1417320"/>
            <a:ext cx="1962851" cy="2514600"/>
          </a:xfrm>
          <a:prstGeom prst="roundRect">
            <a:avLst>
              <a:gd name="adj" fmla="val 3727"/>
            </a:avLst>
          </a:prstGeom>
          <a:solidFill>
            <a:schemeClr val="bg2"/>
          </a:solidFill>
          <a:ln/>
        </p:spPr>
      </p:sp>
      <p:sp>
        <p:nvSpPr>
          <p:cNvPr id="5" name="Shape 2"/>
          <p:cNvSpPr/>
          <p:nvPr/>
        </p:nvSpPr>
        <p:spPr>
          <a:xfrm>
            <a:off x="1164306" y="1645920"/>
            <a:ext cx="731520" cy="731520"/>
          </a:xfrm>
          <a:prstGeom prst="ellipse">
            <a:avLst/>
          </a:prstGeom>
          <a:solidFill>
            <a:schemeClr val="accent1"/>
          </a:solidFill>
          <a:ln/>
        </p:spPr>
      </p:sp>
      <p:pic>
        <p:nvPicPr>
          <p:cNvPr id="6" name="Image 0" descr="Wpforms icon">    </p:cNvPr>
          <p:cNvPicPr>
            <a:picLocks noChangeAspect="1"/>
          </p:cNvPicPr>
          <p:nvPr/>
        </p:nvPicPr>
        <p:blipFill>
          <a:blip r:embed="rId1"/>
          <a:stretch>
            <a:fillRect/>
          </a:stretch>
        </p:blipFill>
        <p:spPr>
          <a:xfrm>
            <a:off x="1339870" y="1821485"/>
            <a:ext cx="380390" cy="380390"/>
          </a:xfrm>
          <a:prstGeom prst="rect">
            <a:avLst/>
          </a:prstGeom>
        </p:spPr>
      </p:pic>
      <p:sp>
        <p:nvSpPr>
          <p:cNvPr id="7" name="Text 3"/>
          <p:cNvSpPr txBox="1"/>
          <p:nvPr/>
        </p:nvSpPr>
        <p:spPr>
          <a:xfrm>
            <a:off x="685800" y="2468880"/>
            <a:ext cx="1688531" cy="640080"/>
          </a:xfrm>
          <a:prstGeom prst="rect">
            <a:avLst/>
          </a:prstGeom>
          <a:noFill/>
          <a:ln/>
        </p:spPr>
        <p:txBody>
          <a:bodyPr wrap="square" lIns="0" tIns="0" rIns="0" bIns="0" rtlCol="0" anchor="t"/>
          <a:lstStyle/>
          <a:p>
            <a:pPr algn="ctr" indent="0" marL="0">
              <a:buNone/>
            </a:pPr>
            <a:r>
              <a:rPr lang="en-US" sz="1600" b="1" dirty="0">
                <a:solidFill>
                  <a:schemeClr val="tx2"/>
                </a:solidFill>
              </a:rPr>
              <a:t>Fill in the IT CR template</a:t>
            </a:r>
            <a:endParaRPr lang="en-US" sz="1600" dirty="0"/>
          </a:p>
        </p:txBody>
      </p:sp>
      <p:sp>
        <p:nvSpPr>
          <p:cNvPr id="8" name="Text 4"/>
          <p:cNvSpPr txBox="1"/>
          <p:nvPr/>
        </p:nvSpPr>
        <p:spPr>
          <a:xfrm>
            <a:off x="685800" y="3108960"/>
            <a:ext cx="1688531" cy="731520"/>
          </a:xfrm>
          <a:prstGeom prst="rect">
            <a:avLst/>
          </a:prstGeom>
          <a:noFill/>
          <a:ln/>
        </p:spPr>
        <p:txBody>
          <a:bodyPr wrap="square" lIns="0" tIns="0" rIns="0" bIns="0" rtlCol="0" anchor="t"/>
          <a:lstStyle/>
          <a:p>
            <a:pPr algn="ctr" indent="0" marL="0">
              <a:buNone/>
            </a:pPr>
            <a:r>
              <a:rPr lang="en-US" sz="1300" dirty="0">
                <a:solidFill>
                  <a:schemeClr val="tx1"/>
                </a:solidFill>
              </a:rPr>
              <a:t>Requester completes the IT Technical Change Request</a:t>
            </a:r>
            <a:endParaRPr lang="en-US" sz="1300" dirty="0"/>
          </a:p>
        </p:txBody>
      </p:sp>
      <p:sp>
        <p:nvSpPr>
          <p:cNvPr id="9" name="Arrow 1"/>
          <p:cNvSpPr/>
          <p:nvPr/>
        </p:nvSpPr>
        <p:spPr>
          <a:xfrm>
            <a:off x="2548067" y="2537460"/>
            <a:ext cx="246888" cy="274320"/>
          </a:xfrm>
          <a:prstGeom prst="rightArrow">
            <a:avLst/>
          </a:prstGeom>
          <a:solidFill>
            <a:schemeClr val="accent3"/>
          </a:solidFill>
          <a:ln/>
        </p:spPr>
      </p:sp>
      <p:sp>
        <p:nvSpPr>
          <p:cNvPr id="10" name="Email to get a CR number"/>
          <p:cNvSpPr/>
          <p:nvPr/>
        </p:nvSpPr>
        <p:spPr>
          <a:xfrm>
            <a:off x="2831531" y="1417320"/>
            <a:ext cx="1962851" cy="2514600"/>
          </a:xfrm>
          <a:prstGeom prst="roundRect">
            <a:avLst>
              <a:gd name="adj" fmla="val 3727"/>
            </a:avLst>
          </a:prstGeom>
          <a:solidFill>
            <a:schemeClr val="bg2"/>
          </a:solidFill>
          <a:ln/>
        </p:spPr>
      </p:sp>
      <p:sp>
        <p:nvSpPr>
          <p:cNvPr id="11" name="Shape 7"/>
          <p:cNvSpPr/>
          <p:nvPr/>
        </p:nvSpPr>
        <p:spPr>
          <a:xfrm>
            <a:off x="3447197" y="1645920"/>
            <a:ext cx="731520" cy="731520"/>
          </a:xfrm>
          <a:prstGeom prst="ellipse">
            <a:avLst/>
          </a:prstGeom>
          <a:solidFill>
            <a:schemeClr val="accent1"/>
          </a:solidFill>
          <a:ln/>
        </p:spPr>
      </p:sp>
      <p:pic>
        <p:nvPicPr>
          <p:cNvPr id="12" name="Image 1" descr="Comments icon">    </p:cNvPr>
          <p:cNvPicPr>
            <a:picLocks noChangeAspect="1"/>
          </p:cNvPicPr>
          <p:nvPr/>
        </p:nvPicPr>
        <p:blipFill>
          <a:blip r:embed="rId2"/>
          <a:stretch>
            <a:fillRect/>
          </a:stretch>
        </p:blipFill>
        <p:spPr>
          <a:xfrm>
            <a:off x="3622761" y="1821485"/>
            <a:ext cx="380390" cy="380390"/>
          </a:xfrm>
          <a:prstGeom prst="rect">
            <a:avLst/>
          </a:prstGeom>
        </p:spPr>
      </p:pic>
      <p:sp>
        <p:nvSpPr>
          <p:cNvPr id="13" name="Text 8"/>
          <p:cNvSpPr txBox="1"/>
          <p:nvPr/>
        </p:nvSpPr>
        <p:spPr>
          <a:xfrm>
            <a:off x="2968691" y="2468880"/>
            <a:ext cx="1688531" cy="640080"/>
          </a:xfrm>
          <a:prstGeom prst="rect">
            <a:avLst/>
          </a:prstGeom>
          <a:noFill/>
          <a:ln/>
        </p:spPr>
        <p:txBody>
          <a:bodyPr wrap="square" lIns="0" tIns="0" rIns="0" bIns="0" rtlCol="0" anchor="t"/>
          <a:lstStyle/>
          <a:p>
            <a:pPr algn="ctr" indent="0" marL="0">
              <a:buNone/>
            </a:pPr>
            <a:r>
              <a:rPr lang="en-US" sz="1600" b="1" dirty="0">
                <a:solidFill>
                  <a:schemeClr val="tx2"/>
                </a:solidFill>
              </a:rPr>
              <a:t>Email to get a CR number</a:t>
            </a:r>
            <a:endParaRPr lang="en-US" sz="1600" dirty="0"/>
          </a:p>
        </p:txBody>
      </p:sp>
      <p:sp>
        <p:nvSpPr>
          <p:cNvPr id="14" name="Text 9"/>
          <p:cNvSpPr txBox="1"/>
          <p:nvPr/>
        </p:nvSpPr>
        <p:spPr>
          <a:xfrm>
            <a:off x="2968691" y="3108960"/>
            <a:ext cx="1688531" cy="731520"/>
          </a:xfrm>
          <a:prstGeom prst="rect">
            <a:avLst/>
          </a:prstGeom>
          <a:noFill/>
          <a:ln/>
        </p:spPr>
        <p:txBody>
          <a:bodyPr wrap="square" lIns="0" tIns="0" rIns="0" bIns="0" rtlCol="0" anchor="t"/>
          <a:lstStyle/>
          <a:p>
            <a:pPr algn="ctr" indent="0" marL="0">
              <a:buNone/>
            </a:pPr>
            <a:r>
              <a:rPr lang="en-US" sz="1300" dirty="0">
                <a:solidFill>
                  <a:schemeClr val="tx1"/>
                </a:solidFill>
              </a:rPr>
              <a:t>Sent to the CAB to receive the next IT CR number</a:t>
            </a:r>
            <a:endParaRPr lang="en-US" sz="1300" dirty="0"/>
          </a:p>
        </p:txBody>
      </p:sp>
      <p:sp>
        <p:nvSpPr>
          <p:cNvPr id="15" name="Arrow 2"/>
          <p:cNvSpPr/>
          <p:nvPr/>
        </p:nvSpPr>
        <p:spPr>
          <a:xfrm>
            <a:off x="4830958" y="2537460"/>
            <a:ext cx="246888" cy="274320"/>
          </a:xfrm>
          <a:prstGeom prst="rightArrow">
            <a:avLst/>
          </a:prstGeom>
          <a:solidFill>
            <a:schemeClr val="accent3"/>
          </a:solidFill>
          <a:ln/>
        </p:spPr>
      </p:sp>
      <p:sp>
        <p:nvSpPr>
          <p:cNvPr id="16" name="Name the file"/>
          <p:cNvSpPr/>
          <p:nvPr/>
        </p:nvSpPr>
        <p:spPr>
          <a:xfrm>
            <a:off x="5114422" y="1417320"/>
            <a:ext cx="1962851" cy="2514600"/>
          </a:xfrm>
          <a:prstGeom prst="roundRect">
            <a:avLst>
              <a:gd name="adj" fmla="val 3727"/>
            </a:avLst>
          </a:prstGeom>
          <a:solidFill>
            <a:schemeClr val="bg2"/>
          </a:solidFill>
          <a:ln/>
        </p:spPr>
      </p:sp>
      <p:sp>
        <p:nvSpPr>
          <p:cNvPr id="17" name="Shape 12"/>
          <p:cNvSpPr/>
          <p:nvPr/>
        </p:nvSpPr>
        <p:spPr>
          <a:xfrm>
            <a:off x="5730088" y="1645920"/>
            <a:ext cx="731520" cy="731520"/>
          </a:xfrm>
          <a:prstGeom prst="ellipse">
            <a:avLst/>
          </a:prstGeom>
          <a:solidFill>
            <a:schemeClr val="accent1"/>
          </a:solidFill>
          <a:ln/>
        </p:spPr>
      </p:sp>
      <p:pic>
        <p:nvPicPr>
          <p:cNvPr id="18" name="Image 2" descr="FileAlt icon">    </p:cNvPr>
          <p:cNvPicPr>
            <a:picLocks noChangeAspect="1"/>
          </p:cNvPicPr>
          <p:nvPr/>
        </p:nvPicPr>
        <p:blipFill>
          <a:blip r:embed="rId3"/>
          <a:stretch>
            <a:fillRect/>
          </a:stretch>
        </p:blipFill>
        <p:spPr>
          <a:xfrm>
            <a:off x="5905652" y="1821485"/>
            <a:ext cx="380390" cy="380390"/>
          </a:xfrm>
          <a:prstGeom prst="rect">
            <a:avLst/>
          </a:prstGeom>
        </p:spPr>
      </p:pic>
      <p:sp>
        <p:nvSpPr>
          <p:cNvPr id="19" name="Text 13"/>
          <p:cNvSpPr txBox="1"/>
          <p:nvPr/>
        </p:nvSpPr>
        <p:spPr>
          <a:xfrm>
            <a:off x="5251582" y="2468880"/>
            <a:ext cx="1688531" cy="640080"/>
          </a:xfrm>
          <a:prstGeom prst="rect">
            <a:avLst/>
          </a:prstGeom>
          <a:noFill/>
          <a:ln/>
        </p:spPr>
        <p:txBody>
          <a:bodyPr wrap="square" lIns="0" tIns="0" rIns="0" bIns="0" rtlCol="0" anchor="t"/>
          <a:lstStyle/>
          <a:p>
            <a:pPr algn="ctr" indent="0" marL="0">
              <a:buNone/>
            </a:pPr>
            <a:r>
              <a:rPr lang="en-US" sz="1600" b="1" dirty="0">
                <a:solidFill>
                  <a:schemeClr val="tx2"/>
                </a:solidFill>
              </a:rPr>
              <a:t>Name the file</a:t>
            </a:r>
            <a:endParaRPr lang="en-US" sz="1600" dirty="0"/>
          </a:p>
        </p:txBody>
      </p:sp>
      <p:sp>
        <p:nvSpPr>
          <p:cNvPr id="20" name="Text 14"/>
          <p:cNvSpPr txBox="1"/>
          <p:nvPr/>
        </p:nvSpPr>
        <p:spPr>
          <a:xfrm>
            <a:off x="5251582" y="3108960"/>
            <a:ext cx="1688531" cy="731520"/>
          </a:xfrm>
          <a:prstGeom prst="rect">
            <a:avLst/>
          </a:prstGeom>
          <a:noFill/>
          <a:ln/>
        </p:spPr>
        <p:txBody>
          <a:bodyPr wrap="square" lIns="0" tIns="0" rIns="0" bIns="0" rtlCol="0" anchor="t"/>
          <a:lstStyle/>
          <a:p>
            <a:pPr algn="ctr" indent="0" marL="0">
              <a:buNone/>
            </a:pPr>
            <a:r>
              <a:rPr lang="en-US" sz="1300" dirty="0">
                <a:solidFill>
                  <a:schemeClr val="tx1"/>
                </a:solidFill>
              </a:rPr>
              <a:t>[CR# xx-YYYY] [CR title].doc</a:t>
            </a:r>
            <a:endParaRPr lang="en-US" sz="1300" dirty="0"/>
          </a:p>
        </p:txBody>
      </p:sp>
      <p:sp>
        <p:nvSpPr>
          <p:cNvPr id="21" name="Arrow 3"/>
          <p:cNvSpPr/>
          <p:nvPr/>
        </p:nvSpPr>
        <p:spPr>
          <a:xfrm>
            <a:off x="7113849" y="2537460"/>
            <a:ext cx="246888" cy="274320"/>
          </a:xfrm>
          <a:prstGeom prst="rightArrow">
            <a:avLst/>
          </a:prstGeom>
          <a:solidFill>
            <a:schemeClr val="accent3"/>
          </a:solidFill>
          <a:ln/>
        </p:spPr>
      </p:sp>
      <p:sp>
        <p:nvSpPr>
          <p:cNvPr id="22" name="Review with CAB owner"/>
          <p:cNvSpPr/>
          <p:nvPr/>
        </p:nvSpPr>
        <p:spPr>
          <a:xfrm>
            <a:off x="7397313" y="1417320"/>
            <a:ext cx="1962851" cy="2514600"/>
          </a:xfrm>
          <a:prstGeom prst="roundRect">
            <a:avLst>
              <a:gd name="adj" fmla="val 3727"/>
            </a:avLst>
          </a:prstGeom>
          <a:solidFill>
            <a:schemeClr val="bg2"/>
          </a:solidFill>
          <a:ln/>
        </p:spPr>
      </p:sp>
      <p:sp>
        <p:nvSpPr>
          <p:cNvPr id="23" name="Shape 17"/>
          <p:cNvSpPr/>
          <p:nvPr/>
        </p:nvSpPr>
        <p:spPr>
          <a:xfrm>
            <a:off x="8012979" y="1645920"/>
            <a:ext cx="731520" cy="731520"/>
          </a:xfrm>
          <a:prstGeom prst="ellipse">
            <a:avLst/>
          </a:prstGeom>
          <a:solidFill>
            <a:schemeClr val="accent1"/>
          </a:solidFill>
          <a:ln/>
        </p:spPr>
      </p:sp>
      <p:pic>
        <p:nvPicPr>
          <p:cNvPr id="24" name="Image 3" descr="Users icon">    </p:cNvPr>
          <p:cNvPicPr>
            <a:picLocks noChangeAspect="1"/>
          </p:cNvPicPr>
          <p:nvPr/>
        </p:nvPicPr>
        <p:blipFill>
          <a:blip r:embed="rId4"/>
          <a:stretch>
            <a:fillRect/>
          </a:stretch>
        </p:blipFill>
        <p:spPr>
          <a:xfrm>
            <a:off x="8188543" y="1821485"/>
            <a:ext cx="380390" cy="380390"/>
          </a:xfrm>
          <a:prstGeom prst="rect">
            <a:avLst/>
          </a:prstGeom>
        </p:spPr>
      </p:pic>
      <p:sp>
        <p:nvSpPr>
          <p:cNvPr id="25" name="Text 18"/>
          <p:cNvSpPr txBox="1"/>
          <p:nvPr/>
        </p:nvSpPr>
        <p:spPr>
          <a:xfrm>
            <a:off x="7534473" y="2468880"/>
            <a:ext cx="1688531" cy="640080"/>
          </a:xfrm>
          <a:prstGeom prst="rect">
            <a:avLst/>
          </a:prstGeom>
          <a:noFill/>
          <a:ln/>
        </p:spPr>
        <p:txBody>
          <a:bodyPr wrap="square" lIns="0" tIns="0" rIns="0" bIns="0" rtlCol="0" anchor="t"/>
          <a:lstStyle/>
          <a:p>
            <a:pPr algn="ctr" indent="0" marL="0">
              <a:buNone/>
            </a:pPr>
            <a:r>
              <a:rPr lang="en-US" sz="1600" b="1" dirty="0">
                <a:solidFill>
                  <a:schemeClr val="tx2"/>
                </a:solidFill>
              </a:rPr>
              <a:t>Review with CAB owner</a:t>
            </a:r>
            <a:endParaRPr lang="en-US" sz="1600" dirty="0"/>
          </a:p>
        </p:txBody>
      </p:sp>
      <p:sp>
        <p:nvSpPr>
          <p:cNvPr id="26" name="Text 19"/>
          <p:cNvSpPr txBox="1"/>
          <p:nvPr/>
        </p:nvSpPr>
        <p:spPr>
          <a:xfrm>
            <a:off x="7534473" y="3108960"/>
            <a:ext cx="1688531" cy="731520"/>
          </a:xfrm>
          <a:prstGeom prst="rect">
            <a:avLst/>
          </a:prstGeom>
          <a:noFill/>
          <a:ln/>
        </p:spPr>
        <p:txBody>
          <a:bodyPr wrap="square" lIns="0" tIns="0" rIns="0" bIns="0" rtlCol="0" anchor="t"/>
          <a:lstStyle/>
          <a:p>
            <a:pPr algn="ctr" indent="0" marL="0">
              <a:buNone/>
            </a:pPr>
            <a:r>
              <a:rPr lang="en-US" sz="1300" dirty="0">
                <a:solidFill>
                  <a:schemeClr val="tx1"/>
                </a:solidFill>
              </a:rPr>
              <a:t>Before the IT CAB meeting</a:t>
            </a:r>
            <a:endParaRPr lang="en-US" sz="1300" dirty="0"/>
          </a:p>
        </p:txBody>
      </p:sp>
      <p:sp>
        <p:nvSpPr>
          <p:cNvPr id="27" name="Arrow 4"/>
          <p:cNvSpPr/>
          <p:nvPr/>
        </p:nvSpPr>
        <p:spPr>
          <a:xfrm>
            <a:off x="9396740" y="2537460"/>
            <a:ext cx="246888" cy="274320"/>
          </a:xfrm>
          <a:prstGeom prst="rightArrow">
            <a:avLst/>
          </a:prstGeom>
          <a:solidFill>
            <a:schemeClr val="accent3"/>
          </a:solidFill>
          <a:ln/>
        </p:spPr>
      </p:sp>
      <p:sp>
        <p:nvSpPr>
          <p:cNvPr id="28" name="IT CAB decision"/>
          <p:cNvSpPr/>
          <p:nvPr/>
        </p:nvSpPr>
        <p:spPr>
          <a:xfrm>
            <a:off x="9680204" y="1417320"/>
            <a:ext cx="1962851" cy="2514600"/>
          </a:xfrm>
          <a:prstGeom prst="roundRect">
            <a:avLst>
              <a:gd name="adj" fmla="val 3727"/>
            </a:avLst>
          </a:prstGeom>
          <a:solidFill>
            <a:schemeClr val="tx2"/>
          </a:solidFill>
          <a:ln/>
        </p:spPr>
      </p:sp>
      <p:sp>
        <p:nvSpPr>
          <p:cNvPr id="29" name="Shape 22"/>
          <p:cNvSpPr/>
          <p:nvPr/>
        </p:nvSpPr>
        <p:spPr>
          <a:xfrm>
            <a:off x="10295870" y="1645920"/>
            <a:ext cx="731520" cy="731520"/>
          </a:xfrm>
          <a:prstGeom prst="ellipse">
            <a:avLst/>
          </a:prstGeom>
          <a:solidFill>
            <a:schemeClr val="accent3"/>
          </a:solidFill>
          <a:ln/>
        </p:spPr>
      </p:sp>
      <p:pic>
        <p:nvPicPr>
          <p:cNvPr id="30" name="Image 4" descr="Gavel icon">    </p:cNvPr>
          <p:cNvPicPr>
            <a:picLocks noChangeAspect="1"/>
          </p:cNvPicPr>
          <p:nvPr/>
        </p:nvPicPr>
        <p:blipFill>
          <a:blip r:embed="rId5"/>
          <a:stretch>
            <a:fillRect/>
          </a:stretch>
        </p:blipFill>
        <p:spPr>
          <a:xfrm>
            <a:off x="10471434" y="1821485"/>
            <a:ext cx="380390" cy="380390"/>
          </a:xfrm>
          <a:prstGeom prst="rect">
            <a:avLst/>
          </a:prstGeom>
        </p:spPr>
      </p:pic>
      <p:sp>
        <p:nvSpPr>
          <p:cNvPr id="31" name="Text 23"/>
          <p:cNvSpPr txBox="1"/>
          <p:nvPr/>
        </p:nvSpPr>
        <p:spPr>
          <a:xfrm>
            <a:off x="9817364" y="2468880"/>
            <a:ext cx="1688531" cy="640080"/>
          </a:xfrm>
          <a:prstGeom prst="rect">
            <a:avLst/>
          </a:prstGeom>
          <a:noFill/>
          <a:ln/>
        </p:spPr>
        <p:txBody>
          <a:bodyPr wrap="square" lIns="0" tIns="0" rIns="0" bIns="0" rtlCol="0" anchor="t"/>
          <a:lstStyle/>
          <a:p>
            <a:pPr algn="ctr" indent="0" marL="0">
              <a:buNone/>
            </a:pPr>
            <a:r>
              <a:rPr lang="en-US" sz="1600" b="1" dirty="0">
                <a:solidFill>
                  <a:schemeClr val="bg1"/>
                </a:solidFill>
              </a:rPr>
              <a:t>IT CAB decision</a:t>
            </a:r>
            <a:endParaRPr lang="en-US" sz="1600" dirty="0"/>
          </a:p>
        </p:txBody>
      </p:sp>
      <p:sp>
        <p:nvSpPr>
          <p:cNvPr id="32" name="Text 24"/>
          <p:cNvSpPr txBox="1"/>
          <p:nvPr/>
        </p:nvSpPr>
        <p:spPr>
          <a:xfrm>
            <a:off x="9817364" y="3108960"/>
            <a:ext cx="1688531" cy="731520"/>
          </a:xfrm>
          <a:prstGeom prst="rect">
            <a:avLst/>
          </a:prstGeom>
          <a:noFill/>
          <a:ln/>
        </p:spPr>
        <p:txBody>
          <a:bodyPr wrap="square" lIns="0" tIns="0" rIns="0" bIns="0" rtlCol="0" anchor="t"/>
          <a:lstStyle/>
          <a:p>
            <a:pPr algn="ctr" indent="0" marL="0">
              <a:buNone/>
            </a:pPr>
            <a:r>
              <a:rPr lang="en-US" sz="1300" dirty="0">
                <a:solidFill>
                  <a:schemeClr val="bg1"/>
                </a:solidFill>
              </a:rPr>
              <a:t>Changes going to production</a:t>
            </a:r>
            <a:endParaRPr lang="en-US" sz="1300" dirty="0"/>
          </a:p>
        </p:txBody>
      </p:sp>
      <p:sp>
        <p:nvSpPr>
          <p:cNvPr id="33" name="Serial format card"/>
          <p:cNvSpPr/>
          <p:nvPr/>
        </p:nvSpPr>
        <p:spPr>
          <a:xfrm>
            <a:off x="548640" y="4206240"/>
            <a:ext cx="11094415" cy="1874520"/>
          </a:xfrm>
          <a:prstGeom prst="roundRect">
            <a:avLst>
              <a:gd name="adj" fmla="val 3902"/>
            </a:avLst>
          </a:prstGeom>
          <a:solidFill>
            <a:schemeClr val="bg2"/>
          </a:solidFill>
          <a:ln/>
        </p:spPr>
      </p:sp>
      <p:sp>
        <p:nvSpPr>
          <p:cNvPr id="34" name="Text 26"/>
          <p:cNvSpPr txBox="1"/>
          <p:nvPr/>
        </p:nvSpPr>
        <p:spPr>
          <a:xfrm>
            <a:off x="868680" y="4389120"/>
            <a:ext cx="3657600" cy="365760"/>
          </a:xfrm>
          <a:prstGeom prst="rect">
            <a:avLst/>
          </a:prstGeom>
          <a:noFill/>
          <a:ln/>
        </p:spPr>
        <p:txBody>
          <a:bodyPr wrap="square" lIns="0" tIns="0" rIns="0" bIns="0" rtlCol="0" anchor="t"/>
          <a:lstStyle/>
          <a:p>
            <a:pPr indent="0" marL="0">
              <a:buNone/>
            </a:pPr>
            <a:r>
              <a:rPr lang="en-US" sz="1800" b="1" dirty="0">
                <a:solidFill>
                  <a:schemeClr val="tx2"/>
                </a:solidFill>
              </a:rPr>
              <a:t>Serial format</a:t>
            </a:r>
            <a:endParaRPr lang="en-US" sz="1800" dirty="0"/>
          </a:p>
        </p:txBody>
      </p:sp>
      <p:sp>
        <p:nvSpPr>
          <p:cNvPr id="35" name="Text 27"/>
          <p:cNvSpPr txBox="1"/>
          <p:nvPr/>
        </p:nvSpPr>
        <p:spPr>
          <a:xfrm>
            <a:off x="868680" y="4846320"/>
            <a:ext cx="5029200" cy="731520"/>
          </a:xfrm>
          <a:prstGeom prst="rect">
            <a:avLst/>
          </a:prstGeom>
          <a:noFill/>
          <a:ln/>
        </p:spPr>
        <p:txBody>
          <a:bodyPr wrap="square" lIns="0" tIns="0" rIns="0" bIns="0" rtlCol="0" anchor="t"/>
          <a:lstStyle/>
          <a:p>
            <a:pPr indent="0" marL="0">
              <a:buNone/>
            </a:pPr>
            <a:r>
              <a:rPr lang="en-US" sz="3200" b="1" dirty="0">
                <a:solidFill>
                  <a:schemeClr val="accent1"/>
                </a:solidFill>
              </a:rPr>
              <a:t>CR# [Serial] + [YYYY]</a:t>
            </a:r>
            <a:endParaRPr lang="en-US" sz="3200" dirty="0"/>
          </a:p>
        </p:txBody>
      </p:sp>
      <p:sp>
        <p:nvSpPr>
          <p:cNvPr id="36" name="Text 28"/>
          <p:cNvSpPr txBox="1"/>
          <p:nvPr/>
        </p:nvSpPr>
        <p:spPr>
          <a:xfrm>
            <a:off x="6400800" y="4389120"/>
            <a:ext cx="3657600" cy="365760"/>
          </a:xfrm>
          <a:prstGeom prst="rect">
            <a:avLst/>
          </a:prstGeom>
          <a:noFill/>
          <a:ln/>
        </p:spPr>
        <p:txBody>
          <a:bodyPr wrap="square" lIns="0" tIns="0" rIns="0" bIns="0" rtlCol="0" anchor="t"/>
          <a:lstStyle/>
          <a:p>
            <a:pPr indent="0" marL="0">
              <a:buNone/>
            </a:pPr>
            <a:r>
              <a:rPr lang="en-US" sz="1800" b="1" dirty="0">
                <a:solidFill>
                  <a:schemeClr val="tx2"/>
                </a:solidFill>
              </a:rPr>
              <a:t>Change name</a:t>
            </a:r>
            <a:endParaRPr lang="en-US" sz="1800" dirty="0"/>
          </a:p>
        </p:txBody>
      </p:sp>
      <p:sp>
        <p:nvSpPr>
          <p:cNvPr id="37" name="Text 29"/>
          <p:cNvSpPr txBox="1"/>
          <p:nvPr/>
        </p:nvSpPr>
        <p:spPr>
          <a:xfrm>
            <a:off x="6400800" y="4846320"/>
            <a:ext cx="4876495" cy="1005840"/>
          </a:xfrm>
          <a:prstGeom prst="rect">
            <a:avLst/>
          </a:prstGeom>
          <a:noFill/>
          <a:ln/>
        </p:spPr>
        <p:txBody>
          <a:bodyPr wrap="square" lIns="0" tIns="0" rIns="0" bIns="0" rtlCol="0" anchor="t"/>
          <a:lstStyle/>
          <a:p>
            <a:pPr indent="0" marL="0">
              <a:buNone/>
            </a:pPr>
            <a:r>
              <a:rPr lang="en-US" sz="1600" dirty="0">
                <a:solidFill>
                  <a:schemeClr val="tx1"/>
                </a:solidFill>
              </a:rPr>
              <a:t>A brief description of about five words, in plain language and without technical jargon.</a:t>
            </a:r>
            <a:endParaRPr lang="en-US" sz="16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Anatomy of the IT CR form</a:t>
            </a:r>
            <a:endParaRPr lang="en-US" sz="3400" dirty="0"/>
          </a:p>
        </p:txBody>
      </p:sp>
      <p:sp>
        <p:nvSpPr>
          <p:cNvPr id="4" name="1 · Identification"/>
          <p:cNvSpPr/>
          <p:nvPr/>
        </p:nvSpPr>
        <p:spPr>
          <a:xfrm>
            <a:off x="548640" y="1325880"/>
            <a:ext cx="5364328" cy="2286000"/>
          </a:xfrm>
          <a:prstGeom prst="roundRect">
            <a:avLst>
              <a:gd name="adj" fmla="val 3200"/>
            </a:avLst>
          </a:prstGeom>
          <a:solidFill>
            <a:schemeClr val="bg2"/>
          </a:solidFill>
          <a:ln/>
        </p:spPr>
      </p:sp>
      <p:sp>
        <p:nvSpPr>
          <p:cNvPr id="5" name="Shape 2"/>
          <p:cNvSpPr/>
          <p:nvPr/>
        </p:nvSpPr>
        <p:spPr>
          <a:xfrm>
            <a:off x="777240" y="1554480"/>
            <a:ext cx="594360" cy="594360"/>
          </a:xfrm>
          <a:prstGeom prst="ellipse">
            <a:avLst/>
          </a:prstGeom>
          <a:solidFill>
            <a:schemeClr val="accent1"/>
          </a:solidFill>
          <a:ln/>
        </p:spPr>
      </p:sp>
      <p:pic>
        <p:nvPicPr>
          <p:cNvPr id="6" name="Image 0" descr="FileAlt icon">    </p:cNvPr>
          <p:cNvPicPr>
            <a:picLocks noChangeAspect="1"/>
          </p:cNvPicPr>
          <p:nvPr/>
        </p:nvPicPr>
        <p:blipFill>
          <a:blip r:embed="rId1"/>
          <a:stretch>
            <a:fillRect/>
          </a:stretch>
        </p:blipFill>
        <p:spPr>
          <a:xfrm>
            <a:off x="919886" y="1697126"/>
            <a:ext cx="309067" cy="309067"/>
          </a:xfrm>
          <a:prstGeom prst="rect">
            <a:avLst/>
          </a:prstGeom>
        </p:spPr>
      </p:pic>
      <p:sp>
        <p:nvSpPr>
          <p:cNvPr id="7" name="Text 3"/>
          <p:cNvSpPr txBox="1"/>
          <p:nvPr/>
        </p:nvSpPr>
        <p:spPr>
          <a:xfrm>
            <a:off x="1554480" y="1600200"/>
            <a:ext cx="4175608" cy="457200"/>
          </a:xfrm>
          <a:prstGeom prst="rect">
            <a:avLst/>
          </a:prstGeom>
          <a:noFill/>
          <a:ln/>
        </p:spPr>
        <p:txBody>
          <a:bodyPr wrap="square" lIns="0" tIns="0" rIns="0" bIns="0" rtlCol="0" anchor="t"/>
          <a:lstStyle/>
          <a:p>
            <a:pPr indent="0" marL="0">
              <a:buNone/>
            </a:pPr>
            <a:r>
              <a:rPr lang="en-US" sz="1900" b="1" dirty="0">
                <a:solidFill>
                  <a:schemeClr val="tx2"/>
                </a:solidFill>
              </a:rPr>
              <a:t>1 · Identification</a:t>
            </a:r>
            <a:endParaRPr lang="en-US" sz="1900" dirty="0"/>
          </a:p>
        </p:txBody>
      </p:sp>
      <p:sp>
        <p:nvSpPr>
          <p:cNvPr id="8" name="Text 4"/>
          <p:cNvSpPr txBox="1"/>
          <p:nvPr/>
        </p:nvSpPr>
        <p:spPr>
          <a:xfrm>
            <a:off x="822960" y="2240280"/>
            <a:ext cx="4861408"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Issuing, acceptance and deployment date/time</a:t>
            </a:r>
            <a:endParaRPr lang="en-US" sz="1400" dirty="0"/>
          </a:p>
          <a:p>
            <a:pPr marL="342900" indent="-342900">
              <a:spcAft>
                <a:spcPts val="300"/>
              </a:spcAft>
              <a:buSzPct val="100000"/>
              <a:buChar char="•"/>
            </a:pPr>
            <a:r>
              <a:rPr lang="en-US" sz="1400" dirty="0">
                <a:solidFill>
                  <a:schemeClr val="tx1"/>
                </a:solidFill>
              </a:rPr>
              <a:t>Change type and reason (business, security, project, vendor update, defect/testing, development)</a:t>
            </a:r>
            <a:endParaRPr lang="en-US" sz="1400" dirty="0"/>
          </a:p>
          <a:p>
            <a:pPr marL="342900" indent="-342900">
              <a:spcAft>
                <a:spcPts val="300"/>
              </a:spcAft>
              <a:buSzPct val="100000"/>
              <a:buChar char="•"/>
            </a:pPr>
            <a:r>
              <a:rPr lang="en-US" sz="1400" dirty="0">
                <a:solidFill>
                  <a:schemeClr val="tx1"/>
                </a:solidFill>
              </a:rPr>
              <a:t>Owner, requester, priority (P1 / P2 / P3), status</a:t>
            </a:r>
            <a:endParaRPr lang="en-US" sz="1400" dirty="0"/>
          </a:p>
          <a:p>
            <a:pPr marL="342900" indent="-342900">
              <a:spcAft>
                <a:spcPts val="300"/>
              </a:spcAft>
              <a:buSzPct val="100000"/>
              <a:buChar char="•"/>
            </a:pPr>
            <a:r>
              <a:rPr lang="en-US" sz="1400" dirty="0">
                <a:solidFill>
                  <a:schemeClr val="tx1"/>
                </a:solidFill>
              </a:rPr>
              <a:t>Initial source (business request, ticket, vendor ticket)</a:t>
            </a:r>
            <a:endParaRPr lang="en-US" sz="1400" dirty="0"/>
          </a:p>
        </p:txBody>
      </p:sp>
      <p:sp>
        <p:nvSpPr>
          <p:cNvPr id="9" name="2 · The change"/>
          <p:cNvSpPr/>
          <p:nvPr/>
        </p:nvSpPr>
        <p:spPr>
          <a:xfrm>
            <a:off x="6278728" y="1325880"/>
            <a:ext cx="5364328" cy="2286000"/>
          </a:xfrm>
          <a:prstGeom prst="roundRect">
            <a:avLst>
              <a:gd name="adj" fmla="val 3200"/>
            </a:avLst>
          </a:prstGeom>
          <a:solidFill>
            <a:schemeClr val="bg2"/>
          </a:solidFill>
          <a:ln/>
        </p:spPr>
      </p:sp>
      <p:sp>
        <p:nvSpPr>
          <p:cNvPr id="10" name="Shape 6"/>
          <p:cNvSpPr/>
          <p:nvPr/>
        </p:nvSpPr>
        <p:spPr>
          <a:xfrm>
            <a:off x="6507328" y="1554480"/>
            <a:ext cx="594360" cy="594360"/>
          </a:xfrm>
          <a:prstGeom prst="ellipse">
            <a:avLst/>
          </a:prstGeom>
          <a:solidFill>
            <a:schemeClr val="accent1"/>
          </a:solidFill>
          <a:ln/>
        </p:spPr>
      </p:sp>
      <p:pic>
        <p:nvPicPr>
          <p:cNvPr id="11" name="Image 1" descr="Wrench icon">    </p:cNvPr>
          <p:cNvPicPr>
            <a:picLocks noChangeAspect="1"/>
          </p:cNvPicPr>
          <p:nvPr/>
        </p:nvPicPr>
        <p:blipFill>
          <a:blip r:embed="rId2"/>
          <a:stretch>
            <a:fillRect/>
          </a:stretch>
        </p:blipFill>
        <p:spPr>
          <a:xfrm>
            <a:off x="6649974" y="1697126"/>
            <a:ext cx="309067" cy="309067"/>
          </a:xfrm>
          <a:prstGeom prst="rect">
            <a:avLst/>
          </a:prstGeom>
        </p:spPr>
      </p:pic>
      <p:sp>
        <p:nvSpPr>
          <p:cNvPr id="12" name="Text 7"/>
          <p:cNvSpPr txBox="1"/>
          <p:nvPr/>
        </p:nvSpPr>
        <p:spPr>
          <a:xfrm>
            <a:off x="7284568" y="1600200"/>
            <a:ext cx="4175608" cy="457200"/>
          </a:xfrm>
          <a:prstGeom prst="rect">
            <a:avLst/>
          </a:prstGeom>
          <a:noFill/>
          <a:ln/>
        </p:spPr>
        <p:txBody>
          <a:bodyPr wrap="square" lIns="0" tIns="0" rIns="0" bIns="0" rtlCol="0" anchor="t"/>
          <a:lstStyle/>
          <a:p>
            <a:pPr indent="0" marL="0">
              <a:buNone/>
            </a:pPr>
            <a:r>
              <a:rPr lang="en-US" sz="1900" b="1" dirty="0">
                <a:solidFill>
                  <a:schemeClr val="tx2"/>
                </a:solidFill>
              </a:rPr>
              <a:t>2 · The change</a:t>
            </a:r>
            <a:endParaRPr lang="en-US" sz="1900" dirty="0"/>
          </a:p>
        </p:txBody>
      </p:sp>
      <p:sp>
        <p:nvSpPr>
          <p:cNvPr id="13" name="Text 8"/>
          <p:cNvSpPr txBox="1"/>
          <p:nvPr/>
        </p:nvSpPr>
        <p:spPr>
          <a:xfrm>
            <a:off x="6553048" y="2240280"/>
            <a:ext cx="4861408"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System group / project and system</a:t>
            </a:r>
            <a:endParaRPr lang="en-US" sz="1400" dirty="0"/>
          </a:p>
          <a:p>
            <a:pPr marL="342900" indent="-342900">
              <a:spcAft>
                <a:spcPts val="300"/>
              </a:spcAft>
              <a:buSzPct val="100000"/>
              <a:buChar char="•"/>
            </a:pPr>
            <a:r>
              <a:rPr lang="en-US" sz="1400" dirty="0">
                <a:solidFill>
                  <a:schemeClr val="tx1"/>
                </a:solidFill>
              </a:rPr>
              <a:t>Plain-language change description</a:t>
            </a:r>
            <a:endParaRPr lang="en-US" sz="1400" dirty="0"/>
          </a:p>
          <a:p>
            <a:pPr marL="342900" indent="-342900">
              <a:spcAft>
                <a:spcPts val="300"/>
              </a:spcAft>
              <a:buSzPct val="100000"/>
              <a:buChar char="•"/>
            </a:pPr>
            <a:r>
              <a:rPr lang="en-US" sz="1400" dirty="0">
                <a:solidFill>
                  <a:schemeClr val="tx1"/>
                </a:solidFill>
              </a:rPr>
              <a:t>Pre-change steps, change steps, post-change steps</a:t>
            </a:r>
            <a:endParaRPr lang="en-US" sz="1400" dirty="0"/>
          </a:p>
          <a:p>
            <a:pPr marL="342900" indent="-342900">
              <a:spcAft>
                <a:spcPts val="300"/>
              </a:spcAft>
              <a:buSzPct val="100000"/>
              <a:buChar char="•"/>
            </a:pPr>
            <a:r>
              <a:rPr lang="en-US" sz="1400" dirty="0">
                <a:solidFill>
                  <a:schemeClr val="tx1"/>
                </a:solidFill>
              </a:rPr>
              <a:t>Current setup and change actions (by whom)</a:t>
            </a:r>
            <a:endParaRPr lang="en-US" sz="1400" dirty="0"/>
          </a:p>
        </p:txBody>
      </p:sp>
      <p:sp>
        <p:nvSpPr>
          <p:cNvPr id="14" name="3 · Testing &amp; acceptance"/>
          <p:cNvSpPr/>
          <p:nvPr/>
        </p:nvSpPr>
        <p:spPr>
          <a:xfrm>
            <a:off x="548640" y="3840480"/>
            <a:ext cx="5364328" cy="2286000"/>
          </a:xfrm>
          <a:prstGeom prst="roundRect">
            <a:avLst>
              <a:gd name="adj" fmla="val 3200"/>
            </a:avLst>
          </a:prstGeom>
          <a:solidFill>
            <a:schemeClr val="tx2"/>
          </a:solidFill>
          <a:ln/>
        </p:spPr>
      </p:sp>
      <p:sp>
        <p:nvSpPr>
          <p:cNvPr id="15" name="Shape 10"/>
          <p:cNvSpPr/>
          <p:nvPr/>
        </p:nvSpPr>
        <p:spPr>
          <a:xfrm>
            <a:off x="777240" y="4069080"/>
            <a:ext cx="594360" cy="594360"/>
          </a:xfrm>
          <a:prstGeom prst="ellipse">
            <a:avLst/>
          </a:prstGeom>
          <a:solidFill>
            <a:schemeClr val="accent3"/>
          </a:solidFill>
          <a:ln/>
        </p:spPr>
      </p:sp>
      <p:pic>
        <p:nvPicPr>
          <p:cNvPr id="16" name="Image 2" descr="Vial icon">    </p:cNvPr>
          <p:cNvPicPr>
            <a:picLocks noChangeAspect="1"/>
          </p:cNvPicPr>
          <p:nvPr/>
        </p:nvPicPr>
        <p:blipFill>
          <a:blip r:embed="rId3"/>
          <a:stretch>
            <a:fillRect/>
          </a:stretch>
        </p:blipFill>
        <p:spPr>
          <a:xfrm>
            <a:off x="919886" y="4211726"/>
            <a:ext cx="309067" cy="309067"/>
          </a:xfrm>
          <a:prstGeom prst="rect">
            <a:avLst/>
          </a:prstGeom>
        </p:spPr>
      </p:pic>
      <p:sp>
        <p:nvSpPr>
          <p:cNvPr id="17" name="Text 11"/>
          <p:cNvSpPr txBox="1"/>
          <p:nvPr/>
        </p:nvSpPr>
        <p:spPr>
          <a:xfrm>
            <a:off x="1554480" y="4114800"/>
            <a:ext cx="4175608" cy="457200"/>
          </a:xfrm>
          <a:prstGeom prst="rect">
            <a:avLst/>
          </a:prstGeom>
          <a:noFill/>
          <a:ln/>
        </p:spPr>
        <p:txBody>
          <a:bodyPr wrap="square" lIns="0" tIns="0" rIns="0" bIns="0" rtlCol="0" anchor="t"/>
          <a:lstStyle/>
          <a:p>
            <a:pPr indent="0" marL="0">
              <a:buNone/>
            </a:pPr>
            <a:r>
              <a:rPr lang="en-US" sz="1900" b="1" dirty="0">
                <a:solidFill>
                  <a:schemeClr val="accent3"/>
                </a:solidFill>
              </a:rPr>
              <a:t>3 · Testing &amp; acceptance</a:t>
            </a:r>
            <a:endParaRPr lang="en-US" sz="1900" dirty="0"/>
          </a:p>
        </p:txBody>
      </p:sp>
      <p:sp>
        <p:nvSpPr>
          <p:cNvPr id="18" name="Text 12"/>
          <p:cNvSpPr txBox="1"/>
          <p:nvPr/>
        </p:nvSpPr>
        <p:spPr>
          <a:xfrm>
            <a:off x="822960" y="4754880"/>
            <a:ext cx="4861408"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Test steps (test cases) and who tests</a:t>
            </a:r>
            <a:endParaRPr lang="en-US" sz="1400" dirty="0"/>
          </a:p>
          <a:p>
            <a:pPr marL="342900" indent="-342900">
              <a:spcAft>
                <a:spcPts val="300"/>
              </a:spcAft>
              <a:buSzPct val="100000"/>
              <a:buChar char="•"/>
            </a:pPr>
            <a:r>
              <a:rPr lang="en-US" sz="1400" dirty="0">
                <a:solidFill>
                  <a:schemeClr val="bg1"/>
                </a:solidFill>
              </a:rPr>
              <a:t>Test result: successful, failed or partial</a:t>
            </a:r>
            <a:endParaRPr lang="en-US" sz="1400" dirty="0"/>
          </a:p>
          <a:p>
            <a:pPr marL="342900" indent="-342900">
              <a:spcAft>
                <a:spcPts val="300"/>
              </a:spcAft>
              <a:buSzPct val="100000"/>
              <a:buChar char="•"/>
            </a:pPr>
            <a:r>
              <a:rPr lang="en-US" sz="1400" dirty="0">
                <a:solidFill>
                  <a:schemeClr val="bg1"/>
                </a:solidFill>
              </a:rPr>
              <a:t>Tester signature and date</a:t>
            </a:r>
            <a:endParaRPr lang="en-US" sz="1400" dirty="0"/>
          </a:p>
          <a:p>
            <a:pPr marL="342900" indent="-342900">
              <a:spcAft>
                <a:spcPts val="300"/>
              </a:spcAft>
              <a:buSzPct val="100000"/>
              <a:buChar char="•"/>
            </a:pPr>
            <a:r>
              <a:rPr lang="en-US" sz="1400" dirty="0">
                <a:solidFill>
                  <a:schemeClr val="bg1"/>
                </a:solidFill>
              </a:rPr>
              <a:t>Acceptance test name, signature and date</a:t>
            </a:r>
            <a:endParaRPr lang="en-US" sz="1400" dirty="0"/>
          </a:p>
        </p:txBody>
      </p:sp>
      <p:sp>
        <p:nvSpPr>
          <p:cNvPr id="19" name="4 · Risk &amp; deployment"/>
          <p:cNvSpPr/>
          <p:nvPr/>
        </p:nvSpPr>
        <p:spPr>
          <a:xfrm>
            <a:off x="6278728" y="3840480"/>
            <a:ext cx="5364328" cy="2286000"/>
          </a:xfrm>
          <a:prstGeom prst="roundRect">
            <a:avLst>
              <a:gd name="adj" fmla="val 3200"/>
            </a:avLst>
          </a:prstGeom>
          <a:solidFill>
            <a:schemeClr val="bg2"/>
          </a:solidFill>
          <a:ln/>
        </p:spPr>
      </p:sp>
      <p:sp>
        <p:nvSpPr>
          <p:cNvPr id="20" name="Shape 14"/>
          <p:cNvSpPr/>
          <p:nvPr/>
        </p:nvSpPr>
        <p:spPr>
          <a:xfrm>
            <a:off x="6507328" y="4069080"/>
            <a:ext cx="594360" cy="594360"/>
          </a:xfrm>
          <a:prstGeom prst="ellipse">
            <a:avLst/>
          </a:prstGeom>
          <a:solidFill>
            <a:schemeClr val="accent1"/>
          </a:solidFill>
          <a:ln/>
        </p:spPr>
      </p:sp>
      <p:pic>
        <p:nvPicPr>
          <p:cNvPr id="21" name="Image 3" descr="UndoAlt icon">    </p:cNvPr>
          <p:cNvPicPr>
            <a:picLocks noChangeAspect="1"/>
          </p:cNvPicPr>
          <p:nvPr/>
        </p:nvPicPr>
        <p:blipFill>
          <a:blip r:embed="rId4"/>
          <a:stretch>
            <a:fillRect/>
          </a:stretch>
        </p:blipFill>
        <p:spPr>
          <a:xfrm>
            <a:off x="6649974" y="4211726"/>
            <a:ext cx="309067" cy="309067"/>
          </a:xfrm>
          <a:prstGeom prst="rect">
            <a:avLst/>
          </a:prstGeom>
        </p:spPr>
      </p:pic>
      <p:sp>
        <p:nvSpPr>
          <p:cNvPr id="22" name="Text 15"/>
          <p:cNvSpPr txBox="1"/>
          <p:nvPr/>
        </p:nvSpPr>
        <p:spPr>
          <a:xfrm>
            <a:off x="7284568" y="4114800"/>
            <a:ext cx="4175608" cy="457200"/>
          </a:xfrm>
          <a:prstGeom prst="rect">
            <a:avLst/>
          </a:prstGeom>
          <a:noFill/>
          <a:ln/>
        </p:spPr>
        <p:txBody>
          <a:bodyPr wrap="square" lIns="0" tIns="0" rIns="0" bIns="0" rtlCol="0" anchor="t"/>
          <a:lstStyle/>
          <a:p>
            <a:pPr indent="0" marL="0">
              <a:buNone/>
            </a:pPr>
            <a:r>
              <a:rPr lang="en-US" sz="1900" b="1" dirty="0">
                <a:solidFill>
                  <a:schemeClr val="tx2"/>
                </a:solidFill>
              </a:rPr>
              <a:t>4 · Risk &amp; deployment</a:t>
            </a:r>
            <a:endParaRPr lang="en-US" sz="1900" dirty="0"/>
          </a:p>
        </p:txBody>
      </p:sp>
      <p:sp>
        <p:nvSpPr>
          <p:cNvPr id="23" name="Text 16"/>
          <p:cNvSpPr txBox="1"/>
          <p:nvPr/>
        </p:nvSpPr>
        <p:spPr>
          <a:xfrm>
            <a:off x="6553048" y="4754880"/>
            <a:ext cx="4861408"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Impact analysis: risk and affected services or modules</a:t>
            </a:r>
            <a:endParaRPr lang="en-US" sz="1400" dirty="0"/>
          </a:p>
          <a:p>
            <a:pPr marL="342900" indent="-342900">
              <a:spcAft>
                <a:spcPts val="300"/>
              </a:spcAft>
              <a:buSzPct val="100000"/>
              <a:buChar char="•"/>
            </a:pPr>
            <a:r>
              <a:rPr lang="en-US" sz="1400" dirty="0">
                <a:solidFill>
                  <a:schemeClr val="tx1"/>
                </a:solidFill>
              </a:rPr>
              <a:t>Rollback plan if the change fails</a:t>
            </a:r>
            <a:endParaRPr lang="en-US" sz="1400" dirty="0"/>
          </a:p>
          <a:p>
            <a:pPr marL="342900" indent="-342900">
              <a:spcAft>
                <a:spcPts val="300"/>
              </a:spcAft>
              <a:buSzPct val="100000"/>
              <a:buChar char="•"/>
            </a:pPr>
            <a:r>
              <a:rPr lang="en-US" sz="1400" dirty="0">
                <a:solidFill>
                  <a:schemeClr val="tx1"/>
                </a:solidFill>
              </a:rPr>
              <a:t>Affected services and user communication</a:t>
            </a:r>
            <a:endParaRPr lang="en-US" sz="1400" dirty="0"/>
          </a:p>
          <a:p>
            <a:pPr marL="342900" indent="-342900">
              <a:spcAft>
                <a:spcPts val="300"/>
              </a:spcAft>
              <a:buSzPct val="100000"/>
              <a:buChar char="•"/>
            </a:pPr>
            <a:r>
              <a:rPr lang="en-US" sz="1400" dirty="0">
                <a:solidFill>
                  <a:schemeClr val="tx1"/>
                </a:solidFill>
              </a:rPr>
              <a:t>Deployment plan, time slot, post go-live sanity check</a:t>
            </a:r>
            <a:endParaRPr lang="en-US" sz="14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Best practices</a:t>
            </a:r>
            <a:endParaRPr lang="en-US" sz="3400" dirty="0"/>
          </a:p>
        </p:txBody>
      </p:sp>
      <p:sp>
        <p:nvSpPr>
          <p:cNvPr id="4" name="Version control"/>
          <p:cNvSpPr/>
          <p:nvPr/>
        </p:nvSpPr>
        <p:spPr>
          <a:xfrm>
            <a:off x="548640" y="1554480"/>
            <a:ext cx="1999427" cy="4023360"/>
          </a:xfrm>
          <a:prstGeom prst="roundRect">
            <a:avLst>
              <a:gd name="adj" fmla="val 3659"/>
            </a:avLst>
          </a:prstGeom>
          <a:solidFill>
            <a:schemeClr val="bg2"/>
          </a:solidFill>
          <a:ln/>
        </p:spPr>
      </p:sp>
      <p:sp>
        <p:nvSpPr>
          <p:cNvPr id="5" name="Shape 2"/>
          <p:cNvSpPr/>
          <p:nvPr/>
        </p:nvSpPr>
        <p:spPr>
          <a:xfrm>
            <a:off x="1091154" y="1965960"/>
            <a:ext cx="914400" cy="914400"/>
          </a:xfrm>
          <a:prstGeom prst="ellipse">
            <a:avLst/>
          </a:prstGeom>
          <a:solidFill>
            <a:schemeClr val="accent1"/>
          </a:solidFill>
          <a:ln/>
        </p:spPr>
      </p:sp>
      <p:pic>
        <p:nvPicPr>
          <p:cNvPr id="6" name="Image 0" descr="CodeBranch icon">    </p:cNvPr>
          <p:cNvPicPr>
            <a:picLocks noChangeAspect="1"/>
          </p:cNvPicPr>
          <p:nvPr/>
        </p:nvPicPr>
        <p:blipFill>
          <a:blip r:embed="rId1"/>
          <a:stretch>
            <a:fillRect/>
          </a:stretch>
        </p:blipFill>
        <p:spPr>
          <a:xfrm>
            <a:off x="1310610" y="2185416"/>
            <a:ext cx="475488" cy="475488"/>
          </a:xfrm>
          <a:prstGeom prst="rect">
            <a:avLst/>
          </a:prstGeom>
        </p:spPr>
      </p:pic>
      <p:sp>
        <p:nvSpPr>
          <p:cNvPr id="7" name="Text 3"/>
          <p:cNvSpPr txBox="1"/>
          <p:nvPr/>
        </p:nvSpPr>
        <p:spPr>
          <a:xfrm>
            <a:off x="731520" y="3108960"/>
            <a:ext cx="1633667" cy="457200"/>
          </a:xfrm>
          <a:prstGeom prst="rect">
            <a:avLst/>
          </a:prstGeom>
          <a:noFill/>
          <a:ln/>
        </p:spPr>
        <p:txBody>
          <a:bodyPr wrap="square" lIns="0" tIns="0" rIns="0" bIns="0" rtlCol="0" anchor="t"/>
          <a:lstStyle/>
          <a:p>
            <a:pPr algn="ctr" indent="0" marL="0">
              <a:buNone/>
            </a:pPr>
            <a:r>
              <a:rPr lang="en-US" sz="1800" b="1" dirty="0">
                <a:solidFill>
                  <a:schemeClr val="tx2"/>
                </a:solidFill>
              </a:rPr>
              <a:t>Version control</a:t>
            </a:r>
            <a:endParaRPr lang="en-US" sz="1800" dirty="0"/>
          </a:p>
        </p:txBody>
      </p:sp>
      <p:sp>
        <p:nvSpPr>
          <p:cNvPr id="8" name="Text 4"/>
          <p:cNvSpPr txBox="1"/>
          <p:nvPr/>
        </p:nvSpPr>
        <p:spPr>
          <a:xfrm>
            <a:off x="777240" y="3657600"/>
            <a:ext cx="1542227" cy="1645920"/>
          </a:xfrm>
          <a:prstGeom prst="rect">
            <a:avLst/>
          </a:prstGeom>
          <a:noFill/>
          <a:ln/>
        </p:spPr>
        <p:txBody>
          <a:bodyPr wrap="square" lIns="0" tIns="0" rIns="0" bIns="0" rtlCol="0" anchor="t"/>
          <a:lstStyle/>
          <a:p>
            <a:pPr algn="ctr" indent="0" marL="0">
              <a:buNone/>
            </a:pPr>
            <a:r>
              <a:rPr lang="en-US" sz="1700" dirty="0">
                <a:solidFill>
                  <a:schemeClr val="tx1"/>
                </a:solidFill>
              </a:rPr>
              <a:t>Use version control to track every change</a:t>
            </a:r>
            <a:endParaRPr lang="en-US" sz="1700" dirty="0"/>
          </a:p>
        </p:txBody>
      </p:sp>
      <p:sp>
        <p:nvSpPr>
          <p:cNvPr id="9" name="Central tracking"/>
          <p:cNvSpPr/>
          <p:nvPr/>
        </p:nvSpPr>
        <p:spPr>
          <a:xfrm>
            <a:off x="2822387" y="1554480"/>
            <a:ext cx="1999427" cy="4023360"/>
          </a:xfrm>
          <a:prstGeom prst="roundRect">
            <a:avLst>
              <a:gd name="adj" fmla="val 3659"/>
            </a:avLst>
          </a:prstGeom>
          <a:solidFill>
            <a:schemeClr val="bg2"/>
          </a:solidFill>
          <a:ln/>
        </p:spPr>
      </p:sp>
      <p:sp>
        <p:nvSpPr>
          <p:cNvPr id="10" name="Shape 6"/>
          <p:cNvSpPr/>
          <p:nvPr/>
        </p:nvSpPr>
        <p:spPr>
          <a:xfrm>
            <a:off x="3364901" y="1965960"/>
            <a:ext cx="914400" cy="914400"/>
          </a:xfrm>
          <a:prstGeom prst="ellipse">
            <a:avLst/>
          </a:prstGeom>
          <a:solidFill>
            <a:schemeClr val="tx2"/>
          </a:solidFill>
          <a:ln/>
        </p:spPr>
      </p:sp>
      <p:pic>
        <p:nvPicPr>
          <p:cNvPr id="11" name="Image 1" descr="Database icon">    </p:cNvPr>
          <p:cNvPicPr>
            <a:picLocks noChangeAspect="1"/>
          </p:cNvPicPr>
          <p:nvPr/>
        </p:nvPicPr>
        <p:blipFill>
          <a:blip r:embed="rId2"/>
          <a:stretch>
            <a:fillRect/>
          </a:stretch>
        </p:blipFill>
        <p:spPr>
          <a:xfrm>
            <a:off x="3584357" y="2185416"/>
            <a:ext cx="475488" cy="475488"/>
          </a:xfrm>
          <a:prstGeom prst="rect">
            <a:avLst/>
          </a:prstGeom>
        </p:spPr>
      </p:pic>
      <p:sp>
        <p:nvSpPr>
          <p:cNvPr id="12" name="Text 7"/>
          <p:cNvSpPr txBox="1"/>
          <p:nvPr/>
        </p:nvSpPr>
        <p:spPr>
          <a:xfrm>
            <a:off x="3005267" y="3108960"/>
            <a:ext cx="1633667" cy="457200"/>
          </a:xfrm>
          <a:prstGeom prst="rect">
            <a:avLst/>
          </a:prstGeom>
          <a:noFill/>
          <a:ln/>
        </p:spPr>
        <p:txBody>
          <a:bodyPr wrap="square" lIns="0" tIns="0" rIns="0" bIns="0" rtlCol="0" anchor="t"/>
          <a:lstStyle/>
          <a:p>
            <a:pPr algn="ctr" indent="0" marL="0">
              <a:buNone/>
            </a:pPr>
            <a:r>
              <a:rPr lang="en-US" sz="1800" b="1" dirty="0">
                <a:solidFill>
                  <a:schemeClr val="tx2"/>
                </a:solidFill>
              </a:rPr>
              <a:t>Central tracking</a:t>
            </a:r>
            <a:endParaRPr lang="en-US" sz="1800" dirty="0"/>
          </a:p>
        </p:txBody>
      </p:sp>
      <p:sp>
        <p:nvSpPr>
          <p:cNvPr id="13" name="Text 8"/>
          <p:cNvSpPr txBox="1"/>
          <p:nvPr/>
        </p:nvSpPr>
        <p:spPr>
          <a:xfrm>
            <a:off x="3050987" y="3657600"/>
            <a:ext cx="1542227" cy="1645920"/>
          </a:xfrm>
          <a:prstGeom prst="rect">
            <a:avLst/>
          </a:prstGeom>
          <a:noFill/>
          <a:ln/>
        </p:spPr>
        <p:txBody>
          <a:bodyPr wrap="square" lIns="0" tIns="0" rIns="0" bIns="0" rtlCol="0" anchor="t"/>
          <a:lstStyle/>
          <a:p>
            <a:pPr algn="ctr" indent="0" marL="0">
              <a:buNone/>
            </a:pPr>
            <a:r>
              <a:rPr lang="en-US" sz="1700" dirty="0">
                <a:solidFill>
                  <a:schemeClr val="tx1"/>
                </a:solidFill>
              </a:rPr>
              <a:t>Maintain a centralized tracking system, e.g. Azure DevOps</a:t>
            </a:r>
            <a:endParaRPr lang="en-US" sz="1700" dirty="0"/>
          </a:p>
        </p:txBody>
      </p:sp>
      <p:sp>
        <p:nvSpPr>
          <p:cNvPr id="14" name="Escalation matrix"/>
          <p:cNvSpPr/>
          <p:nvPr/>
        </p:nvSpPr>
        <p:spPr>
          <a:xfrm>
            <a:off x="5096134" y="1554480"/>
            <a:ext cx="1999427" cy="4023360"/>
          </a:xfrm>
          <a:prstGeom prst="roundRect">
            <a:avLst>
              <a:gd name="adj" fmla="val 3659"/>
            </a:avLst>
          </a:prstGeom>
          <a:solidFill>
            <a:schemeClr val="bg2"/>
          </a:solidFill>
          <a:ln/>
        </p:spPr>
      </p:sp>
      <p:sp>
        <p:nvSpPr>
          <p:cNvPr id="15" name="Shape 10"/>
          <p:cNvSpPr/>
          <p:nvPr/>
        </p:nvSpPr>
        <p:spPr>
          <a:xfrm>
            <a:off x="5638648" y="1965960"/>
            <a:ext cx="914400" cy="914400"/>
          </a:xfrm>
          <a:prstGeom prst="ellipse">
            <a:avLst/>
          </a:prstGeom>
          <a:solidFill>
            <a:schemeClr val="accent1"/>
          </a:solidFill>
          <a:ln/>
        </p:spPr>
      </p:sp>
      <p:pic>
        <p:nvPicPr>
          <p:cNvPr id="16" name="Image 2" descr="LevelUpAlt icon">    </p:cNvPr>
          <p:cNvPicPr>
            <a:picLocks noChangeAspect="1"/>
          </p:cNvPicPr>
          <p:nvPr/>
        </p:nvPicPr>
        <p:blipFill>
          <a:blip r:embed="rId3"/>
          <a:stretch>
            <a:fillRect/>
          </a:stretch>
        </p:blipFill>
        <p:spPr>
          <a:xfrm>
            <a:off x="5858104" y="2185416"/>
            <a:ext cx="475488" cy="475488"/>
          </a:xfrm>
          <a:prstGeom prst="rect">
            <a:avLst/>
          </a:prstGeom>
        </p:spPr>
      </p:pic>
      <p:sp>
        <p:nvSpPr>
          <p:cNvPr id="17" name="Text 11"/>
          <p:cNvSpPr txBox="1"/>
          <p:nvPr/>
        </p:nvSpPr>
        <p:spPr>
          <a:xfrm>
            <a:off x="5279014" y="3108960"/>
            <a:ext cx="1633667" cy="457200"/>
          </a:xfrm>
          <a:prstGeom prst="rect">
            <a:avLst/>
          </a:prstGeom>
          <a:noFill/>
          <a:ln/>
        </p:spPr>
        <p:txBody>
          <a:bodyPr wrap="square" lIns="0" tIns="0" rIns="0" bIns="0" rtlCol="0" anchor="t"/>
          <a:lstStyle/>
          <a:p>
            <a:pPr algn="ctr" indent="0" marL="0">
              <a:buNone/>
            </a:pPr>
            <a:r>
              <a:rPr lang="en-US" sz="1800" b="1" dirty="0">
                <a:solidFill>
                  <a:schemeClr val="tx2"/>
                </a:solidFill>
              </a:rPr>
              <a:t>Escalation matrix</a:t>
            </a:r>
            <a:endParaRPr lang="en-US" sz="1800" dirty="0"/>
          </a:p>
        </p:txBody>
      </p:sp>
      <p:sp>
        <p:nvSpPr>
          <p:cNvPr id="18" name="Text 12"/>
          <p:cNvSpPr txBox="1"/>
          <p:nvPr/>
        </p:nvSpPr>
        <p:spPr>
          <a:xfrm>
            <a:off x="5324734" y="3657600"/>
            <a:ext cx="1542227" cy="1645920"/>
          </a:xfrm>
          <a:prstGeom prst="rect">
            <a:avLst/>
          </a:prstGeom>
          <a:noFill/>
          <a:ln/>
        </p:spPr>
        <p:txBody>
          <a:bodyPr wrap="square" lIns="0" tIns="0" rIns="0" bIns="0" rtlCol="0" anchor="t"/>
          <a:lstStyle/>
          <a:p>
            <a:pPr algn="ctr" indent="0" marL="0">
              <a:buNone/>
            </a:pPr>
            <a:r>
              <a:rPr lang="en-US" sz="1700" dirty="0">
                <a:solidFill>
                  <a:schemeClr val="tx1"/>
                </a:solidFill>
              </a:rPr>
              <a:t>Define a clear escalation matrix</a:t>
            </a:r>
            <a:endParaRPr lang="en-US" sz="1700" dirty="0"/>
          </a:p>
        </p:txBody>
      </p:sp>
      <p:sp>
        <p:nvSpPr>
          <p:cNvPr id="19" name="Communication"/>
          <p:cNvSpPr/>
          <p:nvPr/>
        </p:nvSpPr>
        <p:spPr>
          <a:xfrm>
            <a:off x="7369881" y="1554480"/>
            <a:ext cx="1999427" cy="4023360"/>
          </a:xfrm>
          <a:prstGeom prst="roundRect">
            <a:avLst>
              <a:gd name="adj" fmla="val 3659"/>
            </a:avLst>
          </a:prstGeom>
          <a:solidFill>
            <a:schemeClr val="bg2"/>
          </a:solidFill>
          <a:ln/>
        </p:spPr>
      </p:sp>
      <p:sp>
        <p:nvSpPr>
          <p:cNvPr id="20" name="Shape 14"/>
          <p:cNvSpPr/>
          <p:nvPr/>
        </p:nvSpPr>
        <p:spPr>
          <a:xfrm>
            <a:off x="7912395" y="1965960"/>
            <a:ext cx="914400" cy="914400"/>
          </a:xfrm>
          <a:prstGeom prst="ellipse">
            <a:avLst/>
          </a:prstGeom>
          <a:solidFill>
            <a:schemeClr val="tx2"/>
          </a:solidFill>
          <a:ln/>
        </p:spPr>
      </p:sp>
      <p:pic>
        <p:nvPicPr>
          <p:cNvPr id="21" name="Image 3" descr="Comments icon">    </p:cNvPr>
          <p:cNvPicPr>
            <a:picLocks noChangeAspect="1"/>
          </p:cNvPicPr>
          <p:nvPr/>
        </p:nvPicPr>
        <p:blipFill>
          <a:blip r:embed="rId4"/>
          <a:stretch>
            <a:fillRect/>
          </a:stretch>
        </p:blipFill>
        <p:spPr>
          <a:xfrm>
            <a:off x="8131851" y="2185416"/>
            <a:ext cx="475488" cy="475488"/>
          </a:xfrm>
          <a:prstGeom prst="rect">
            <a:avLst/>
          </a:prstGeom>
        </p:spPr>
      </p:pic>
      <p:sp>
        <p:nvSpPr>
          <p:cNvPr id="22" name="Text 15"/>
          <p:cNvSpPr txBox="1"/>
          <p:nvPr/>
        </p:nvSpPr>
        <p:spPr>
          <a:xfrm>
            <a:off x="7552761" y="3108960"/>
            <a:ext cx="1633667" cy="457200"/>
          </a:xfrm>
          <a:prstGeom prst="rect">
            <a:avLst/>
          </a:prstGeom>
          <a:noFill/>
          <a:ln/>
        </p:spPr>
        <p:txBody>
          <a:bodyPr wrap="square" lIns="0" tIns="0" rIns="0" bIns="0" rtlCol="0" anchor="t"/>
          <a:lstStyle/>
          <a:p>
            <a:pPr algn="ctr" indent="0" marL="0">
              <a:buNone/>
            </a:pPr>
            <a:r>
              <a:rPr lang="en-US" sz="1800" b="1" dirty="0">
                <a:solidFill>
                  <a:schemeClr val="tx2"/>
                </a:solidFill>
              </a:rPr>
              <a:t>Communication</a:t>
            </a:r>
            <a:endParaRPr lang="en-US" sz="1800" dirty="0"/>
          </a:p>
        </p:txBody>
      </p:sp>
      <p:sp>
        <p:nvSpPr>
          <p:cNvPr id="23" name="Text 16"/>
          <p:cNvSpPr txBox="1"/>
          <p:nvPr/>
        </p:nvSpPr>
        <p:spPr>
          <a:xfrm>
            <a:off x="7598481" y="3657600"/>
            <a:ext cx="1542227" cy="1645920"/>
          </a:xfrm>
          <a:prstGeom prst="rect">
            <a:avLst/>
          </a:prstGeom>
          <a:noFill/>
          <a:ln/>
        </p:spPr>
        <p:txBody>
          <a:bodyPr wrap="square" lIns="0" tIns="0" rIns="0" bIns="0" rtlCol="0" anchor="t"/>
          <a:lstStyle/>
          <a:p>
            <a:pPr algn="ctr" indent="0" marL="0">
              <a:buNone/>
            </a:pPr>
            <a:r>
              <a:rPr lang="en-US" sz="1700" dirty="0">
                <a:solidFill>
                  <a:schemeClr val="tx1"/>
                </a:solidFill>
              </a:rPr>
              <a:t>Keep regular communication with stakeholders</a:t>
            </a:r>
            <a:endParaRPr lang="en-US" sz="1700" dirty="0"/>
          </a:p>
        </p:txBody>
      </p:sp>
      <p:sp>
        <p:nvSpPr>
          <p:cNvPr id="24" name="Change freeze"/>
          <p:cNvSpPr/>
          <p:nvPr/>
        </p:nvSpPr>
        <p:spPr>
          <a:xfrm>
            <a:off x="9643628" y="1554480"/>
            <a:ext cx="1999427" cy="4023360"/>
          </a:xfrm>
          <a:prstGeom prst="roundRect">
            <a:avLst>
              <a:gd name="adj" fmla="val 3659"/>
            </a:avLst>
          </a:prstGeom>
          <a:solidFill>
            <a:schemeClr val="bg2"/>
          </a:solidFill>
          <a:ln/>
        </p:spPr>
      </p:sp>
      <p:sp>
        <p:nvSpPr>
          <p:cNvPr id="25" name="Shape 18"/>
          <p:cNvSpPr/>
          <p:nvPr/>
        </p:nvSpPr>
        <p:spPr>
          <a:xfrm>
            <a:off x="10186142" y="1965960"/>
            <a:ext cx="914400" cy="914400"/>
          </a:xfrm>
          <a:prstGeom prst="ellipse">
            <a:avLst/>
          </a:prstGeom>
          <a:solidFill>
            <a:schemeClr val="accent1"/>
          </a:solidFill>
          <a:ln/>
        </p:spPr>
      </p:sp>
      <p:pic>
        <p:nvPicPr>
          <p:cNvPr id="26" name="Image 4" descr="Snowflake icon">    </p:cNvPr>
          <p:cNvPicPr>
            <a:picLocks noChangeAspect="1"/>
          </p:cNvPicPr>
          <p:nvPr/>
        </p:nvPicPr>
        <p:blipFill>
          <a:blip r:embed="rId5"/>
          <a:stretch>
            <a:fillRect/>
          </a:stretch>
        </p:blipFill>
        <p:spPr>
          <a:xfrm>
            <a:off x="10405598" y="2185416"/>
            <a:ext cx="475488" cy="475488"/>
          </a:xfrm>
          <a:prstGeom prst="rect">
            <a:avLst/>
          </a:prstGeom>
        </p:spPr>
      </p:pic>
      <p:sp>
        <p:nvSpPr>
          <p:cNvPr id="27" name="Text 19"/>
          <p:cNvSpPr txBox="1"/>
          <p:nvPr/>
        </p:nvSpPr>
        <p:spPr>
          <a:xfrm>
            <a:off x="9826508" y="3108960"/>
            <a:ext cx="1633667" cy="457200"/>
          </a:xfrm>
          <a:prstGeom prst="rect">
            <a:avLst/>
          </a:prstGeom>
          <a:noFill/>
          <a:ln/>
        </p:spPr>
        <p:txBody>
          <a:bodyPr wrap="square" lIns="0" tIns="0" rIns="0" bIns="0" rtlCol="0" anchor="t"/>
          <a:lstStyle/>
          <a:p>
            <a:pPr algn="ctr" indent="0" marL="0">
              <a:buNone/>
            </a:pPr>
            <a:r>
              <a:rPr lang="en-US" sz="1800" b="1" dirty="0">
                <a:solidFill>
                  <a:schemeClr val="tx2"/>
                </a:solidFill>
              </a:rPr>
              <a:t>Change freeze</a:t>
            </a:r>
            <a:endParaRPr lang="en-US" sz="1800" dirty="0"/>
          </a:p>
        </p:txBody>
      </p:sp>
      <p:sp>
        <p:nvSpPr>
          <p:cNvPr id="28" name="Text 20"/>
          <p:cNvSpPr txBox="1"/>
          <p:nvPr/>
        </p:nvSpPr>
        <p:spPr>
          <a:xfrm>
            <a:off x="9872228" y="3657600"/>
            <a:ext cx="1542227" cy="1645920"/>
          </a:xfrm>
          <a:prstGeom prst="rect">
            <a:avLst/>
          </a:prstGeom>
          <a:noFill/>
          <a:ln/>
        </p:spPr>
        <p:txBody>
          <a:bodyPr wrap="square" lIns="0" tIns="0" rIns="0" bIns="0" rtlCol="0" anchor="t"/>
          <a:lstStyle/>
          <a:p>
            <a:pPr algn="ctr" indent="0" marL="0">
              <a:buNone/>
            </a:pPr>
            <a:r>
              <a:rPr lang="en-US" sz="1700" dirty="0">
                <a:solidFill>
                  <a:schemeClr val="tx1"/>
                </a:solidFill>
              </a:rPr>
              <a:t>Establish a change freeze policy near project deadlines</a:t>
            </a:r>
            <a:endParaRPr lang="en-US" sz="17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4" type="title" hasCustomPrompt="1"/>
          </p:nvPr>
        </p:nvSpPr>
        <p:spPr>
          <a:xfrm>
            <a:off x="548640" y="347472"/>
            <a:ext cx="9052560" cy="731520"/>
          </a:xfrm>
          <a:prstGeom prst="rect">
            <a:avLst/>
          </a:prstGeom>
          <a:noFill/>
          <a:ln/>
        </p:spPr>
        <p:txBody>
          <a:bodyPr wrap="square" lIns="0" tIns="0" rIns="0" bIns="0" rtlCol="0" anchor="ctr"/>
          <a:lstStyle/>
          <a:p>
            <a:pPr algn="l" indent="0" marL="0">
              <a:buNone/>
            </a:pPr>
            <a:r>
              <a:rPr lang="en-US" sz="3400" b="1" dirty="0">
                <a:solidFill>
                  <a:schemeClr val="tx2"/>
                </a:solidFill>
              </a:rPr>
              <a:t>Summary: What, Why, How</a:t>
            </a:r>
            <a:endParaRPr lang="en-US" sz="3400" dirty="0"/>
          </a:p>
        </p:txBody>
      </p:sp>
      <p:sp>
        <p:nvSpPr>
          <p:cNvPr id="4" name="WHAT header"/>
          <p:cNvSpPr/>
          <p:nvPr/>
        </p:nvSpPr>
        <p:spPr>
          <a:xfrm>
            <a:off x="548640" y="1325880"/>
            <a:ext cx="3515258" cy="1051560"/>
          </a:xfrm>
          <a:prstGeom prst="roundRect">
            <a:avLst>
              <a:gd name="adj" fmla="val 6957"/>
            </a:avLst>
          </a:prstGeom>
          <a:solidFill>
            <a:schemeClr val="tx2"/>
          </a:solidFill>
          <a:ln/>
        </p:spPr>
      </p:sp>
      <p:pic>
        <p:nvPicPr>
          <p:cNvPr id="5" name="Image 0" descr="WHAT icon">    </p:cNvPr>
          <p:cNvPicPr>
            <a:picLocks noChangeAspect="1"/>
          </p:cNvPicPr>
          <p:nvPr/>
        </p:nvPicPr>
        <p:blipFill>
          <a:blip r:embed="rId1"/>
          <a:stretch>
            <a:fillRect/>
          </a:stretch>
        </p:blipFill>
        <p:spPr>
          <a:xfrm>
            <a:off x="822960" y="1572768"/>
            <a:ext cx="548640" cy="548640"/>
          </a:xfrm>
          <a:prstGeom prst="rect">
            <a:avLst/>
          </a:prstGeom>
        </p:spPr>
      </p:pic>
      <p:sp>
        <p:nvSpPr>
          <p:cNvPr id="6" name="Text 2"/>
          <p:cNvSpPr txBox="1"/>
          <p:nvPr/>
        </p:nvSpPr>
        <p:spPr>
          <a:xfrm>
            <a:off x="1554480" y="1508760"/>
            <a:ext cx="2326538" cy="685800"/>
          </a:xfrm>
          <a:prstGeom prst="rect">
            <a:avLst/>
          </a:prstGeom>
          <a:noFill/>
          <a:ln/>
        </p:spPr>
        <p:txBody>
          <a:bodyPr wrap="square" lIns="0" tIns="0" rIns="0" bIns="0" rtlCol="0" anchor="ctr"/>
          <a:lstStyle/>
          <a:p>
            <a:pPr indent="0" marL="0">
              <a:buNone/>
            </a:pPr>
            <a:r>
              <a:rPr lang="en-US" sz="3000" b="1" dirty="0">
                <a:solidFill>
                  <a:schemeClr val="bg1"/>
                </a:solidFill>
              </a:rPr>
              <a:t>WHAT</a:t>
            </a:r>
            <a:endParaRPr lang="en-US" sz="3000" dirty="0"/>
          </a:p>
        </p:txBody>
      </p:sp>
      <p:sp>
        <p:nvSpPr>
          <p:cNvPr id="7" name="WHAT body"/>
          <p:cNvSpPr/>
          <p:nvPr/>
        </p:nvSpPr>
        <p:spPr>
          <a:xfrm>
            <a:off x="548640" y="2514600"/>
            <a:ext cx="3515258" cy="3566160"/>
          </a:xfrm>
          <a:prstGeom prst="roundRect">
            <a:avLst>
              <a:gd name="adj" fmla="val 2081"/>
            </a:avLst>
          </a:prstGeom>
          <a:solidFill>
            <a:schemeClr val="bg2"/>
          </a:solidFill>
          <a:ln/>
        </p:spPr>
      </p:sp>
      <p:sp>
        <p:nvSpPr>
          <p:cNvPr id="8" name="Text 4"/>
          <p:cNvSpPr txBox="1"/>
          <p:nvPr/>
        </p:nvSpPr>
        <p:spPr>
          <a:xfrm>
            <a:off x="822960" y="2834640"/>
            <a:ext cx="2966618" cy="3017520"/>
          </a:xfrm>
          <a:prstGeom prst="rect">
            <a:avLst/>
          </a:prstGeom>
          <a:noFill/>
          <a:ln/>
        </p:spPr>
        <p:txBody>
          <a:bodyPr wrap="square" lIns="0" tIns="0" rIns="0" bIns="0" rtlCol="0" anchor="t"/>
          <a:lstStyle/>
          <a:p>
            <a:pPr marL="342900" indent="-342900">
              <a:spcAft>
                <a:spcPts val="1800"/>
              </a:spcAft>
              <a:buSzPct val="100000"/>
              <a:buChar char="•"/>
            </a:pPr>
            <a:r>
              <a:rPr lang="en-US" sz="1900" dirty="0">
                <a:solidFill>
                  <a:schemeClr val="tx1"/>
                </a:solidFill>
              </a:rPr>
              <a:t>A change: anything that can affect stability, reliability or business flow</a:t>
            </a:r>
            <a:endParaRPr lang="en-US" sz="1900" dirty="0"/>
          </a:p>
          <a:p>
            <a:pPr marL="342900" indent="-342900">
              <a:spcAft>
                <a:spcPts val="1800"/>
              </a:spcAft>
              <a:buSzPct val="100000"/>
              <a:buChar char="•"/>
            </a:pPr>
            <a:r>
              <a:rPr lang="en-US" sz="1900" dirty="0">
                <a:solidFill>
                  <a:schemeClr val="tx1"/>
                </a:solidFill>
              </a:rPr>
              <a:t>11 sources of change</a:t>
            </a:r>
            <a:endParaRPr lang="en-US" sz="1900" dirty="0"/>
          </a:p>
          <a:p>
            <a:pPr marL="342900" indent="-342900">
              <a:spcAft>
                <a:spcPts val="1800"/>
              </a:spcAft>
              <a:buSzPct val="100000"/>
              <a:buChar char="•"/>
            </a:pPr>
            <a:r>
              <a:rPr lang="en-US" sz="1900" dirty="0">
                <a:solidFill>
                  <a:schemeClr val="tx1"/>
                </a:solidFill>
              </a:rPr>
              <a:t>5 types: normal, pre-approval, new feature, emergency, catastrophic</a:t>
            </a:r>
            <a:endParaRPr lang="en-US" sz="1900" dirty="0"/>
          </a:p>
        </p:txBody>
      </p:sp>
      <p:sp>
        <p:nvSpPr>
          <p:cNvPr id="9" name="WHY header"/>
          <p:cNvSpPr/>
          <p:nvPr/>
        </p:nvSpPr>
        <p:spPr>
          <a:xfrm>
            <a:off x="4338218" y="1325880"/>
            <a:ext cx="3515258" cy="1051560"/>
          </a:xfrm>
          <a:prstGeom prst="roundRect">
            <a:avLst>
              <a:gd name="adj" fmla="val 6957"/>
            </a:avLst>
          </a:prstGeom>
          <a:solidFill>
            <a:schemeClr val="accent1"/>
          </a:solidFill>
          <a:ln/>
        </p:spPr>
      </p:sp>
      <p:pic>
        <p:nvPicPr>
          <p:cNvPr id="10" name="Image 1" descr="WHY icon">    </p:cNvPr>
          <p:cNvPicPr>
            <a:picLocks noChangeAspect="1"/>
          </p:cNvPicPr>
          <p:nvPr/>
        </p:nvPicPr>
        <p:blipFill>
          <a:blip r:embed="rId2"/>
          <a:stretch>
            <a:fillRect/>
          </a:stretch>
        </p:blipFill>
        <p:spPr>
          <a:xfrm>
            <a:off x="4612538" y="1572768"/>
            <a:ext cx="548640" cy="548640"/>
          </a:xfrm>
          <a:prstGeom prst="rect">
            <a:avLst/>
          </a:prstGeom>
        </p:spPr>
      </p:pic>
      <p:sp>
        <p:nvSpPr>
          <p:cNvPr id="11" name="Text 6"/>
          <p:cNvSpPr txBox="1"/>
          <p:nvPr/>
        </p:nvSpPr>
        <p:spPr>
          <a:xfrm>
            <a:off x="5344058" y="1508760"/>
            <a:ext cx="2326538" cy="685800"/>
          </a:xfrm>
          <a:prstGeom prst="rect">
            <a:avLst/>
          </a:prstGeom>
          <a:noFill/>
          <a:ln/>
        </p:spPr>
        <p:txBody>
          <a:bodyPr wrap="square" lIns="0" tIns="0" rIns="0" bIns="0" rtlCol="0" anchor="ctr"/>
          <a:lstStyle/>
          <a:p>
            <a:pPr indent="0" marL="0">
              <a:buNone/>
            </a:pPr>
            <a:r>
              <a:rPr lang="en-US" sz="3000" b="1" dirty="0">
                <a:solidFill>
                  <a:schemeClr val="bg1"/>
                </a:solidFill>
              </a:rPr>
              <a:t>WHY</a:t>
            </a:r>
            <a:endParaRPr lang="en-US" sz="3000" dirty="0"/>
          </a:p>
        </p:txBody>
      </p:sp>
      <p:sp>
        <p:nvSpPr>
          <p:cNvPr id="12" name="WHY body"/>
          <p:cNvSpPr/>
          <p:nvPr/>
        </p:nvSpPr>
        <p:spPr>
          <a:xfrm>
            <a:off x="4338218" y="2514600"/>
            <a:ext cx="3515258" cy="3566160"/>
          </a:xfrm>
          <a:prstGeom prst="roundRect">
            <a:avLst>
              <a:gd name="adj" fmla="val 2081"/>
            </a:avLst>
          </a:prstGeom>
          <a:solidFill>
            <a:schemeClr val="bg2"/>
          </a:solidFill>
          <a:ln/>
        </p:spPr>
      </p:sp>
      <p:sp>
        <p:nvSpPr>
          <p:cNvPr id="13" name="Text 8"/>
          <p:cNvSpPr txBox="1"/>
          <p:nvPr/>
        </p:nvSpPr>
        <p:spPr>
          <a:xfrm>
            <a:off x="4612538" y="2834640"/>
            <a:ext cx="2966618" cy="3017520"/>
          </a:xfrm>
          <a:prstGeom prst="rect">
            <a:avLst/>
          </a:prstGeom>
          <a:noFill/>
          <a:ln/>
        </p:spPr>
        <p:txBody>
          <a:bodyPr wrap="square" lIns="0" tIns="0" rIns="0" bIns="0" rtlCol="0" anchor="t"/>
          <a:lstStyle/>
          <a:p>
            <a:pPr marL="342900" indent="-342900">
              <a:spcAft>
                <a:spcPts val="1800"/>
              </a:spcAft>
              <a:buSzPct val="100000"/>
              <a:buChar char="•"/>
            </a:pPr>
            <a:r>
              <a:rPr lang="en-US" sz="1900" dirty="0">
                <a:solidFill>
                  <a:schemeClr val="tx1"/>
                </a:solidFill>
              </a:rPr>
              <a:t>Minimize risk and impact on live systems</a:t>
            </a:r>
            <a:endParaRPr lang="en-US" sz="1900" dirty="0"/>
          </a:p>
          <a:p>
            <a:pPr marL="342900" indent="-342900">
              <a:spcAft>
                <a:spcPts val="1800"/>
              </a:spcAft>
              <a:buSzPct val="100000"/>
              <a:buChar char="•"/>
            </a:pPr>
            <a:r>
              <a:rPr lang="en-US" sz="1900" dirty="0">
                <a:solidFill>
                  <a:schemeClr val="tx1"/>
                </a:solidFill>
              </a:rPr>
              <a:t>Every change justified, assessed and decided</a:t>
            </a:r>
            <a:endParaRPr lang="en-US" sz="1900" dirty="0"/>
          </a:p>
          <a:p>
            <a:pPr marL="342900" indent="-342900">
              <a:spcAft>
                <a:spcPts val="1800"/>
              </a:spcAft>
              <a:buSzPct val="100000"/>
              <a:buChar char="•"/>
            </a:pPr>
            <a:r>
              <a:rPr lang="en-US" sz="1900" dirty="0">
                <a:solidFill>
                  <a:schemeClr val="tx1"/>
                </a:solidFill>
              </a:rPr>
              <a:t>Rollback plans and a full audit trail</a:t>
            </a:r>
            <a:endParaRPr lang="en-US" sz="1900" dirty="0"/>
          </a:p>
        </p:txBody>
      </p:sp>
      <p:sp>
        <p:nvSpPr>
          <p:cNvPr id="14" name="HOW header"/>
          <p:cNvSpPr/>
          <p:nvPr/>
        </p:nvSpPr>
        <p:spPr>
          <a:xfrm>
            <a:off x="8127797" y="1325880"/>
            <a:ext cx="3515258" cy="1051560"/>
          </a:xfrm>
          <a:prstGeom prst="roundRect">
            <a:avLst>
              <a:gd name="adj" fmla="val 6957"/>
            </a:avLst>
          </a:prstGeom>
          <a:solidFill>
            <a:schemeClr val="tx2"/>
          </a:solidFill>
          <a:ln/>
        </p:spPr>
      </p:sp>
      <p:pic>
        <p:nvPicPr>
          <p:cNvPr id="15" name="Image 2" descr="HOW icon">    </p:cNvPr>
          <p:cNvPicPr>
            <a:picLocks noChangeAspect="1"/>
          </p:cNvPicPr>
          <p:nvPr/>
        </p:nvPicPr>
        <p:blipFill>
          <a:blip r:embed="rId3"/>
          <a:stretch>
            <a:fillRect/>
          </a:stretch>
        </p:blipFill>
        <p:spPr>
          <a:xfrm>
            <a:off x="8402117" y="1572768"/>
            <a:ext cx="548640" cy="548640"/>
          </a:xfrm>
          <a:prstGeom prst="rect">
            <a:avLst/>
          </a:prstGeom>
        </p:spPr>
      </p:pic>
      <p:sp>
        <p:nvSpPr>
          <p:cNvPr id="16" name="Text 10"/>
          <p:cNvSpPr txBox="1"/>
          <p:nvPr/>
        </p:nvSpPr>
        <p:spPr>
          <a:xfrm>
            <a:off x="9133637" y="1508760"/>
            <a:ext cx="2326538" cy="685800"/>
          </a:xfrm>
          <a:prstGeom prst="rect">
            <a:avLst/>
          </a:prstGeom>
          <a:noFill/>
          <a:ln/>
        </p:spPr>
        <p:txBody>
          <a:bodyPr wrap="square" lIns="0" tIns="0" rIns="0" bIns="0" rtlCol="0" anchor="ctr"/>
          <a:lstStyle/>
          <a:p>
            <a:pPr indent="0" marL="0">
              <a:buNone/>
            </a:pPr>
            <a:r>
              <a:rPr lang="en-US" sz="3000" b="1" dirty="0">
                <a:solidFill>
                  <a:schemeClr val="bg1"/>
                </a:solidFill>
              </a:rPr>
              <a:t>HOW</a:t>
            </a:r>
            <a:endParaRPr lang="en-US" sz="3000" dirty="0"/>
          </a:p>
        </p:txBody>
      </p:sp>
      <p:sp>
        <p:nvSpPr>
          <p:cNvPr id="17" name="HOW body"/>
          <p:cNvSpPr/>
          <p:nvPr/>
        </p:nvSpPr>
        <p:spPr>
          <a:xfrm>
            <a:off x="8127797" y="2514600"/>
            <a:ext cx="3515258" cy="3566160"/>
          </a:xfrm>
          <a:prstGeom prst="roundRect">
            <a:avLst>
              <a:gd name="adj" fmla="val 2081"/>
            </a:avLst>
          </a:prstGeom>
          <a:solidFill>
            <a:schemeClr val="bg2"/>
          </a:solidFill>
          <a:ln/>
        </p:spPr>
      </p:sp>
      <p:sp>
        <p:nvSpPr>
          <p:cNvPr id="18" name="Text 12"/>
          <p:cNvSpPr txBox="1"/>
          <p:nvPr/>
        </p:nvSpPr>
        <p:spPr>
          <a:xfrm>
            <a:off x="8402117" y="2834640"/>
            <a:ext cx="2966618" cy="3017520"/>
          </a:xfrm>
          <a:prstGeom prst="rect">
            <a:avLst/>
          </a:prstGeom>
          <a:noFill/>
          <a:ln/>
        </p:spPr>
        <p:txBody>
          <a:bodyPr wrap="square" lIns="0" tIns="0" rIns="0" bIns="0" rtlCol="0" anchor="t"/>
          <a:lstStyle/>
          <a:p>
            <a:pPr marL="342900" indent="-342900">
              <a:spcAft>
                <a:spcPts val="1800"/>
              </a:spcAft>
              <a:buSzPct val="100000"/>
              <a:buChar char="•"/>
            </a:pPr>
            <a:r>
              <a:rPr lang="en-US" sz="1900" dirty="0">
                <a:solidFill>
                  <a:schemeClr val="tx1"/>
                </a:solidFill>
              </a:rPr>
              <a:t>Clear roles and a CAB with service-owner approval</a:t>
            </a:r>
            <a:endParaRPr lang="en-US" sz="1900" dirty="0"/>
          </a:p>
          <a:p>
            <a:pPr marL="342900" indent="-342900">
              <a:spcAft>
                <a:spcPts val="1800"/>
              </a:spcAft>
              <a:buSzPct val="100000"/>
              <a:buChar char="•"/>
            </a:pPr>
            <a:r>
              <a:rPr lang="en-US" sz="1900" dirty="0">
                <a:solidFill>
                  <a:schemeClr val="tx1"/>
                </a:solidFill>
              </a:rPr>
              <a:t>8-step CR process, from submission to closure</a:t>
            </a:r>
            <a:endParaRPr lang="en-US" sz="1900" dirty="0"/>
          </a:p>
          <a:p>
            <a:pPr marL="342900" indent="-342900">
              <a:spcAft>
                <a:spcPts val="1800"/>
              </a:spcAft>
              <a:buSzPct val="100000"/>
              <a:buChar char="•"/>
            </a:pPr>
            <a:r>
              <a:rPr lang="en-US" sz="1900" dirty="0">
                <a:solidFill>
                  <a:schemeClr val="tx1"/>
                </a:solidFill>
              </a:rPr>
              <a:t>Emergency path and the IT CR form</a:t>
            </a:r>
            <a:endParaRPr lang="en-US" sz="19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548640" y="2331720"/>
            <a:ext cx="7772400" cy="1188720"/>
          </a:xfrm>
          <a:prstGeom prst="rect">
            <a:avLst/>
          </a:prstGeom>
          <a:noFill/>
          <a:ln/>
        </p:spPr>
        <p:txBody>
          <a:bodyPr wrap="square" lIns="0" tIns="0" rIns="0" bIns="0" rtlCol="0" anchor="ctr"/>
          <a:lstStyle/>
          <a:p>
            <a:pPr algn="l" indent="0" marL="0">
              <a:buNone/>
            </a:pPr>
            <a:r>
              <a:rPr lang="en-US" sz="5400" b="1" dirty="0">
                <a:solidFill>
                  <a:schemeClr val="bg1"/>
                </a:solidFill>
              </a:rPr>
              <a:t>Questions?</a:t>
            </a:r>
            <a:endParaRPr lang="en-US" sz="5400" dirty="0"/>
          </a:p>
        </p:txBody>
      </p:sp>
      <p:sp>
        <p:nvSpPr>
          <p:cNvPr id="3" name="Text 1"/>
          <p:cNvSpPr/>
          <p:nvPr>
            <p:ph idx="103" type="body" hasCustomPrompt="1"/>
          </p:nvPr>
        </p:nvSpPr>
        <p:spPr>
          <a:xfrm>
            <a:off x="548640" y="3566160"/>
            <a:ext cx="7772400" cy="822960"/>
          </a:xfrm>
          <a:prstGeom prst="rect">
            <a:avLst/>
          </a:prstGeom>
          <a:noFill/>
          <a:ln/>
        </p:spPr>
        <p:txBody>
          <a:bodyPr wrap="square" lIns="0" tIns="0" rIns="0" bIns="0" rtlCol="0" anchor="t"/>
          <a:lstStyle/>
          <a:p>
            <a:pPr algn="l" indent="0" marL="0">
              <a:buNone/>
            </a:pPr>
            <a:r>
              <a:rPr lang="en-US" sz="2200" dirty="0">
                <a:solidFill>
                  <a:schemeClr val="accent3"/>
                </a:solidFill>
              </a:rPr>
              <a:t>Let's discuss</a:t>
            </a:r>
            <a:endParaRPr lang="en-US" sz="2200" dirty="0"/>
          </a:p>
        </p:txBody>
      </p:sp>
      <p:sp>
        <p:nvSpPr>
          <p:cNvPr id="4" name="Text 2"/>
          <p:cNvSpPr txBox="1"/>
          <p:nvPr/>
        </p:nvSpPr>
        <p:spPr>
          <a:xfrm>
            <a:off x="548640" y="4343400"/>
            <a:ext cx="7772400" cy="14630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Which recent change would have gone better with a CR?</a:t>
            </a:r>
            <a:endParaRPr lang="en-US" sz="1800" dirty="0"/>
          </a:p>
          <a:p>
            <a:pPr marL="342900" indent="-342900">
              <a:spcAft>
                <a:spcPts val="600"/>
              </a:spcAft>
              <a:buSzPct val="100000"/>
              <a:buChar char="•"/>
            </a:pPr>
            <a:r>
              <a:rPr lang="en-US" sz="1800" dirty="0">
                <a:solidFill>
                  <a:schemeClr val="bg1"/>
                </a:solidFill>
              </a:rPr>
              <a:t>Where does QA join the process today, and where should it?</a:t>
            </a:r>
            <a:endParaRPr lang="en-US" sz="1800" dirty="0"/>
          </a:p>
          <a:p>
            <a:pPr marL="342900" indent="-342900">
              <a:spcAft>
                <a:spcPts val="600"/>
              </a:spcAft>
              <a:buSzPct val="100000"/>
              <a:buChar char="•"/>
            </a:pPr>
            <a:r>
              <a:rPr lang="en-US" sz="1800" dirty="0">
                <a:solidFill>
                  <a:schemeClr val="bg1"/>
                </a:solidFill>
              </a:rPr>
              <a:t>What would you add to the IT CR form?</a:t>
            </a:r>
            <a:endParaRPr lang="en-US" sz="1800" dirty="0"/>
          </a:p>
        </p:txBody>
      </p:sp>
      <p:sp>
        <p:nvSpPr>
          <p:cNvPr id="25" name="Slide Number Placeholder 0"/>
          <p:cNvSpPr>
            <a:spLocks noGrp="1"/>
          </p:cNvSpPr>
          <p:nvPr>
            <p:ph type="sldNum" sz="quarter" idx="4294967295"/>
          </p:nvPr>
        </p:nvSpPr>
        <p:spPr>
          <a:xfrm>
            <a:off x="11094415" y="65562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NCPD Change Management">
  <a:themeElements>
    <a:clrScheme name="NCPD Change Management">
      <a:dk1>
        <a:srgbClr val="1F2A33"/>
      </a:dk1>
      <a:lt1>
        <a:srgbClr val="FFFFFF"/>
      </a:lt1>
      <a:dk2>
        <a:srgbClr val="225165"/>
      </a:dk2>
      <a:lt2>
        <a:srgbClr val="EEF5F3"/>
      </a:lt2>
      <a:accent1>
        <a:srgbClr val="2DAA8C"/>
      </a:accent1>
      <a:accent2>
        <a:srgbClr val="124F1A"/>
      </a:accent2>
      <a:accent3>
        <a:srgbClr val="FFE497"/>
      </a:accent3>
      <a:accent4>
        <a:srgbClr val="002060"/>
      </a:accent4>
      <a:accent5>
        <a:srgbClr val="D9822B"/>
      </a:accent5>
      <a:accent6>
        <a:srgbClr val="B23A3A"/>
      </a:accent6>
      <a:hlink>
        <a:srgbClr val="225165"/>
      </a:hlink>
      <a:folHlink>
        <a:srgbClr val="467886"/>
      </a:folHlink>
    </a:clrScheme>
    <a:fontScheme name="NCPD Change Manageme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NCPD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 Management</dc:title>
  <dc:subject>PptxGenJS Presentation</dc:subject>
  <dc:creator>IT Quality</dc:creator>
  <cp:lastModifiedBy>IT Quality</cp:lastModifiedBy>
  <cp:revision>1</cp:revision>
  <dcterms:created xsi:type="dcterms:W3CDTF">2026-10-13T21:38:20Z</dcterms:created>
  <dcterms:modified xsi:type="dcterms:W3CDTF">2026-10-13T21:38:20Z</dcterms:modified>
</cp:coreProperties>
</file>